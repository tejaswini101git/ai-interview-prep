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25"/>
    <p:sldId id="273" r:id="rId26"/>
    <p:sldId id="274" r:id="rId27"/>
    <p:sldId id="275" r:id="rId28"/>
  </p:sldIdLst>
  <p:notesMasterIdLst>
    <p:notesMasterId r:id="rId18"/>
  </p:notesMasterIdLst>
  <p:sldSz cx="12192000" cy="6858000"/>
  <p:notesSz cx="6858000" cy="12192000"/>
  <p:embeddedFontLst>
    <p:embeddedFont>
      <p:font typeface="JetBrains Mono" panose="02000009000000000000" pitchFamily="49" charset="0"/>
      <p:regular r:id="rId23"/>
      <p:bold r:id="rId24"/>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 Id="rId23" Type="http://schemas.openxmlformats.org/officeDocument/2006/relationships/font" Target="fonts/font1.fntdata"/><Relationship Id="rId24" Type="http://schemas.openxmlformats.org/officeDocument/2006/relationships/font" Target="fonts/font2.fntdata"/><Relationship Id="rId25" Type="http://schemas.openxmlformats.org/officeDocument/2006/relationships/slide" Target="slides/slide17.xml"/><Relationship Id="rId26" Type="http://schemas.openxmlformats.org/officeDocument/2006/relationships/slide" Target="slides/slide18.xml"/><Relationship Id="rId27" Type="http://schemas.openxmlformats.org/officeDocument/2006/relationships/slide" Target="slides/slide19.xml"/><Relationship Id="rId28" Type="http://schemas.openxmlformats.org/officeDocument/2006/relationships/slide" Target="slides/slide2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This project applies classical AI (search, constraint satisfaction, propositional and first-order logic) to a practical problem: personalised technical interview preparation. Presented by M. Tejaswini and N. Shreya under the guidance of Mr. Shaik Akbar.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Problem: interview preparation usually uses static question lists. They ignore strengths and weaknesses and give no feedback about missed concepts. The goal is an application that generates questions for any topic, selects each next question adaptively, evaluates answers automatically, and presents a final report with revision areas.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Questions are first filtered as a constraint satisfaction problem. A search algorithm then picks the best candidate. After each answer, propositional forward chaining infers facts such as Mastered_Skill, and the final report demonstrates first-order logic unification and resolution.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aim is an interview preparation system that adapts to every candidate, and a demonstration of how the AI syllabus topics (search, heuristic and local search, constraint satisfaction, propositional and first-order logic) work together in one application built with only the Python standard library.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Data flows from the Tkinter interface to the question generator, then through the search and reasoning engine, the evaluation module, and finally the feedback and report screens. Question generation runs in a background thread so the window never freezes.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whole application is pure Python using only the standard library: Tkinter, json, urllib.request, math, random, threading and collections. No third-party packages are needed.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Hard constraints decide whether a question is eligible; soft constraints only guide the search toward a better choice. If no question satisfies the difficulty constraint, it is relaxed so the interview can continue, and backtracking is the final fallback.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first five questions use A*, BFS, UCS, Bidirectional Search and Iterative Deepening; later questions rotate between Greedy Best-First, A*, Hill Climbing and Simulated Annealing. DFS also operates on the prerequisite graph. Hill Climbing and Simulated Annealing explore the neighbourhood of candidate questions and avoid local optima.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the average of the last three scores is 80 or more, the target difficulty goes up; if it is below 45, it goes down. The score of each skill is updated as a moving average, so weak skills are prioritised later in the interview.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score is out of 100. Ninety marks come from keyword coverage, with an elaboration bonus of 5 or 10 marks for answers of at least 15 or 30 words. Limitation to mention if asked: keyword matching does not understand meaning, so a correct answer worded differently may score lower.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Propositional forward chaining derives facts such as Mastered_Skill or Schedule_Remediation_Skill from rules. The final report demonstrates first-order logic unification and resolution; the example pattern and fact shown here come from the AI Algorithms Execution Showcase screen.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candidate enters a name and any interview topic, such as Operating Systems, Python or DBMS, then chooses a base difficulty and the number of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question screen shows which AI strategy selected the question, which keeps the reasoning transparent. The candidate types the answer in their own words.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After each answer the feedback screen shows the score, a keyword analysis of the concepts mentioned and omitted, and the propositional logic inference trace that updates what the system believes about the candidate.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 the end of the session the report summarises overall mastery, subtopic performance, recommended revision areas and a trace of the AI algorithms that were executed.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report names the weak areas for focused revision. The showcase screen records which search algorithm selected each question, and demonstrates first-order logic unification, which helps with viva and syllabus verification.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Slide-background-1-image-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3F5F7"/>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127764"/>
            <a:ext cx="10566400" cy="447040"/>
          </a:xfrm>
          <a:prstGeom prst="rect">
            <a:avLst/>
          </a:prstGeom>
          <a:noFill/>
          <a:ln/>
        </p:spPr>
        <p:txBody>
          <a:bodyPr wrap="square" lIns="0" tIns="0" rIns="0" bIns="0" rtlCol="0" anchor="t"/>
          <a:lstStyle>
            <a:lvl1pPr algn="l" indent="0" marL="0">
              <a:lnSpc>
                <a:spcPct val="115000"/>
              </a:lnSpc>
              <a:buNone/>
              <a:defRPr lang="en-US" sz="3200" dirty="0">
                <a:solidFill>
                  <a:srgbClr val="12202F"/>
                </a:solidFill>
                <a:latin typeface="IBM Plex Sans" pitchFamily="34" charset="0"/>
                <a:ea typeface="IBM Plex Sans" pitchFamily="34" charset="-122"/>
                <a:cs typeface="IBM Plex Sans" pitchFamily="34" charset="-120"/>
              </a:defRPr>
            </a:lvl1pPr>
          </a:lstStyle>
          <a:p>
            <a:pPr algn="l" indent="0" marL="0">
              <a:lnSpc>
                <a:spcPct val="115000"/>
              </a:lnSpc>
              <a:buNone/>
            </a:pPr>
            <a:endParaRPr lang="en-US" sz="3200" dirty="0"/>
          </a:p>
        </p:txBody>
      </p:sp>
      <p:sp>
        <p:nvSpPr>
          <p:cNvPr id="3" name="Text Placeholder 2"/>
          <p:cNvSpPr/>
          <p:nvPr>
            <p:ph idx="101" type="body"/>
          </p:nvPr>
        </p:nvSpPr>
        <p:spPr>
          <a:xfrm>
            <a:off x="812800" y="1879604"/>
            <a:ext cx="10566400" cy="4165596"/>
          </a:xfrm>
          <a:prstGeom prst="rect">
            <a:avLst/>
          </a:prstGeom>
          <a:noFill/>
          <a:ln/>
        </p:spPr>
        <p:txBody>
          <a:bodyPr wrap="square" lIns="0" tIns="0" rIns="0" bIns="0" rtlCol="0" anchor="t"/>
          <a:lstStyle>
            <a:lvl1pPr algn="l" indent="0" marL="0">
              <a:lnSpc>
                <a:spcPct val="140000"/>
              </a:lnSpc>
              <a:buNone/>
              <a:defRPr lang="en-US" sz="1600" dirty="0">
                <a:solidFill>
                  <a:srgbClr val="12202F"/>
                </a:solidFill>
                <a:latin typeface="IBM Plex Sans" pitchFamily="34" charset="0"/>
                <a:ea typeface="IBM Plex Sans" pitchFamily="34" charset="-122"/>
                <a:cs typeface="IBM Plex Sans" pitchFamily="34" charset="-120"/>
              </a:defRPr>
            </a:lvl1pPr>
          </a:lstStyle>
          <a:p>
            <a:pPr algn="l" indent="0" marL="0">
              <a:lnSpc>
                <a:spcPct val="140000"/>
              </a:lnSpc>
              <a:buNone/>
            </a:pPr>
            <a:endParaRPr lang="en-US" sz="16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background 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p:nvPr>
            <p:ph type="title"/>
          </p:nvPr>
        </p:nvSpPr>
        <p:spPr>
          <a:xfrm>
            <a:off x="812800" y="1127764"/>
            <a:ext cx="10566400" cy="447040"/>
          </a:xfrm>
          <a:prstGeom prst="rect">
            <a:avLst/>
          </a:prstGeom>
          <a:noFill/>
          <a:ln/>
        </p:spPr>
        <p:txBody>
          <a:bodyPr wrap="square" lIns="0" tIns="0" rIns="0" bIns="0" rtlCol="0" anchor="t"/>
          <a:lstStyle>
            <a:lvl1pPr algn="l" indent="0" marL="0">
              <a:lnSpc>
                <a:spcPct val="115000"/>
              </a:lnSpc>
              <a:buNone/>
              <a:defRPr lang="en-US" sz="3200" dirty="0">
                <a:solidFill>
                  <a:srgbClr val="F3F5F7"/>
                </a:solidFill>
                <a:latin typeface="IBM Plex Sans" pitchFamily="34" charset="0"/>
                <a:ea typeface="IBM Plex Sans" pitchFamily="34" charset="-122"/>
                <a:cs typeface="IBM Plex Sans" pitchFamily="34" charset="-120"/>
              </a:defRPr>
            </a:lvl1pPr>
          </a:lstStyle>
          <a:p>
            <a:pPr algn="l" indent="0" marL="0">
              <a:lnSpc>
                <a:spcPct val="115000"/>
              </a:lnSpc>
              <a:buNone/>
            </a:pPr>
            <a:endParaRPr lang="en-US" sz="3200" dirty="0"/>
          </a:p>
        </p:txBody>
      </p:sp>
      <p:sp>
        <p:nvSpPr>
          <p:cNvPr id="3" name="Text Placeholder 2"/>
          <p:cNvSpPr/>
          <p:nvPr>
            <p:ph idx="101" type="body"/>
          </p:nvPr>
        </p:nvSpPr>
        <p:spPr>
          <a:xfrm>
            <a:off x="812800" y="1879604"/>
            <a:ext cx="10566400" cy="4165596"/>
          </a:xfrm>
          <a:prstGeom prst="rect">
            <a:avLst/>
          </a:prstGeom>
          <a:noFill/>
          <a:ln/>
        </p:spPr>
        <p:txBody>
          <a:bodyPr wrap="square" lIns="0" tIns="0" rIns="0" bIns="0" rtlCol="0" anchor="t"/>
          <a:lstStyle>
            <a:lvl1pPr algn="l" indent="0" marL="0">
              <a:lnSpc>
                <a:spcPct val="140000"/>
              </a:lnSpc>
              <a:buNone/>
              <a:defRPr lang="en-US" sz="1600" dirty="0">
                <a:solidFill>
                  <a:srgbClr val="F3F5F7"/>
                </a:solidFill>
                <a:latin typeface="IBM Plex Sans" pitchFamily="34" charset="0"/>
                <a:ea typeface="IBM Plex Sans" pitchFamily="34" charset="-122"/>
                <a:cs typeface="IBM Plex Sans"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3F5F7"/>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127764"/>
            <a:ext cx="10566400" cy="447040"/>
          </a:xfrm>
          <a:prstGeom prst="rect">
            <a:avLst/>
          </a:prstGeom>
          <a:noFill/>
          <a:ln/>
        </p:spPr>
        <p:txBody>
          <a:bodyPr wrap="square" lIns="0" tIns="0" rIns="0" bIns="0" rtlCol="0" anchor="t"/>
          <a:lstStyle>
            <a:lvl1pPr algn="l" indent="0" marL="0">
              <a:lnSpc>
                <a:spcPct val="115000"/>
              </a:lnSpc>
              <a:buNone/>
              <a:defRPr lang="en-US" sz="3200" dirty="0">
                <a:solidFill>
                  <a:srgbClr val="12202F"/>
                </a:solidFill>
                <a:latin typeface="IBM Plex Sans" pitchFamily="34" charset="0"/>
                <a:ea typeface="IBM Plex Sans" pitchFamily="34" charset="-122"/>
                <a:cs typeface="IBM Plex Sans" pitchFamily="34" charset="-120"/>
              </a:defRPr>
            </a:lvl1pPr>
          </a:lstStyle>
          <a:p>
            <a:pPr algn="l" indent="0" marL="0">
              <a:lnSpc>
                <a:spcPct val="115000"/>
              </a:lnSpc>
              <a:buNone/>
            </a:pPr>
            <a:endParaRPr lang="en-US" sz="3200" dirty="0"/>
          </a:p>
        </p:txBody>
      </p:sp>
      <p:sp>
        <p:nvSpPr>
          <p:cNvPr id="3" name="Text Placeholder 2"/>
          <p:cNvSpPr/>
          <p:nvPr>
            <p:ph idx="101" type="body"/>
          </p:nvPr>
        </p:nvSpPr>
        <p:spPr>
          <a:xfrm>
            <a:off x="812800" y="1879604"/>
            <a:ext cx="10566400" cy="4165596"/>
          </a:xfrm>
          <a:prstGeom prst="rect">
            <a:avLst/>
          </a:prstGeom>
          <a:noFill/>
          <a:ln/>
        </p:spPr>
        <p:txBody>
          <a:bodyPr wrap="square" lIns="0" tIns="0" rIns="0" bIns="0" rtlCol="0" anchor="t"/>
          <a:lstStyle>
            <a:lvl1pPr algn="l" indent="0" marL="0">
              <a:lnSpc>
                <a:spcPct val="140000"/>
              </a:lnSpc>
              <a:buNone/>
              <a:defRPr lang="en-US" sz="1600" dirty="0">
                <a:solidFill>
                  <a:srgbClr val="12202F"/>
                </a:solidFill>
                <a:latin typeface="IBM Plex Sans" pitchFamily="34" charset="0"/>
                <a:ea typeface="IBM Plex Sans" pitchFamily="34" charset="-122"/>
                <a:cs typeface="IBM Plex Sans"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eg"/><Relationship Id="rId2" Type="http://schemas.openxmlformats.org/officeDocument/2006/relationships/slideLayout" Target="../slideLayouts/slideLayout3.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jpeg"/><Relationship Id="rId2" Type="http://schemas.openxmlformats.org/officeDocument/2006/relationships/image" Target="../media/image-12-2.jpeg"/><Relationship Id="rId3" Type="http://schemas.openxmlformats.org/officeDocument/2006/relationships/slideLayout" Target="../slideLayouts/slideLayout2.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jpeg"/><Relationship Id="rId2" Type="http://schemas.openxmlformats.org/officeDocument/2006/relationships/image" Target="../media/image-13-2.jpeg"/><Relationship Id="rId3" Type="http://schemas.openxmlformats.org/officeDocument/2006/relationships/slideLayout" Target="../slideLayouts/slideLayout2.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jpe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jpe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jpeg"/><Relationship Id="rId2" Type="http://schemas.openxmlformats.org/officeDocument/2006/relationships/image" Target="../media/image-16-2.jpeg"/><Relationship Id="rId3" Type="http://schemas.openxmlformats.org/officeDocument/2006/relationships/slideLayout" Target="../slideLayouts/slideLayout2.xml"/><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10312400" y="812800"/>
            <a:ext cx="1066800" cy="1092200"/>
          </a:xfrm>
          <a:prstGeom prst="roundRect">
            <a:avLst>
              <a:gd name="adj" fmla="val 11905"/>
            </a:avLst>
          </a:prstGeom>
          <a:solidFill>
            <a:srgbClr val="F3F5F7"/>
          </a:solidFill>
          <a:ln/>
        </p:spPr>
      </p:sp>
      <p:pic>
        <p:nvPicPr>
          <p:cNvPr id="3" name="Image 0" descr="Geethanjali College of Engineering and Technology logo">    </p:cNvPr>
          <p:cNvPicPr>
            <a:picLocks noChangeAspect="1"/>
          </p:cNvPicPr>
          <p:nvPr/>
        </p:nvPicPr>
        <p:blipFill>
          <a:blip r:embed="rId1"/>
          <a:srcRect l="-148" r="-148" t="0" b="0"/>
          <a:stretch/>
        </p:blipFill>
        <p:spPr>
          <a:xfrm>
            <a:off x="10312400" y="812800"/>
            <a:ext cx="1066800" cy="1092200"/>
          </a:xfrm>
          <a:prstGeom prst="roundRect">
            <a:avLst>
              <a:gd name="adj" fmla="val 11905"/>
            </a:avLst>
          </a:prstGeom>
        </p:spPr>
      </p:pic>
      <p:sp>
        <p:nvSpPr>
          <p:cNvPr id="4" name="Text 1"/>
          <p:cNvSpPr/>
          <p:nvPr/>
        </p:nvSpPr>
        <p:spPr>
          <a:xfrm>
            <a:off x="812800" y="812800"/>
            <a:ext cx="8502650" cy="23876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3CC8E0"/>
                </a:solidFill>
                <a:latin typeface="JetBrains Mono" pitchFamily="49" charset="0"/>
                <a:ea typeface="JetBrains Mono" pitchFamily="49" charset="-122"/>
                <a:cs typeface="JetBrains Mono" pitchFamily="49" charset="-120"/>
              </a:rPr>
              <a:t>AI PROJECT BASED LEARNING · B.TECH CSE (AI &amp; ML)</a:t>
            </a:r>
            <a:endParaRPr lang="en-US" sz="1200" dirty="0"/>
          </a:p>
        </p:txBody>
      </p:sp>
      <p:sp>
        <p:nvSpPr>
          <p:cNvPr id="5" name="Text 2"/>
          <p:cNvSpPr/>
          <p:nvPr>
            <p:ph type="title"/>
          </p:nvPr>
        </p:nvSpPr>
        <p:spPr>
          <a:xfrm>
            <a:off x="812800" y="1338580"/>
            <a:ext cx="9156700" cy="2105660"/>
          </a:xfrm>
          <a:prstGeom prst="rect">
            <a:avLst/>
          </a:prstGeom>
          <a:noFill/>
          <a:ln/>
        </p:spPr>
        <p:txBody>
          <a:bodyPr wrap="square" lIns="0" tIns="0" rIns="0" bIns="0" rtlCol="0" anchor="t">
            <a:normAutofit/>
          </a:bodyPr>
          <a:lstStyle/>
          <a:p>
            <a:pPr algn="l" indent="0" marL="0">
              <a:lnSpc>
                <a:spcPts val="5460"/>
              </a:lnSpc>
              <a:buNone/>
            </a:pPr>
            <a:r>
              <a:rPr lang="en-US" sz="5200" b="1" i="0" dirty="0">
                <a:solidFill>
                  <a:srgbClr val="F3F5F7"/>
                </a:solidFill>
                <a:latin typeface="IBM Plex Sans" pitchFamily="34" charset="0"/>
                <a:ea typeface="IBM Plex Sans" pitchFamily="34" charset="-122"/>
                <a:cs typeface="IBM Plex Sans" pitchFamily="34" charset="-120"/>
              </a:rPr>
              <a:t>AI-Based Adaptive Interview Preparation System</a:t>
            </a:r>
            <a:endParaRPr lang="en-US" sz="5200" dirty="0"/>
          </a:p>
        </p:txBody>
      </p:sp>
      <p:sp>
        <p:nvSpPr>
          <p:cNvPr id="6" name="Text 3"/>
          <p:cNvSpPr/>
          <p:nvPr/>
        </p:nvSpPr>
        <p:spPr>
          <a:xfrm>
            <a:off x="812800" y="3622040"/>
            <a:ext cx="7848600" cy="642620"/>
          </a:xfrm>
          <a:prstGeom prst="rect">
            <a:avLst/>
          </a:prstGeom>
          <a:noFill/>
          <a:ln/>
        </p:spPr>
        <p:txBody>
          <a:bodyPr wrap="square" lIns="0" tIns="0" rIns="0" bIns="0" rtlCol="0" anchor="t">
            <a:normAutofit/>
          </a:bodyPr>
          <a:lstStyle/>
          <a:p>
            <a:pPr algn="l" indent="0" marL="0">
              <a:lnSpc>
                <a:spcPts val="2430"/>
              </a:lnSpc>
              <a:buNone/>
            </a:pPr>
            <a:r>
              <a:rPr lang="en-US" sz="1800" dirty="0">
                <a:solidFill>
                  <a:srgbClr val="A9BDD3"/>
                </a:solidFill>
                <a:latin typeface="IBM Plex Sans" pitchFamily="34" charset="0"/>
                <a:ea typeface="IBM Plex Sans" pitchFamily="34" charset="-122"/>
                <a:cs typeface="IBM Plex Sans" pitchFamily="34" charset="-120"/>
              </a:rPr>
              <a:t>Search, constraint satisfaction and logic working together to choose every next question.</a:t>
            </a:r>
            <a:endParaRPr lang="en-US" sz="1800" dirty="0"/>
          </a:p>
        </p:txBody>
      </p:sp>
      <p:sp>
        <p:nvSpPr>
          <p:cNvPr id="7" name="Text 4"/>
          <p:cNvSpPr/>
          <p:nvPr/>
        </p:nvSpPr>
        <p:spPr>
          <a:xfrm>
            <a:off x="812800" y="4551680"/>
            <a:ext cx="2644815" cy="23876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A9BDD3"/>
                </a:solidFill>
                <a:latin typeface="JetBrains Mono" pitchFamily="49" charset="0"/>
                <a:ea typeface="JetBrains Mono" pitchFamily="49" charset="-122"/>
                <a:cs typeface="JetBrains Mono" pitchFamily="49" charset="-120"/>
              </a:rPr>
              <a:t>PRESENTED BY</a:t>
            </a:r>
            <a:endParaRPr lang="en-US" sz="1200" dirty="0"/>
          </a:p>
        </p:txBody>
      </p:sp>
      <p:sp>
        <p:nvSpPr>
          <p:cNvPr id="8" name="Text 5"/>
          <p:cNvSpPr/>
          <p:nvPr/>
        </p:nvSpPr>
        <p:spPr>
          <a:xfrm>
            <a:off x="812800" y="4815840"/>
            <a:ext cx="3081338" cy="3098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F3F5F7"/>
                </a:solidFill>
                <a:latin typeface="IBM Plex Sans" pitchFamily="34" charset="0"/>
                <a:ea typeface="IBM Plex Sans" pitchFamily="34" charset="-122"/>
                <a:cs typeface="IBM Plex Sans" pitchFamily="34" charset="-120"/>
              </a:rPr>
              <a:t>M. Tejaswini (24R11A6668)</a:t>
            </a:r>
            <a:endParaRPr lang="en-US" sz="1600" dirty="0"/>
          </a:p>
        </p:txBody>
      </p:sp>
      <p:sp>
        <p:nvSpPr>
          <p:cNvPr id="9" name="Text 6"/>
          <p:cNvSpPr/>
          <p:nvPr/>
        </p:nvSpPr>
        <p:spPr>
          <a:xfrm>
            <a:off x="812800" y="5151120"/>
            <a:ext cx="2644815" cy="3098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F3F5F7"/>
                </a:solidFill>
                <a:latin typeface="IBM Plex Sans" pitchFamily="34" charset="0"/>
                <a:ea typeface="IBM Plex Sans" pitchFamily="34" charset="-122"/>
                <a:cs typeface="IBM Plex Sans" pitchFamily="34" charset="-120"/>
              </a:rPr>
              <a:t>N. Shreya (24R11A6676)</a:t>
            </a:r>
            <a:endParaRPr lang="en-US" sz="1600" dirty="0"/>
          </a:p>
        </p:txBody>
      </p:sp>
      <p:sp>
        <p:nvSpPr>
          <p:cNvPr id="10" name="Text 7"/>
          <p:cNvSpPr/>
          <p:nvPr/>
        </p:nvSpPr>
        <p:spPr>
          <a:xfrm>
            <a:off x="3990181" y="4551680"/>
            <a:ext cx="2839149" cy="23876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A9BDD3"/>
                </a:solidFill>
                <a:latin typeface="JetBrains Mono" pitchFamily="49" charset="0"/>
                <a:ea typeface="JetBrains Mono" pitchFamily="49" charset="-122"/>
                <a:cs typeface="JetBrains Mono" pitchFamily="49" charset="-120"/>
              </a:rPr>
              <a:t>GUIDE</a:t>
            </a:r>
            <a:endParaRPr lang="en-US" sz="1200" dirty="0"/>
          </a:p>
        </p:txBody>
      </p:sp>
      <p:sp>
        <p:nvSpPr>
          <p:cNvPr id="11" name="Text 8"/>
          <p:cNvSpPr/>
          <p:nvPr/>
        </p:nvSpPr>
        <p:spPr>
          <a:xfrm>
            <a:off x="3990181" y="4815840"/>
            <a:ext cx="2839149" cy="3098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F3F5F7"/>
                </a:solidFill>
                <a:latin typeface="IBM Plex Sans" pitchFamily="34" charset="0"/>
                <a:ea typeface="IBM Plex Sans" pitchFamily="34" charset="-122"/>
                <a:cs typeface="IBM Plex Sans" pitchFamily="34" charset="-120"/>
              </a:rPr>
              <a:t>Mr. Shaik Akbar</a:t>
            </a:r>
            <a:endParaRPr lang="en-US" sz="1600" dirty="0"/>
          </a:p>
        </p:txBody>
      </p:sp>
      <p:sp>
        <p:nvSpPr>
          <p:cNvPr id="12" name="Text 9"/>
          <p:cNvSpPr/>
          <p:nvPr/>
        </p:nvSpPr>
        <p:spPr>
          <a:xfrm>
            <a:off x="3990181" y="5151120"/>
            <a:ext cx="3307747"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A9BDD3"/>
                </a:solidFill>
                <a:latin typeface="IBM Plex Sans" pitchFamily="34" charset="0"/>
                <a:ea typeface="IBM Plex Sans" pitchFamily="34" charset="-122"/>
                <a:cs typeface="IBM Plex Sans" pitchFamily="34" charset="-120"/>
              </a:rPr>
              <a:t>Associate Professor, CSE (AI &amp; ML)</a:t>
            </a:r>
            <a:endParaRPr lang="en-US" sz="1400" dirty="0"/>
          </a:p>
        </p:txBody>
      </p:sp>
      <p:sp>
        <p:nvSpPr>
          <p:cNvPr id="13" name="Shape 10"/>
          <p:cNvSpPr/>
          <p:nvPr/>
        </p:nvSpPr>
        <p:spPr>
          <a:xfrm>
            <a:off x="812800" y="5641975"/>
            <a:ext cx="10566400" cy="0"/>
          </a:xfrm>
          <a:prstGeom prst="line">
            <a:avLst/>
          </a:prstGeom>
          <a:noFill/>
          <a:ln w="6350">
            <a:solidFill>
              <a:srgbClr val="26405E"/>
            </a:solidFill>
            <a:prstDash val="solid"/>
          </a:ln>
        </p:spPr>
      </p:sp>
      <p:sp>
        <p:nvSpPr>
          <p:cNvPr id="14" name="Text 11"/>
          <p:cNvSpPr/>
          <p:nvPr/>
        </p:nvSpPr>
        <p:spPr>
          <a:xfrm>
            <a:off x="812800" y="5796280"/>
            <a:ext cx="10883392"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A9BDD3"/>
                </a:solidFill>
                <a:latin typeface="IBM Plex Sans" pitchFamily="34" charset="0"/>
                <a:ea typeface="IBM Plex Sans" pitchFamily="34" charset="-122"/>
                <a:cs typeface="IBM Plex Sans" pitchFamily="34" charset="-120"/>
              </a:rPr>
              <a:t>Geethanjali College of Engineering and Technology · October 2026</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E1A2B"/>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3CC8E0"/>
                </a:solidFill>
                <a:latin typeface="JetBrains Mono" pitchFamily="49" charset="0"/>
                <a:ea typeface="JetBrains Mono" pitchFamily="49" charset="-122"/>
                <a:cs typeface="JetBrains Mono" pitchFamily="49" charset="-120"/>
              </a:rPr>
              <a:t>PROBLEM STATEMENT</a:t>
            </a:r>
            <a:endParaRPr lang="en-US" sz="1200" dirty="0"/>
          </a:p>
        </p:txBody>
      </p:sp>
      <p:sp>
        <p:nvSpPr>
          <p:cNvPr id="3" name="Text 1"/>
          <p:cNvSpPr/>
          <p:nvPr>
            <p:ph type="title"/>
          </p:nvPr>
        </p:nvSpPr>
        <p:spPr>
          <a:xfrm>
            <a:off x="812800" y="1229360"/>
            <a:ext cx="9810750" cy="142748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F3F5F7"/>
                </a:solidFill>
                <a:latin typeface="IBM Plex Sans" pitchFamily="34" charset="0"/>
                <a:ea typeface="IBM Plex Sans" pitchFamily="34" charset="-122"/>
                <a:cs typeface="IBM Plex Sans" pitchFamily="34" charset="-120"/>
              </a:rPr>
              <a:t>Static question lists ignore what the learner already knows and say nothing about the concepts they missed.</a:t>
            </a:r>
            <a:endParaRPr lang="en-US" sz="3200" dirty="0"/>
          </a:p>
        </p:txBody>
      </p:sp>
      <p:sp>
        <p:nvSpPr>
          <p:cNvPr id="4" name="Shape 2"/>
          <p:cNvSpPr/>
          <p:nvPr/>
        </p:nvSpPr>
        <p:spPr>
          <a:xfrm>
            <a:off x="815975" y="3803015"/>
            <a:ext cx="3380264" cy="2035810"/>
          </a:xfrm>
          <a:prstGeom prst="roundRect">
            <a:avLst>
              <a:gd name="adj" fmla="val 6082"/>
            </a:avLst>
          </a:prstGeom>
          <a:solidFill>
            <a:srgbClr val="16273D"/>
          </a:solidFill>
          <a:ln w="6350">
            <a:solidFill>
              <a:srgbClr val="26405E"/>
            </a:solidFill>
            <a:prstDash val="solid"/>
          </a:ln>
        </p:spPr>
      </p:sp>
      <p:sp>
        <p:nvSpPr>
          <p:cNvPr id="5" name="Text 3"/>
          <p:cNvSpPr/>
          <p:nvPr/>
        </p:nvSpPr>
        <p:spPr>
          <a:xfrm>
            <a:off x="1071880" y="4058920"/>
            <a:ext cx="2954507" cy="23876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F5B041"/>
                </a:solidFill>
                <a:latin typeface="JetBrains Mono" pitchFamily="49" charset="0"/>
                <a:ea typeface="JetBrains Mono" pitchFamily="49" charset="-122"/>
                <a:cs typeface="JetBrains Mono" pitchFamily="49" charset="-120"/>
              </a:rPr>
              <a:t>01 · GENERATE</a:t>
            </a:r>
            <a:endParaRPr lang="en-US" sz="1200" dirty="0"/>
          </a:p>
        </p:txBody>
      </p:sp>
      <p:sp>
        <p:nvSpPr>
          <p:cNvPr id="6" name="Text 4"/>
          <p:cNvSpPr/>
          <p:nvPr/>
        </p:nvSpPr>
        <p:spPr>
          <a:xfrm>
            <a:off x="1071880" y="4373880"/>
            <a:ext cx="2954507"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F3F5F7"/>
                </a:solidFill>
                <a:latin typeface="IBM Plex Sans" pitchFamily="34" charset="0"/>
                <a:ea typeface="IBM Plex Sans" pitchFamily="34" charset="-122"/>
                <a:cs typeface="IBM Plex Sans" pitchFamily="34" charset="-120"/>
              </a:rPr>
              <a:t>Questions for any topic</a:t>
            </a:r>
            <a:endParaRPr lang="en-US" sz="2000" dirty="0"/>
          </a:p>
        </p:txBody>
      </p:sp>
      <p:sp>
        <p:nvSpPr>
          <p:cNvPr id="7" name="Text 5"/>
          <p:cNvSpPr/>
          <p:nvPr/>
        </p:nvSpPr>
        <p:spPr>
          <a:xfrm>
            <a:off x="1071880" y="4780280"/>
            <a:ext cx="2954507"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A9BDD3"/>
                </a:solidFill>
                <a:latin typeface="IBM Plex Sans" pitchFamily="34" charset="0"/>
                <a:ea typeface="IBM Plex Sans" pitchFamily="34" charset="-122"/>
                <a:cs typeface="IBM Plex Sans" pitchFamily="34" charset="-120"/>
              </a:rPr>
              <a:t>Built on demand for whatever topic the candidate enters.</a:t>
            </a:r>
            <a:endParaRPr lang="en-US" sz="1400" dirty="0"/>
          </a:p>
        </p:txBody>
      </p:sp>
      <p:sp>
        <p:nvSpPr>
          <p:cNvPr id="8" name="Shape 6"/>
          <p:cNvSpPr/>
          <p:nvPr/>
        </p:nvSpPr>
        <p:spPr>
          <a:xfrm>
            <a:off x="4405789" y="3803015"/>
            <a:ext cx="3380343" cy="2035810"/>
          </a:xfrm>
          <a:prstGeom prst="roundRect">
            <a:avLst>
              <a:gd name="adj" fmla="val 6082"/>
            </a:avLst>
          </a:prstGeom>
          <a:solidFill>
            <a:srgbClr val="16273D"/>
          </a:solidFill>
          <a:ln w="6350">
            <a:solidFill>
              <a:srgbClr val="26405E"/>
            </a:solidFill>
            <a:prstDash val="solid"/>
          </a:ln>
        </p:spPr>
      </p:sp>
      <p:sp>
        <p:nvSpPr>
          <p:cNvPr id="9" name="Text 7"/>
          <p:cNvSpPr/>
          <p:nvPr/>
        </p:nvSpPr>
        <p:spPr>
          <a:xfrm>
            <a:off x="4661694" y="4058920"/>
            <a:ext cx="2954589" cy="23876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F5B041"/>
                </a:solidFill>
                <a:latin typeface="JetBrains Mono" pitchFamily="49" charset="0"/>
                <a:ea typeface="JetBrains Mono" pitchFamily="49" charset="-122"/>
                <a:cs typeface="JetBrains Mono" pitchFamily="49" charset="-120"/>
              </a:rPr>
              <a:t>02 · ADAPT</a:t>
            </a:r>
            <a:endParaRPr lang="en-US" sz="1200" dirty="0"/>
          </a:p>
        </p:txBody>
      </p:sp>
      <p:sp>
        <p:nvSpPr>
          <p:cNvPr id="10" name="Text 8"/>
          <p:cNvSpPr/>
          <p:nvPr/>
        </p:nvSpPr>
        <p:spPr>
          <a:xfrm>
            <a:off x="4661694" y="4373880"/>
            <a:ext cx="2954589" cy="6350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F3F5F7"/>
                </a:solidFill>
                <a:latin typeface="IBM Plex Sans" pitchFamily="34" charset="0"/>
                <a:ea typeface="IBM Plex Sans" pitchFamily="34" charset="-122"/>
                <a:cs typeface="IBM Plex Sans" pitchFamily="34" charset="-120"/>
              </a:rPr>
              <a:t>The next question follows performance</a:t>
            </a:r>
            <a:endParaRPr lang="en-US" sz="2000" dirty="0"/>
          </a:p>
        </p:txBody>
      </p:sp>
      <p:sp>
        <p:nvSpPr>
          <p:cNvPr id="11" name="Text 9"/>
          <p:cNvSpPr/>
          <p:nvPr/>
        </p:nvSpPr>
        <p:spPr>
          <a:xfrm>
            <a:off x="4661694" y="5085080"/>
            <a:ext cx="2954589"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A9BDD3"/>
                </a:solidFill>
                <a:latin typeface="IBM Plex Sans" pitchFamily="34" charset="0"/>
                <a:ea typeface="IBM Plex Sans" pitchFamily="34" charset="-122"/>
                <a:cs typeface="IBM Plex Sans" pitchFamily="34" charset="-120"/>
              </a:rPr>
              <a:t>Weak skills and the current level decide what is asked.</a:t>
            </a:r>
            <a:endParaRPr lang="en-US" sz="1400" dirty="0"/>
          </a:p>
        </p:txBody>
      </p:sp>
      <p:sp>
        <p:nvSpPr>
          <p:cNvPr id="12" name="Shape 10"/>
          <p:cNvSpPr/>
          <p:nvPr/>
        </p:nvSpPr>
        <p:spPr>
          <a:xfrm>
            <a:off x="7995682" y="3803015"/>
            <a:ext cx="3380343" cy="2035810"/>
          </a:xfrm>
          <a:prstGeom prst="roundRect">
            <a:avLst>
              <a:gd name="adj" fmla="val 6082"/>
            </a:avLst>
          </a:prstGeom>
          <a:solidFill>
            <a:srgbClr val="16273D"/>
          </a:solidFill>
          <a:ln w="6350">
            <a:solidFill>
              <a:srgbClr val="26405E"/>
            </a:solidFill>
            <a:prstDash val="solid"/>
          </a:ln>
        </p:spPr>
      </p:sp>
      <p:sp>
        <p:nvSpPr>
          <p:cNvPr id="13" name="Text 11"/>
          <p:cNvSpPr/>
          <p:nvPr/>
        </p:nvSpPr>
        <p:spPr>
          <a:xfrm>
            <a:off x="8251587" y="4058920"/>
            <a:ext cx="2954589" cy="23876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F5B041"/>
                </a:solidFill>
                <a:latin typeface="JetBrains Mono" pitchFamily="49" charset="0"/>
                <a:ea typeface="JetBrains Mono" pitchFamily="49" charset="-122"/>
                <a:cs typeface="JetBrains Mono" pitchFamily="49" charset="-120"/>
              </a:rPr>
              <a:t>03 · EVALUATE</a:t>
            </a:r>
            <a:endParaRPr lang="en-US" sz="1200" dirty="0"/>
          </a:p>
        </p:txBody>
      </p:sp>
      <p:sp>
        <p:nvSpPr>
          <p:cNvPr id="14" name="Text 12"/>
          <p:cNvSpPr/>
          <p:nvPr/>
        </p:nvSpPr>
        <p:spPr>
          <a:xfrm>
            <a:off x="8251587" y="4373880"/>
            <a:ext cx="2954589" cy="6350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F3F5F7"/>
                </a:solidFill>
                <a:latin typeface="IBM Plex Sans" pitchFamily="34" charset="0"/>
                <a:ea typeface="IBM Plex Sans" pitchFamily="34" charset="-122"/>
                <a:cs typeface="IBM Plex Sans" pitchFamily="34" charset="-120"/>
              </a:rPr>
              <a:t>Answers scored automatically</a:t>
            </a:r>
            <a:endParaRPr lang="en-US" sz="2000" dirty="0"/>
          </a:p>
        </p:txBody>
      </p:sp>
      <p:sp>
        <p:nvSpPr>
          <p:cNvPr id="15" name="Text 13"/>
          <p:cNvSpPr/>
          <p:nvPr/>
        </p:nvSpPr>
        <p:spPr>
          <a:xfrm>
            <a:off x="8251587" y="5085080"/>
            <a:ext cx="2954589"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A9BDD3"/>
                </a:solidFill>
                <a:latin typeface="IBM Plex Sans" pitchFamily="34" charset="0"/>
                <a:ea typeface="IBM Plex Sans" pitchFamily="34" charset="-122"/>
                <a:cs typeface="IBM Plex Sans" pitchFamily="34" charset="-120"/>
              </a:rPr>
              <a:t>A final report lists mastery and areas to revise.</a:t>
            </a:r>
            <a:endParaRPr lang="en-US" sz="1400" dirty="0"/>
          </a:p>
        </p:txBody>
      </p:sp>
      <p:sp>
        <p:nvSpPr>
          <p:cNvPr id="16" name="Text 14"/>
          <p:cNvSpPr/>
          <p:nvPr/>
        </p:nvSpPr>
        <p:spPr>
          <a:xfrm>
            <a:off x="812800" y="6238241"/>
            <a:ext cx="78486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F96AF"/>
                </a:solidFill>
                <a:latin typeface="IBM Plex Sans" pitchFamily="34" charset="0"/>
                <a:ea typeface="IBM Plex Sans" pitchFamily="34" charset="-122"/>
                <a:cs typeface="IBM Plex Sans" pitchFamily="34" charset="-120"/>
              </a:rPr>
              <a:t>AI-Based Adaptive Interview Preparation System</a:t>
            </a:r>
            <a:endParaRPr lang="en-US" sz="1200" dirty="0"/>
          </a:p>
        </p:txBody>
      </p:sp>
      <p:sp>
        <p:nvSpPr>
          <p:cNvPr id="17" name="Text 15"/>
          <p:cNvSpPr/>
          <p:nvPr/>
        </p:nvSpPr>
        <p:spPr>
          <a:xfrm>
            <a:off x="10058400" y="6238241"/>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7F96AF"/>
                </a:solidFill>
                <a:latin typeface="IBM Plex Sans" pitchFamily="34" charset="0"/>
                <a:ea typeface="IBM Plex Sans" pitchFamily="34" charset="-122"/>
                <a:cs typeface="IBM Plex Sans" pitchFamily="34" charset="-120"/>
              </a:rPr>
              <a:t>02</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3F5F7"/>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0B7285"/>
                </a:solidFill>
                <a:latin typeface="JetBrains Mono" pitchFamily="49" charset="0"/>
                <a:ea typeface="JetBrains Mono" pitchFamily="49" charset="-122"/>
                <a:cs typeface="JetBrains Mono" pitchFamily="49" charset="-120"/>
              </a:rPr>
              <a:t>PROPOSED SYSTEM</a:t>
            </a:r>
            <a:endParaRPr lang="en-US" sz="1200" dirty="0"/>
          </a:p>
        </p:txBody>
      </p:sp>
      <p:sp>
        <p:nvSpPr>
          <p:cNvPr id="3" name="Text 1"/>
          <p:cNvSpPr/>
          <p:nvPr>
            <p:ph type="title"/>
          </p:nvPr>
        </p:nvSpPr>
        <p:spPr>
          <a:xfrm>
            <a:off x="812800" y="1127761"/>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2202F"/>
                </a:solidFill>
                <a:latin typeface="IBM Plex Sans" pitchFamily="34" charset="0"/>
                <a:ea typeface="IBM Plex Sans" pitchFamily="34" charset="-122"/>
                <a:cs typeface="IBM Plex Sans" pitchFamily="34" charset="-120"/>
              </a:rPr>
              <a:t>Two-stage question selection</a:t>
            </a:r>
            <a:endParaRPr lang="en-US" sz="3200" dirty="0"/>
          </a:p>
        </p:txBody>
      </p:sp>
      <p:sp>
        <p:nvSpPr>
          <p:cNvPr id="4" name="Shape 2"/>
          <p:cNvSpPr/>
          <p:nvPr/>
        </p:nvSpPr>
        <p:spPr>
          <a:xfrm>
            <a:off x="815975" y="1882775"/>
            <a:ext cx="3380264" cy="1979930"/>
          </a:xfrm>
          <a:prstGeom prst="roundRect">
            <a:avLst>
              <a:gd name="adj" fmla="val 6254"/>
            </a:avLst>
          </a:prstGeom>
          <a:solidFill>
            <a:srgbClr val="FFFFFF"/>
          </a:solidFill>
          <a:ln w="6350">
            <a:solidFill>
              <a:srgbClr val="D5DCE3"/>
            </a:solidFill>
            <a:prstDash val="solid"/>
          </a:ln>
        </p:spPr>
      </p:sp>
      <p:sp>
        <p:nvSpPr>
          <p:cNvPr id="5" name="Text 3"/>
          <p:cNvSpPr/>
          <p:nvPr/>
        </p:nvSpPr>
        <p:spPr>
          <a:xfrm>
            <a:off x="1071880" y="2138680"/>
            <a:ext cx="2954507" cy="23876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0B7285"/>
                </a:solidFill>
                <a:latin typeface="JetBrains Mono" pitchFamily="49" charset="0"/>
                <a:ea typeface="JetBrains Mono" pitchFamily="49" charset="-122"/>
                <a:cs typeface="JetBrains Mono" pitchFamily="49" charset="-120"/>
              </a:rPr>
              <a:t>STAGE 1 · FILTER</a:t>
            </a:r>
            <a:endParaRPr lang="en-US" sz="1200" dirty="0"/>
          </a:p>
        </p:txBody>
      </p:sp>
      <p:sp>
        <p:nvSpPr>
          <p:cNvPr id="6" name="Text 4"/>
          <p:cNvSpPr/>
          <p:nvPr/>
        </p:nvSpPr>
        <p:spPr>
          <a:xfrm>
            <a:off x="1071880" y="2453641"/>
            <a:ext cx="2954507"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2202F"/>
                </a:solidFill>
                <a:latin typeface="IBM Plex Sans" pitchFamily="34" charset="0"/>
                <a:ea typeface="IBM Plex Sans" pitchFamily="34" charset="-122"/>
                <a:cs typeface="IBM Plex Sans" pitchFamily="34" charset="-120"/>
              </a:rPr>
              <a:t>Constraint satisfaction</a:t>
            </a:r>
            <a:endParaRPr lang="en-US" sz="2000" dirty="0"/>
          </a:p>
        </p:txBody>
      </p:sp>
      <p:sp>
        <p:nvSpPr>
          <p:cNvPr id="7" name="Text 5"/>
          <p:cNvSpPr/>
          <p:nvPr/>
        </p:nvSpPr>
        <p:spPr>
          <a:xfrm>
            <a:off x="1071880" y="2860041"/>
            <a:ext cx="2954507" cy="77216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B5A6B"/>
                </a:solidFill>
                <a:latin typeface="IBM Plex Sans" pitchFamily="34" charset="0"/>
                <a:ea typeface="IBM Plex Sans" pitchFamily="34" charset="-122"/>
                <a:cs typeface="IBM Plex Sans" pitchFamily="34" charset="-120"/>
              </a:rPr>
              <a:t>Removes asked and too-difficult questions, and relaxes difficulty if the pool runs empty.</a:t>
            </a:r>
            <a:endParaRPr lang="en-US" sz="1400" dirty="0"/>
          </a:p>
        </p:txBody>
      </p:sp>
      <p:sp>
        <p:nvSpPr>
          <p:cNvPr id="8" name="Shape 6"/>
          <p:cNvSpPr/>
          <p:nvPr/>
        </p:nvSpPr>
        <p:spPr>
          <a:xfrm>
            <a:off x="4405789" y="1882775"/>
            <a:ext cx="3380343" cy="1979930"/>
          </a:xfrm>
          <a:prstGeom prst="roundRect">
            <a:avLst>
              <a:gd name="adj" fmla="val 6254"/>
            </a:avLst>
          </a:prstGeom>
          <a:solidFill>
            <a:srgbClr val="FFFFFF"/>
          </a:solidFill>
          <a:ln w="6350">
            <a:solidFill>
              <a:srgbClr val="D5DCE3"/>
            </a:solidFill>
            <a:prstDash val="solid"/>
          </a:ln>
        </p:spPr>
      </p:sp>
      <p:sp>
        <p:nvSpPr>
          <p:cNvPr id="9" name="Text 7"/>
          <p:cNvSpPr/>
          <p:nvPr/>
        </p:nvSpPr>
        <p:spPr>
          <a:xfrm>
            <a:off x="4661694" y="2138680"/>
            <a:ext cx="2954589" cy="23876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0B7285"/>
                </a:solidFill>
                <a:latin typeface="JetBrains Mono" pitchFamily="49" charset="0"/>
                <a:ea typeface="JetBrains Mono" pitchFamily="49" charset="-122"/>
                <a:cs typeface="JetBrains Mono" pitchFamily="49" charset="-120"/>
              </a:rPr>
              <a:t>STAGE 2 · SELECT</a:t>
            </a:r>
            <a:endParaRPr lang="en-US" sz="1200" dirty="0"/>
          </a:p>
        </p:txBody>
      </p:sp>
      <p:sp>
        <p:nvSpPr>
          <p:cNvPr id="10" name="Text 8"/>
          <p:cNvSpPr/>
          <p:nvPr/>
        </p:nvSpPr>
        <p:spPr>
          <a:xfrm>
            <a:off x="4661694" y="2453641"/>
            <a:ext cx="2954589"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2202F"/>
                </a:solidFill>
                <a:latin typeface="IBM Plex Sans" pitchFamily="34" charset="0"/>
                <a:ea typeface="IBM Plex Sans" pitchFamily="34" charset="-122"/>
                <a:cs typeface="IBM Plex Sans" pitchFamily="34" charset="-120"/>
              </a:rPr>
              <a:t>Search algorithms</a:t>
            </a:r>
            <a:endParaRPr lang="en-US" sz="2000" dirty="0"/>
          </a:p>
        </p:txBody>
      </p:sp>
      <p:sp>
        <p:nvSpPr>
          <p:cNvPr id="11" name="Text 9"/>
          <p:cNvSpPr/>
          <p:nvPr/>
        </p:nvSpPr>
        <p:spPr>
          <a:xfrm>
            <a:off x="4661694" y="2860041"/>
            <a:ext cx="2954589" cy="77216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B5A6B"/>
                </a:solidFill>
                <a:latin typeface="IBM Plex Sans" pitchFamily="34" charset="0"/>
                <a:ea typeface="IBM Plex Sans" pitchFamily="34" charset="-122"/>
                <a:cs typeface="IBM Plex Sans" pitchFamily="34" charset="-120"/>
              </a:rPr>
              <a:t>Uninformed, informed and local search choose the best remaining question.</a:t>
            </a:r>
            <a:endParaRPr lang="en-US" sz="1400" dirty="0"/>
          </a:p>
        </p:txBody>
      </p:sp>
      <p:sp>
        <p:nvSpPr>
          <p:cNvPr id="12" name="Shape 10"/>
          <p:cNvSpPr/>
          <p:nvPr/>
        </p:nvSpPr>
        <p:spPr>
          <a:xfrm>
            <a:off x="7995682" y="1882775"/>
            <a:ext cx="3380343" cy="1979930"/>
          </a:xfrm>
          <a:prstGeom prst="roundRect">
            <a:avLst>
              <a:gd name="adj" fmla="val 6254"/>
            </a:avLst>
          </a:prstGeom>
          <a:solidFill>
            <a:srgbClr val="FFFFFF"/>
          </a:solidFill>
          <a:ln w="6350">
            <a:solidFill>
              <a:srgbClr val="D5DCE3"/>
            </a:solidFill>
            <a:prstDash val="solid"/>
          </a:ln>
        </p:spPr>
      </p:sp>
      <p:sp>
        <p:nvSpPr>
          <p:cNvPr id="13" name="Text 11"/>
          <p:cNvSpPr/>
          <p:nvPr/>
        </p:nvSpPr>
        <p:spPr>
          <a:xfrm>
            <a:off x="8251587" y="2138680"/>
            <a:ext cx="2954589" cy="23876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0B7285"/>
                </a:solidFill>
                <a:latin typeface="JetBrains Mono" pitchFamily="49" charset="0"/>
                <a:ea typeface="JetBrains Mono" pitchFamily="49" charset="-122"/>
                <a:cs typeface="JetBrains Mono" pitchFamily="49" charset="-120"/>
              </a:rPr>
              <a:t>AFTER EACH ANSWER · INFER</a:t>
            </a:r>
            <a:endParaRPr lang="en-US" sz="1200" dirty="0"/>
          </a:p>
        </p:txBody>
      </p:sp>
      <p:sp>
        <p:nvSpPr>
          <p:cNvPr id="14" name="Text 12"/>
          <p:cNvSpPr/>
          <p:nvPr/>
        </p:nvSpPr>
        <p:spPr>
          <a:xfrm>
            <a:off x="8251587" y="2453641"/>
            <a:ext cx="2954589"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2202F"/>
                </a:solidFill>
                <a:latin typeface="IBM Plex Sans" pitchFamily="34" charset="0"/>
                <a:ea typeface="IBM Plex Sans" pitchFamily="34" charset="-122"/>
                <a:cs typeface="IBM Plex Sans" pitchFamily="34" charset="-120"/>
              </a:rPr>
              <a:t>Logical reasoning</a:t>
            </a:r>
            <a:endParaRPr lang="en-US" sz="2000" dirty="0"/>
          </a:p>
        </p:txBody>
      </p:sp>
      <p:sp>
        <p:nvSpPr>
          <p:cNvPr id="15" name="Text 13"/>
          <p:cNvSpPr/>
          <p:nvPr/>
        </p:nvSpPr>
        <p:spPr>
          <a:xfrm>
            <a:off x="8251587" y="2860041"/>
            <a:ext cx="2954589" cy="77216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B5A6B"/>
                </a:solidFill>
                <a:latin typeface="IBM Plex Sans" pitchFamily="34" charset="0"/>
                <a:ea typeface="IBM Plex Sans" pitchFamily="34" charset="-122"/>
                <a:cs typeface="IBM Plex Sans" pitchFamily="34" charset="-120"/>
              </a:rPr>
              <a:t>Forward chaining derives facts such as Mastered_Skill to track the candidate.</a:t>
            </a:r>
            <a:endParaRPr lang="en-US" sz="1400" dirty="0"/>
          </a:p>
        </p:txBody>
      </p:sp>
      <p:sp>
        <p:nvSpPr>
          <p:cNvPr id="16" name="Text 14"/>
          <p:cNvSpPr/>
          <p:nvPr/>
        </p:nvSpPr>
        <p:spPr>
          <a:xfrm>
            <a:off x="812800" y="4170680"/>
            <a:ext cx="9156700"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B5A6B"/>
                </a:solidFill>
                <a:latin typeface="IBM Plex Sans" pitchFamily="34" charset="0"/>
                <a:ea typeface="IBM Plex Sans" pitchFamily="34" charset="-122"/>
                <a:cs typeface="IBM Plex Sans" pitchFamily="34" charset="-120"/>
              </a:rPr>
              <a:t>The final report also demonstrates first-order logic unification and resolution.</a:t>
            </a:r>
            <a:endParaRPr lang="en-US" sz="1400" dirty="0"/>
          </a:p>
        </p:txBody>
      </p:sp>
      <p:sp>
        <p:nvSpPr>
          <p:cNvPr id="17" name="Text 15"/>
          <p:cNvSpPr/>
          <p:nvPr/>
        </p:nvSpPr>
        <p:spPr>
          <a:xfrm>
            <a:off x="812800" y="6238241"/>
            <a:ext cx="78486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786"/>
                </a:solidFill>
                <a:latin typeface="IBM Plex Sans" pitchFamily="34" charset="0"/>
                <a:ea typeface="IBM Plex Sans" pitchFamily="34" charset="-122"/>
                <a:cs typeface="IBM Plex Sans" pitchFamily="34" charset="-120"/>
              </a:rPr>
              <a:t>AI-Based Adaptive Interview Preparation System</a:t>
            </a:r>
            <a:endParaRPr lang="en-US" sz="1200" dirty="0"/>
          </a:p>
        </p:txBody>
      </p:sp>
      <p:sp>
        <p:nvSpPr>
          <p:cNvPr id="18" name="Text 16"/>
          <p:cNvSpPr/>
          <p:nvPr/>
        </p:nvSpPr>
        <p:spPr>
          <a:xfrm>
            <a:off x="10058400" y="6238241"/>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A7786"/>
                </a:solidFill>
                <a:latin typeface="IBM Plex Sans" pitchFamily="34" charset="0"/>
                <a:ea typeface="IBM Plex Sans" pitchFamily="34" charset="-122"/>
                <a:cs typeface="IBM Plex Sans" pitchFamily="34" charset="-120"/>
              </a:rPr>
              <a:t>03</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3F5F7"/>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0B7285"/>
                </a:solidFill>
                <a:latin typeface="JetBrains Mono" pitchFamily="49" charset="0"/>
                <a:ea typeface="JetBrains Mono" pitchFamily="49" charset="-122"/>
                <a:cs typeface="JetBrains Mono" pitchFamily="49" charset="-120"/>
              </a:rPr>
              <a:t>AIM AND OBJECTIVES</a:t>
            </a:r>
            <a:endParaRPr lang="en-US" sz="1200" dirty="0"/>
          </a:p>
        </p:txBody>
      </p:sp>
      <p:sp>
        <p:nvSpPr>
          <p:cNvPr id="3" name="Text 1"/>
          <p:cNvSpPr/>
          <p:nvPr>
            <p:ph type="title"/>
          </p:nvPr>
        </p:nvSpPr>
        <p:spPr>
          <a:xfrm>
            <a:off x="812800" y="1127761"/>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2202F"/>
                </a:solidFill>
                <a:latin typeface="IBM Plex Sans" pitchFamily="34" charset="0"/>
                <a:ea typeface="IBM Plex Sans" pitchFamily="34" charset="-122"/>
                <a:cs typeface="IBM Plex Sans" pitchFamily="34" charset="-120"/>
              </a:rPr>
              <a:t>Ten objectives, one adaptive interviewer</a:t>
            </a:r>
            <a:endParaRPr lang="en-US" sz="3200" dirty="0"/>
          </a:p>
        </p:txBody>
      </p:sp>
      <p:sp>
        <p:nvSpPr>
          <p:cNvPr id="4" name="Shape 2"/>
          <p:cNvSpPr/>
          <p:nvPr/>
        </p:nvSpPr>
        <p:spPr>
          <a:xfrm>
            <a:off x="815975" y="1882775"/>
            <a:ext cx="1985010" cy="1380490"/>
          </a:xfrm>
          <a:prstGeom prst="roundRect">
            <a:avLst>
              <a:gd name="adj" fmla="val 7130"/>
            </a:avLst>
          </a:prstGeom>
          <a:solidFill>
            <a:srgbClr val="FFFFFF"/>
          </a:solidFill>
          <a:ln w="6350">
            <a:solidFill>
              <a:srgbClr val="D5DCE3"/>
            </a:solidFill>
            <a:prstDash val="solid"/>
          </a:ln>
        </p:spPr>
      </p:sp>
      <p:sp>
        <p:nvSpPr>
          <p:cNvPr id="5" name="Text 3"/>
          <p:cNvSpPr/>
          <p:nvPr/>
        </p:nvSpPr>
        <p:spPr>
          <a:xfrm>
            <a:off x="995680" y="2062480"/>
            <a:ext cx="16764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0B7285"/>
                </a:solidFill>
                <a:latin typeface="JetBrains Mono" pitchFamily="49" charset="0"/>
                <a:ea typeface="JetBrains Mono" pitchFamily="49" charset="-122"/>
                <a:cs typeface="JetBrains Mono" pitchFamily="49" charset="-120"/>
              </a:rPr>
              <a:t>01</a:t>
            </a:r>
            <a:endParaRPr lang="en-US" sz="1200" dirty="0"/>
          </a:p>
        </p:txBody>
      </p:sp>
      <p:sp>
        <p:nvSpPr>
          <p:cNvPr id="6" name="Text 4"/>
          <p:cNvSpPr/>
          <p:nvPr/>
        </p:nvSpPr>
        <p:spPr>
          <a:xfrm>
            <a:off x="995680" y="2352041"/>
            <a:ext cx="1676400" cy="75692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2202F"/>
                </a:solidFill>
                <a:latin typeface="IBM Plex Sans" pitchFamily="34" charset="0"/>
                <a:ea typeface="IBM Plex Sans" pitchFamily="34" charset="-122"/>
                <a:cs typeface="IBM Plex Sans" pitchFamily="34" charset="-120"/>
              </a:rPr>
              <a:t>Dynamic question generation</a:t>
            </a:r>
            <a:endParaRPr lang="en-US" sz="1600" dirty="0"/>
          </a:p>
        </p:txBody>
      </p:sp>
      <p:sp>
        <p:nvSpPr>
          <p:cNvPr id="7" name="Shape 5"/>
          <p:cNvSpPr/>
          <p:nvPr/>
        </p:nvSpPr>
        <p:spPr>
          <a:xfrm>
            <a:off x="2959735" y="1882775"/>
            <a:ext cx="1985010" cy="1380490"/>
          </a:xfrm>
          <a:prstGeom prst="roundRect">
            <a:avLst>
              <a:gd name="adj" fmla="val 7130"/>
            </a:avLst>
          </a:prstGeom>
          <a:solidFill>
            <a:srgbClr val="FFFFFF"/>
          </a:solidFill>
          <a:ln w="6350">
            <a:solidFill>
              <a:srgbClr val="D5DCE3"/>
            </a:solidFill>
            <a:prstDash val="solid"/>
          </a:ln>
        </p:spPr>
      </p:sp>
      <p:sp>
        <p:nvSpPr>
          <p:cNvPr id="8" name="Text 6"/>
          <p:cNvSpPr/>
          <p:nvPr/>
        </p:nvSpPr>
        <p:spPr>
          <a:xfrm>
            <a:off x="3139440" y="2062480"/>
            <a:ext cx="16764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0B7285"/>
                </a:solidFill>
                <a:latin typeface="JetBrains Mono" pitchFamily="49" charset="0"/>
                <a:ea typeface="JetBrains Mono" pitchFamily="49" charset="-122"/>
                <a:cs typeface="JetBrains Mono" pitchFamily="49" charset="-120"/>
              </a:rPr>
              <a:t>02</a:t>
            </a:r>
            <a:endParaRPr lang="en-US" sz="1200" dirty="0"/>
          </a:p>
        </p:txBody>
      </p:sp>
      <p:sp>
        <p:nvSpPr>
          <p:cNvPr id="9" name="Text 7"/>
          <p:cNvSpPr/>
          <p:nvPr/>
        </p:nvSpPr>
        <p:spPr>
          <a:xfrm>
            <a:off x="3139440" y="2352041"/>
            <a:ext cx="1676400" cy="75692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2202F"/>
                </a:solidFill>
                <a:latin typeface="IBM Plex Sans" pitchFamily="34" charset="0"/>
                <a:ea typeface="IBM Plex Sans" pitchFamily="34" charset="-122"/>
                <a:cs typeface="IBM Plex Sans" pitchFamily="34" charset="-120"/>
              </a:rPr>
              <a:t>Adaptive question selection</a:t>
            </a:r>
            <a:endParaRPr lang="en-US" sz="1600" dirty="0"/>
          </a:p>
        </p:txBody>
      </p:sp>
      <p:sp>
        <p:nvSpPr>
          <p:cNvPr id="10" name="Shape 8"/>
          <p:cNvSpPr/>
          <p:nvPr/>
        </p:nvSpPr>
        <p:spPr>
          <a:xfrm>
            <a:off x="5103495" y="1882775"/>
            <a:ext cx="1985010" cy="1380490"/>
          </a:xfrm>
          <a:prstGeom prst="roundRect">
            <a:avLst>
              <a:gd name="adj" fmla="val 7130"/>
            </a:avLst>
          </a:prstGeom>
          <a:solidFill>
            <a:srgbClr val="FFFFFF"/>
          </a:solidFill>
          <a:ln w="6350">
            <a:solidFill>
              <a:srgbClr val="D5DCE3"/>
            </a:solidFill>
            <a:prstDash val="solid"/>
          </a:ln>
        </p:spPr>
      </p:sp>
      <p:sp>
        <p:nvSpPr>
          <p:cNvPr id="11" name="Text 9"/>
          <p:cNvSpPr/>
          <p:nvPr/>
        </p:nvSpPr>
        <p:spPr>
          <a:xfrm>
            <a:off x="5283200" y="2062480"/>
            <a:ext cx="16764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0B7285"/>
                </a:solidFill>
                <a:latin typeface="JetBrains Mono" pitchFamily="49" charset="0"/>
                <a:ea typeface="JetBrains Mono" pitchFamily="49" charset="-122"/>
                <a:cs typeface="JetBrains Mono" pitchFamily="49" charset="-120"/>
              </a:rPr>
              <a:t>03</a:t>
            </a:r>
            <a:endParaRPr lang="en-US" sz="1200" dirty="0"/>
          </a:p>
        </p:txBody>
      </p:sp>
      <p:sp>
        <p:nvSpPr>
          <p:cNvPr id="12" name="Text 10"/>
          <p:cNvSpPr/>
          <p:nvPr/>
        </p:nvSpPr>
        <p:spPr>
          <a:xfrm>
            <a:off x="5283200" y="2352041"/>
            <a:ext cx="1676400" cy="5130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2202F"/>
                </a:solidFill>
                <a:latin typeface="IBM Plex Sans" pitchFamily="34" charset="0"/>
                <a:ea typeface="IBM Plex Sans" pitchFamily="34" charset="-122"/>
                <a:cs typeface="IBM Plex Sans" pitchFamily="34" charset="-120"/>
              </a:rPr>
              <a:t>Uninformed search</a:t>
            </a:r>
            <a:endParaRPr lang="en-US" sz="1600" dirty="0"/>
          </a:p>
        </p:txBody>
      </p:sp>
      <p:sp>
        <p:nvSpPr>
          <p:cNvPr id="13" name="Shape 11"/>
          <p:cNvSpPr/>
          <p:nvPr/>
        </p:nvSpPr>
        <p:spPr>
          <a:xfrm>
            <a:off x="7247255" y="1882775"/>
            <a:ext cx="1985010" cy="1380490"/>
          </a:xfrm>
          <a:prstGeom prst="roundRect">
            <a:avLst>
              <a:gd name="adj" fmla="val 7130"/>
            </a:avLst>
          </a:prstGeom>
          <a:solidFill>
            <a:srgbClr val="FFFFFF"/>
          </a:solidFill>
          <a:ln w="6350">
            <a:solidFill>
              <a:srgbClr val="D5DCE3"/>
            </a:solidFill>
            <a:prstDash val="solid"/>
          </a:ln>
        </p:spPr>
      </p:sp>
      <p:sp>
        <p:nvSpPr>
          <p:cNvPr id="14" name="Text 12"/>
          <p:cNvSpPr/>
          <p:nvPr/>
        </p:nvSpPr>
        <p:spPr>
          <a:xfrm>
            <a:off x="7426960" y="2062480"/>
            <a:ext cx="16764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0B7285"/>
                </a:solidFill>
                <a:latin typeface="JetBrains Mono" pitchFamily="49" charset="0"/>
                <a:ea typeface="JetBrains Mono" pitchFamily="49" charset="-122"/>
                <a:cs typeface="JetBrains Mono" pitchFamily="49" charset="-120"/>
              </a:rPr>
              <a:t>04</a:t>
            </a:r>
            <a:endParaRPr lang="en-US" sz="1200" dirty="0"/>
          </a:p>
        </p:txBody>
      </p:sp>
      <p:sp>
        <p:nvSpPr>
          <p:cNvPr id="15" name="Text 13"/>
          <p:cNvSpPr/>
          <p:nvPr/>
        </p:nvSpPr>
        <p:spPr>
          <a:xfrm>
            <a:off x="7426960" y="2352041"/>
            <a:ext cx="1676400" cy="5130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2202F"/>
                </a:solidFill>
                <a:latin typeface="IBM Plex Sans" pitchFamily="34" charset="0"/>
                <a:ea typeface="IBM Plex Sans" pitchFamily="34" charset="-122"/>
                <a:cs typeface="IBM Plex Sans" pitchFamily="34" charset="-120"/>
              </a:rPr>
              <a:t>Informed and local search</a:t>
            </a:r>
            <a:endParaRPr lang="en-US" sz="1600" dirty="0"/>
          </a:p>
        </p:txBody>
      </p:sp>
      <p:sp>
        <p:nvSpPr>
          <p:cNvPr id="16" name="Shape 14"/>
          <p:cNvSpPr/>
          <p:nvPr/>
        </p:nvSpPr>
        <p:spPr>
          <a:xfrm>
            <a:off x="9391015" y="1882775"/>
            <a:ext cx="1985010" cy="1380490"/>
          </a:xfrm>
          <a:prstGeom prst="roundRect">
            <a:avLst>
              <a:gd name="adj" fmla="val 7130"/>
            </a:avLst>
          </a:prstGeom>
          <a:solidFill>
            <a:srgbClr val="FFFFFF"/>
          </a:solidFill>
          <a:ln w="6350">
            <a:solidFill>
              <a:srgbClr val="D5DCE3"/>
            </a:solidFill>
            <a:prstDash val="solid"/>
          </a:ln>
        </p:spPr>
      </p:sp>
      <p:sp>
        <p:nvSpPr>
          <p:cNvPr id="17" name="Text 15"/>
          <p:cNvSpPr/>
          <p:nvPr/>
        </p:nvSpPr>
        <p:spPr>
          <a:xfrm>
            <a:off x="9570720" y="2062480"/>
            <a:ext cx="16764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0B7285"/>
                </a:solidFill>
                <a:latin typeface="JetBrains Mono" pitchFamily="49" charset="0"/>
                <a:ea typeface="JetBrains Mono" pitchFamily="49" charset="-122"/>
                <a:cs typeface="JetBrains Mono" pitchFamily="49" charset="-120"/>
              </a:rPr>
              <a:t>05</a:t>
            </a:r>
            <a:endParaRPr lang="en-US" sz="1200" dirty="0"/>
          </a:p>
        </p:txBody>
      </p:sp>
      <p:sp>
        <p:nvSpPr>
          <p:cNvPr id="18" name="Text 16"/>
          <p:cNvSpPr/>
          <p:nvPr/>
        </p:nvSpPr>
        <p:spPr>
          <a:xfrm>
            <a:off x="9570720" y="2352041"/>
            <a:ext cx="1676400" cy="5130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2202F"/>
                </a:solidFill>
                <a:latin typeface="IBM Plex Sans" pitchFamily="34" charset="0"/>
                <a:ea typeface="IBM Plex Sans" pitchFamily="34" charset="-122"/>
                <a:cs typeface="IBM Plex Sans" pitchFamily="34" charset="-120"/>
              </a:rPr>
              <a:t>Constraint satisfaction</a:t>
            </a:r>
            <a:endParaRPr lang="en-US" sz="1600" dirty="0"/>
          </a:p>
        </p:txBody>
      </p:sp>
      <p:sp>
        <p:nvSpPr>
          <p:cNvPr id="19" name="Shape 17"/>
          <p:cNvSpPr/>
          <p:nvPr/>
        </p:nvSpPr>
        <p:spPr>
          <a:xfrm>
            <a:off x="815975" y="3422016"/>
            <a:ext cx="1985010" cy="1380490"/>
          </a:xfrm>
          <a:prstGeom prst="roundRect">
            <a:avLst>
              <a:gd name="adj" fmla="val 7130"/>
            </a:avLst>
          </a:prstGeom>
          <a:solidFill>
            <a:srgbClr val="FFFFFF"/>
          </a:solidFill>
          <a:ln w="6350">
            <a:solidFill>
              <a:srgbClr val="D5DCE3"/>
            </a:solidFill>
            <a:prstDash val="solid"/>
          </a:ln>
        </p:spPr>
      </p:sp>
      <p:sp>
        <p:nvSpPr>
          <p:cNvPr id="20" name="Text 18"/>
          <p:cNvSpPr/>
          <p:nvPr/>
        </p:nvSpPr>
        <p:spPr>
          <a:xfrm>
            <a:off x="995680" y="3601720"/>
            <a:ext cx="16764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0B7285"/>
                </a:solidFill>
                <a:latin typeface="JetBrains Mono" pitchFamily="49" charset="0"/>
                <a:ea typeface="JetBrains Mono" pitchFamily="49" charset="-122"/>
                <a:cs typeface="JetBrains Mono" pitchFamily="49" charset="-120"/>
              </a:rPr>
              <a:t>06</a:t>
            </a:r>
            <a:endParaRPr lang="en-US" sz="1200" dirty="0"/>
          </a:p>
        </p:txBody>
      </p:sp>
      <p:sp>
        <p:nvSpPr>
          <p:cNvPr id="21" name="Text 19"/>
          <p:cNvSpPr/>
          <p:nvPr/>
        </p:nvSpPr>
        <p:spPr>
          <a:xfrm>
            <a:off x="995680" y="3891280"/>
            <a:ext cx="1676400" cy="5130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2202F"/>
                </a:solidFill>
                <a:latin typeface="IBM Plex Sans" pitchFamily="34" charset="0"/>
                <a:ea typeface="IBM Plex Sans" pitchFamily="34" charset="-122"/>
                <a:cs typeface="IBM Plex Sans" pitchFamily="34" charset="-120"/>
              </a:rPr>
              <a:t>Logical reasoning</a:t>
            </a:r>
            <a:endParaRPr lang="en-US" sz="1600" dirty="0"/>
          </a:p>
        </p:txBody>
      </p:sp>
      <p:sp>
        <p:nvSpPr>
          <p:cNvPr id="22" name="Shape 20"/>
          <p:cNvSpPr/>
          <p:nvPr/>
        </p:nvSpPr>
        <p:spPr>
          <a:xfrm>
            <a:off x="2959735" y="3422016"/>
            <a:ext cx="1985010" cy="1380490"/>
          </a:xfrm>
          <a:prstGeom prst="roundRect">
            <a:avLst>
              <a:gd name="adj" fmla="val 7130"/>
            </a:avLst>
          </a:prstGeom>
          <a:solidFill>
            <a:srgbClr val="FFFFFF"/>
          </a:solidFill>
          <a:ln w="6350">
            <a:solidFill>
              <a:srgbClr val="D5DCE3"/>
            </a:solidFill>
            <a:prstDash val="solid"/>
          </a:ln>
        </p:spPr>
      </p:sp>
      <p:sp>
        <p:nvSpPr>
          <p:cNvPr id="23" name="Text 21"/>
          <p:cNvSpPr/>
          <p:nvPr/>
        </p:nvSpPr>
        <p:spPr>
          <a:xfrm>
            <a:off x="3139440" y="3601720"/>
            <a:ext cx="16764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0B7285"/>
                </a:solidFill>
                <a:latin typeface="JetBrains Mono" pitchFamily="49" charset="0"/>
                <a:ea typeface="JetBrains Mono" pitchFamily="49" charset="-122"/>
                <a:cs typeface="JetBrains Mono" pitchFamily="49" charset="-120"/>
              </a:rPr>
              <a:t>07</a:t>
            </a:r>
            <a:endParaRPr lang="en-US" sz="1200" dirty="0"/>
          </a:p>
        </p:txBody>
      </p:sp>
      <p:sp>
        <p:nvSpPr>
          <p:cNvPr id="24" name="Text 22"/>
          <p:cNvSpPr/>
          <p:nvPr/>
        </p:nvSpPr>
        <p:spPr>
          <a:xfrm>
            <a:off x="3139440" y="3891280"/>
            <a:ext cx="1676400" cy="75692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2202F"/>
                </a:solidFill>
                <a:latin typeface="IBM Plex Sans" pitchFamily="34" charset="0"/>
                <a:ea typeface="IBM Plex Sans" pitchFamily="34" charset="-122"/>
                <a:cs typeface="IBM Plex Sans" pitchFamily="34" charset="-120"/>
              </a:rPr>
              <a:t>Automatic answer evaluation</a:t>
            </a:r>
            <a:endParaRPr lang="en-US" sz="1600" dirty="0"/>
          </a:p>
        </p:txBody>
      </p:sp>
      <p:sp>
        <p:nvSpPr>
          <p:cNvPr id="25" name="Shape 23"/>
          <p:cNvSpPr/>
          <p:nvPr/>
        </p:nvSpPr>
        <p:spPr>
          <a:xfrm>
            <a:off x="5103495" y="3422016"/>
            <a:ext cx="1985010" cy="1380490"/>
          </a:xfrm>
          <a:prstGeom prst="roundRect">
            <a:avLst>
              <a:gd name="adj" fmla="val 7130"/>
            </a:avLst>
          </a:prstGeom>
          <a:solidFill>
            <a:srgbClr val="FFFFFF"/>
          </a:solidFill>
          <a:ln w="6350">
            <a:solidFill>
              <a:srgbClr val="D5DCE3"/>
            </a:solidFill>
            <a:prstDash val="solid"/>
          </a:ln>
        </p:spPr>
      </p:sp>
      <p:sp>
        <p:nvSpPr>
          <p:cNvPr id="26" name="Text 24"/>
          <p:cNvSpPr/>
          <p:nvPr/>
        </p:nvSpPr>
        <p:spPr>
          <a:xfrm>
            <a:off x="5283200" y="3601720"/>
            <a:ext cx="16764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0B7285"/>
                </a:solidFill>
                <a:latin typeface="JetBrains Mono" pitchFamily="49" charset="0"/>
                <a:ea typeface="JetBrains Mono" pitchFamily="49" charset="-122"/>
                <a:cs typeface="JetBrains Mono" pitchFamily="49" charset="-120"/>
              </a:rPr>
              <a:t>08</a:t>
            </a:r>
            <a:endParaRPr lang="en-US" sz="1200" dirty="0"/>
          </a:p>
        </p:txBody>
      </p:sp>
      <p:sp>
        <p:nvSpPr>
          <p:cNvPr id="27" name="Text 25"/>
          <p:cNvSpPr/>
          <p:nvPr/>
        </p:nvSpPr>
        <p:spPr>
          <a:xfrm>
            <a:off x="5283200" y="3891280"/>
            <a:ext cx="1802130"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2202F"/>
                </a:solidFill>
                <a:latin typeface="IBM Plex Sans" pitchFamily="34" charset="0"/>
                <a:ea typeface="IBM Plex Sans" pitchFamily="34" charset="-122"/>
                <a:cs typeface="IBM Plex Sans" pitchFamily="34" charset="-120"/>
              </a:rPr>
              <a:t>Offline reliability</a:t>
            </a:r>
            <a:endParaRPr lang="en-US" sz="1600" dirty="0"/>
          </a:p>
        </p:txBody>
      </p:sp>
      <p:sp>
        <p:nvSpPr>
          <p:cNvPr id="28" name="Shape 26"/>
          <p:cNvSpPr/>
          <p:nvPr/>
        </p:nvSpPr>
        <p:spPr>
          <a:xfrm>
            <a:off x="7247255" y="3422016"/>
            <a:ext cx="1985010" cy="1380490"/>
          </a:xfrm>
          <a:prstGeom prst="roundRect">
            <a:avLst>
              <a:gd name="adj" fmla="val 7130"/>
            </a:avLst>
          </a:prstGeom>
          <a:solidFill>
            <a:srgbClr val="FFFFFF"/>
          </a:solidFill>
          <a:ln w="6350">
            <a:solidFill>
              <a:srgbClr val="D5DCE3"/>
            </a:solidFill>
            <a:prstDash val="solid"/>
          </a:ln>
        </p:spPr>
      </p:sp>
      <p:sp>
        <p:nvSpPr>
          <p:cNvPr id="29" name="Text 27"/>
          <p:cNvSpPr/>
          <p:nvPr/>
        </p:nvSpPr>
        <p:spPr>
          <a:xfrm>
            <a:off x="7426960" y="3601720"/>
            <a:ext cx="16764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0B7285"/>
                </a:solidFill>
                <a:latin typeface="JetBrains Mono" pitchFamily="49" charset="0"/>
                <a:ea typeface="JetBrains Mono" pitchFamily="49" charset="-122"/>
                <a:cs typeface="JetBrains Mono" pitchFamily="49" charset="-120"/>
              </a:rPr>
              <a:t>09</a:t>
            </a:r>
            <a:endParaRPr lang="en-US" sz="1200" dirty="0"/>
          </a:p>
        </p:txBody>
      </p:sp>
      <p:sp>
        <p:nvSpPr>
          <p:cNvPr id="30" name="Text 28"/>
          <p:cNvSpPr/>
          <p:nvPr/>
        </p:nvSpPr>
        <p:spPr>
          <a:xfrm>
            <a:off x="7426960" y="3891280"/>
            <a:ext cx="1676400" cy="5130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2202F"/>
                </a:solidFill>
                <a:latin typeface="IBM Plex Sans" pitchFamily="34" charset="0"/>
                <a:ea typeface="IBM Plex Sans" pitchFamily="34" charset="-122"/>
                <a:cs typeface="IBM Plex Sans" pitchFamily="34" charset="-120"/>
              </a:rPr>
              <a:t>Interactive interface</a:t>
            </a:r>
            <a:endParaRPr lang="en-US" sz="1600" dirty="0"/>
          </a:p>
        </p:txBody>
      </p:sp>
      <p:sp>
        <p:nvSpPr>
          <p:cNvPr id="31" name="Shape 29"/>
          <p:cNvSpPr/>
          <p:nvPr/>
        </p:nvSpPr>
        <p:spPr>
          <a:xfrm>
            <a:off x="9391015" y="3422016"/>
            <a:ext cx="1985010" cy="1380490"/>
          </a:xfrm>
          <a:prstGeom prst="roundRect">
            <a:avLst>
              <a:gd name="adj" fmla="val 7130"/>
            </a:avLst>
          </a:prstGeom>
          <a:solidFill>
            <a:srgbClr val="FFFFFF"/>
          </a:solidFill>
          <a:ln w="6350">
            <a:solidFill>
              <a:srgbClr val="D5DCE3"/>
            </a:solidFill>
            <a:prstDash val="solid"/>
          </a:ln>
        </p:spPr>
      </p:sp>
      <p:sp>
        <p:nvSpPr>
          <p:cNvPr id="32" name="Text 30"/>
          <p:cNvSpPr/>
          <p:nvPr/>
        </p:nvSpPr>
        <p:spPr>
          <a:xfrm>
            <a:off x="9570720" y="3601720"/>
            <a:ext cx="16764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0B7285"/>
                </a:solidFill>
                <a:latin typeface="JetBrains Mono" pitchFamily="49" charset="0"/>
                <a:ea typeface="JetBrains Mono" pitchFamily="49" charset="-122"/>
                <a:cs typeface="JetBrains Mono" pitchFamily="49" charset="-120"/>
              </a:rPr>
              <a:t>10</a:t>
            </a:r>
            <a:endParaRPr lang="en-US" sz="1200" dirty="0"/>
          </a:p>
        </p:txBody>
      </p:sp>
      <p:sp>
        <p:nvSpPr>
          <p:cNvPr id="33" name="Text 31"/>
          <p:cNvSpPr/>
          <p:nvPr/>
        </p:nvSpPr>
        <p:spPr>
          <a:xfrm>
            <a:off x="9570720" y="3891280"/>
            <a:ext cx="1676400" cy="5130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2202F"/>
                </a:solidFill>
                <a:latin typeface="IBM Plex Sans" pitchFamily="34" charset="0"/>
                <a:ea typeface="IBM Plex Sans" pitchFamily="34" charset="-122"/>
                <a:cs typeface="IBM Plex Sans" pitchFamily="34" charset="-120"/>
              </a:rPr>
              <a:t>Educational value</a:t>
            </a:r>
            <a:endParaRPr lang="en-US" sz="1600" dirty="0"/>
          </a:p>
        </p:txBody>
      </p:sp>
      <p:sp>
        <p:nvSpPr>
          <p:cNvPr id="34" name="Text 32"/>
          <p:cNvSpPr/>
          <p:nvPr/>
        </p:nvSpPr>
        <p:spPr>
          <a:xfrm>
            <a:off x="812800" y="6238239"/>
            <a:ext cx="78486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786"/>
                </a:solidFill>
                <a:latin typeface="IBM Plex Sans" pitchFamily="34" charset="0"/>
                <a:ea typeface="IBM Plex Sans" pitchFamily="34" charset="-122"/>
                <a:cs typeface="IBM Plex Sans" pitchFamily="34" charset="-120"/>
              </a:rPr>
              <a:t>AI-Based Adaptive Interview Preparation System</a:t>
            </a:r>
            <a:endParaRPr lang="en-US" sz="1200" dirty="0"/>
          </a:p>
        </p:txBody>
      </p:sp>
      <p:sp>
        <p:nvSpPr>
          <p:cNvPr id="35" name="Text 33"/>
          <p:cNvSpPr/>
          <p:nvPr/>
        </p:nvSpPr>
        <p:spPr>
          <a:xfrm>
            <a:off x="10058400" y="6238239"/>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A7786"/>
                </a:solidFill>
                <a:latin typeface="IBM Plex Sans" pitchFamily="34" charset="0"/>
                <a:ea typeface="IBM Plex Sans" pitchFamily="34" charset="-122"/>
                <a:cs typeface="IBM Plex Sans" pitchFamily="34" charset="-120"/>
              </a:rPr>
              <a:t>04</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E1A2B"/>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3CC8E0"/>
                </a:solidFill>
                <a:latin typeface="JetBrains Mono" pitchFamily="49" charset="0"/>
                <a:ea typeface="JetBrains Mono" pitchFamily="49" charset="-122"/>
                <a:cs typeface="JetBrains Mono" pitchFamily="49" charset="-120"/>
              </a:rPr>
              <a:t>IMPLEMENTATION</a:t>
            </a:r>
            <a:endParaRPr lang="en-US" sz="1200" dirty="0"/>
          </a:p>
        </p:txBody>
      </p:sp>
      <p:sp>
        <p:nvSpPr>
          <p:cNvPr id="3" name="Text 1"/>
          <p:cNvSpPr/>
          <p:nvPr>
            <p:ph type="title"/>
          </p:nvPr>
        </p:nvSpPr>
        <p:spPr>
          <a:xfrm>
            <a:off x="812800" y="1127761"/>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F3F5F7"/>
                </a:solidFill>
                <a:latin typeface="IBM Plex Sans" pitchFamily="34" charset="0"/>
                <a:ea typeface="IBM Plex Sans" pitchFamily="34" charset="-122"/>
                <a:cs typeface="IBM Plex Sans" pitchFamily="34" charset="-120"/>
              </a:rPr>
              <a:t>System architecture</a:t>
            </a:r>
            <a:endParaRPr lang="en-US" sz="3200" dirty="0"/>
          </a:p>
        </p:txBody>
      </p:sp>
      <p:sp>
        <p:nvSpPr>
          <p:cNvPr id="4" name="Shape 2"/>
          <p:cNvSpPr/>
          <p:nvPr/>
        </p:nvSpPr>
        <p:spPr>
          <a:xfrm>
            <a:off x="815975" y="1831975"/>
            <a:ext cx="10560050" cy="585470"/>
          </a:xfrm>
          <a:prstGeom prst="roundRect">
            <a:avLst>
              <a:gd name="adj" fmla="val 16811"/>
            </a:avLst>
          </a:prstGeom>
          <a:solidFill>
            <a:srgbClr val="16273D"/>
          </a:solidFill>
          <a:ln w="6350">
            <a:solidFill>
              <a:srgbClr val="26405E"/>
            </a:solidFill>
            <a:prstDash val="solid"/>
          </a:ln>
        </p:spPr>
      </p:sp>
      <p:sp>
        <p:nvSpPr>
          <p:cNvPr id="5" name="Text 3"/>
          <p:cNvSpPr/>
          <p:nvPr/>
        </p:nvSpPr>
        <p:spPr>
          <a:xfrm>
            <a:off x="1046480" y="2000250"/>
            <a:ext cx="406400"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5B041"/>
                </a:solidFill>
                <a:latin typeface="JetBrains Mono" pitchFamily="49" charset="0"/>
                <a:ea typeface="JetBrains Mono" pitchFamily="49" charset="-122"/>
                <a:cs typeface="JetBrains Mono" pitchFamily="49" charset="-120"/>
              </a:rPr>
              <a:t>01</a:t>
            </a:r>
            <a:endParaRPr lang="en-US" sz="1400" dirty="0"/>
          </a:p>
        </p:txBody>
      </p:sp>
      <p:sp>
        <p:nvSpPr>
          <p:cNvPr id="6" name="Text 4"/>
          <p:cNvSpPr/>
          <p:nvPr/>
        </p:nvSpPr>
        <p:spPr>
          <a:xfrm>
            <a:off x="1605280" y="1973582"/>
            <a:ext cx="3662680" cy="327660"/>
          </a:xfrm>
          <a:prstGeom prst="rect">
            <a:avLst/>
          </a:prstGeom>
          <a:noFill/>
          <a:ln/>
        </p:spPr>
        <p:txBody>
          <a:bodyPr wrap="square" lIns="0" tIns="0" rIns="0" bIns="0" rtlCol="0" anchor="t">
            <a:normAutofit/>
          </a:bodyPr>
          <a:lstStyle/>
          <a:p>
            <a:pPr algn="l" indent="0" marL="0">
              <a:lnSpc>
                <a:spcPts val="2380"/>
              </a:lnSpc>
              <a:buNone/>
            </a:pPr>
            <a:r>
              <a:rPr lang="en-US" sz="1700" b="1" dirty="0">
                <a:solidFill>
                  <a:srgbClr val="F3F5F7"/>
                </a:solidFill>
                <a:latin typeface="IBM Plex Sans" pitchFamily="34" charset="0"/>
                <a:ea typeface="IBM Plex Sans" pitchFamily="34" charset="-122"/>
                <a:cs typeface="IBM Plex Sans" pitchFamily="34" charset="-120"/>
              </a:rPr>
              <a:t>Candidate interface</a:t>
            </a:r>
            <a:endParaRPr lang="en-US" sz="1700" dirty="0"/>
          </a:p>
        </p:txBody>
      </p:sp>
      <p:sp>
        <p:nvSpPr>
          <p:cNvPr id="7" name="Text 5"/>
          <p:cNvSpPr/>
          <p:nvPr/>
        </p:nvSpPr>
        <p:spPr>
          <a:xfrm>
            <a:off x="5364480" y="2000250"/>
            <a:ext cx="5755640"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A9BDD3"/>
                </a:solidFill>
                <a:latin typeface="IBM Plex Sans" pitchFamily="34" charset="0"/>
                <a:ea typeface="IBM Plex Sans" pitchFamily="34" charset="-122"/>
                <a:cs typeface="IBM Plex Sans" pitchFamily="34" charset="-120"/>
              </a:rPr>
              <a:t>Tkinter: topic, difficulty, number of questions, answers</a:t>
            </a:r>
            <a:endParaRPr lang="en-US" sz="1400" dirty="0"/>
          </a:p>
        </p:txBody>
      </p:sp>
      <p:sp>
        <p:nvSpPr>
          <p:cNvPr id="8" name="Shape 6"/>
          <p:cNvSpPr/>
          <p:nvPr/>
        </p:nvSpPr>
        <p:spPr>
          <a:xfrm>
            <a:off x="815975" y="2525396"/>
            <a:ext cx="10560050" cy="585470"/>
          </a:xfrm>
          <a:prstGeom prst="roundRect">
            <a:avLst>
              <a:gd name="adj" fmla="val 16811"/>
            </a:avLst>
          </a:prstGeom>
          <a:solidFill>
            <a:srgbClr val="16273D"/>
          </a:solidFill>
          <a:ln w="6350">
            <a:solidFill>
              <a:srgbClr val="26405E"/>
            </a:solidFill>
            <a:prstDash val="solid"/>
          </a:ln>
        </p:spPr>
      </p:sp>
      <p:sp>
        <p:nvSpPr>
          <p:cNvPr id="9" name="Text 7"/>
          <p:cNvSpPr/>
          <p:nvPr/>
        </p:nvSpPr>
        <p:spPr>
          <a:xfrm>
            <a:off x="1046480" y="2693671"/>
            <a:ext cx="406400"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5B041"/>
                </a:solidFill>
                <a:latin typeface="JetBrains Mono" pitchFamily="49" charset="0"/>
                <a:ea typeface="JetBrains Mono" pitchFamily="49" charset="-122"/>
                <a:cs typeface="JetBrains Mono" pitchFamily="49" charset="-120"/>
              </a:rPr>
              <a:t>02</a:t>
            </a:r>
            <a:endParaRPr lang="en-US" sz="1400" dirty="0"/>
          </a:p>
        </p:txBody>
      </p:sp>
      <p:sp>
        <p:nvSpPr>
          <p:cNvPr id="10" name="Text 8"/>
          <p:cNvSpPr/>
          <p:nvPr/>
        </p:nvSpPr>
        <p:spPr>
          <a:xfrm>
            <a:off x="1605280" y="2667000"/>
            <a:ext cx="3662680" cy="327660"/>
          </a:xfrm>
          <a:prstGeom prst="rect">
            <a:avLst/>
          </a:prstGeom>
          <a:noFill/>
          <a:ln/>
        </p:spPr>
        <p:txBody>
          <a:bodyPr wrap="square" lIns="0" tIns="0" rIns="0" bIns="0" rtlCol="0" anchor="t">
            <a:normAutofit/>
          </a:bodyPr>
          <a:lstStyle/>
          <a:p>
            <a:pPr algn="l" indent="0" marL="0">
              <a:lnSpc>
                <a:spcPts val="2380"/>
              </a:lnSpc>
              <a:buNone/>
            </a:pPr>
            <a:r>
              <a:rPr lang="en-US" sz="1700" b="1" dirty="0">
                <a:solidFill>
                  <a:srgbClr val="F3F5F7"/>
                </a:solidFill>
                <a:latin typeface="IBM Plex Sans" pitchFamily="34" charset="0"/>
                <a:ea typeface="IBM Plex Sans" pitchFamily="34" charset="-122"/>
                <a:cs typeface="IBM Plex Sans" pitchFamily="34" charset="-120"/>
              </a:rPr>
              <a:t>Question generator</a:t>
            </a:r>
            <a:endParaRPr lang="en-US" sz="1700" dirty="0"/>
          </a:p>
        </p:txBody>
      </p:sp>
      <p:sp>
        <p:nvSpPr>
          <p:cNvPr id="11" name="Text 9"/>
          <p:cNvSpPr/>
          <p:nvPr/>
        </p:nvSpPr>
        <p:spPr>
          <a:xfrm>
            <a:off x="5364480" y="2693671"/>
            <a:ext cx="5755640"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A9BDD3"/>
                </a:solidFill>
                <a:latin typeface="IBM Plex Sans" pitchFamily="34" charset="0"/>
                <a:ea typeface="IBM Plex Sans" pitchFamily="34" charset="-122"/>
                <a:cs typeface="IBM Plex Sans" pitchFamily="34" charset="-120"/>
              </a:rPr>
              <a:t>Google Gemini REST API, with an offline fallback generator</a:t>
            </a:r>
            <a:endParaRPr lang="en-US" sz="1400" dirty="0"/>
          </a:p>
        </p:txBody>
      </p:sp>
      <p:sp>
        <p:nvSpPr>
          <p:cNvPr id="12" name="Shape 10"/>
          <p:cNvSpPr/>
          <p:nvPr/>
        </p:nvSpPr>
        <p:spPr>
          <a:xfrm>
            <a:off x="815975" y="3218814"/>
            <a:ext cx="10560050" cy="585470"/>
          </a:xfrm>
          <a:prstGeom prst="roundRect">
            <a:avLst>
              <a:gd name="adj" fmla="val 16811"/>
            </a:avLst>
          </a:prstGeom>
          <a:solidFill>
            <a:srgbClr val="16273D"/>
          </a:solidFill>
          <a:ln w="6350">
            <a:solidFill>
              <a:srgbClr val="26405E"/>
            </a:solidFill>
            <a:prstDash val="solid"/>
          </a:ln>
        </p:spPr>
      </p:sp>
      <p:sp>
        <p:nvSpPr>
          <p:cNvPr id="13" name="Text 11"/>
          <p:cNvSpPr/>
          <p:nvPr/>
        </p:nvSpPr>
        <p:spPr>
          <a:xfrm>
            <a:off x="1046480" y="3387089"/>
            <a:ext cx="406400"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5B041"/>
                </a:solidFill>
                <a:latin typeface="JetBrains Mono" pitchFamily="49" charset="0"/>
                <a:ea typeface="JetBrains Mono" pitchFamily="49" charset="-122"/>
                <a:cs typeface="JetBrains Mono" pitchFamily="49" charset="-120"/>
              </a:rPr>
              <a:t>03</a:t>
            </a:r>
            <a:endParaRPr lang="en-US" sz="1400" dirty="0"/>
          </a:p>
        </p:txBody>
      </p:sp>
      <p:sp>
        <p:nvSpPr>
          <p:cNvPr id="14" name="Text 12"/>
          <p:cNvSpPr/>
          <p:nvPr/>
        </p:nvSpPr>
        <p:spPr>
          <a:xfrm>
            <a:off x="1605280" y="3360421"/>
            <a:ext cx="3662680" cy="327660"/>
          </a:xfrm>
          <a:prstGeom prst="rect">
            <a:avLst/>
          </a:prstGeom>
          <a:noFill/>
          <a:ln/>
        </p:spPr>
        <p:txBody>
          <a:bodyPr wrap="square" lIns="0" tIns="0" rIns="0" bIns="0" rtlCol="0" anchor="t">
            <a:normAutofit/>
          </a:bodyPr>
          <a:lstStyle/>
          <a:p>
            <a:pPr algn="l" indent="0" marL="0">
              <a:lnSpc>
                <a:spcPts val="2380"/>
              </a:lnSpc>
              <a:buNone/>
            </a:pPr>
            <a:r>
              <a:rPr lang="en-US" sz="1700" b="1" dirty="0">
                <a:solidFill>
                  <a:srgbClr val="F3F5F7"/>
                </a:solidFill>
                <a:latin typeface="IBM Plex Sans" pitchFamily="34" charset="0"/>
                <a:ea typeface="IBM Plex Sans" pitchFamily="34" charset="-122"/>
                <a:cs typeface="IBM Plex Sans" pitchFamily="34" charset="-120"/>
              </a:rPr>
              <a:t>Search and reasoning engine</a:t>
            </a:r>
            <a:endParaRPr lang="en-US" sz="1700" dirty="0"/>
          </a:p>
        </p:txBody>
      </p:sp>
      <p:sp>
        <p:nvSpPr>
          <p:cNvPr id="15" name="Text 13"/>
          <p:cNvSpPr/>
          <p:nvPr/>
        </p:nvSpPr>
        <p:spPr>
          <a:xfrm>
            <a:off x="5364480" y="3387089"/>
            <a:ext cx="5755640"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A9BDD3"/>
                </a:solidFill>
                <a:latin typeface="IBM Plex Sans" pitchFamily="34" charset="0"/>
                <a:ea typeface="IBM Plex Sans" pitchFamily="34" charset="-122"/>
                <a:cs typeface="IBM Plex Sans" pitchFamily="34" charset="-120"/>
              </a:rPr>
              <a:t>CSP filtering, then uninformed, informed and local search</a:t>
            </a:r>
            <a:endParaRPr lang="en-US" sz="1400" dirty="0"/>
          </a:p>
        </p:txBody>
      </p:sp>
      <p:sp>
        <p:nvSpPr>
          <p:cNvPr id="16" name="Shape 14"/>
          <p:cNvSpPr/>
          <p:nvPr/>
        </p:nvSpPr>
        <p:spPr>
          <a:xfrm>
            <a:off x="815975" y="3912236"/>
            <a:ext cx="10560050" cy="585470"/>
          </a:xfrm>
          <a:prstGeom prst="roundRect">
            <a:avLst>
              <a:gd name="adj" fmla="val 16811"/>
            </a:avLst>
          </a:prstGeom>
          <a:solidFill>
            <a:srgbClr val="16273D"/>
          </a:solidFill>
          <a:ln w="6350">
            <a:solidFill>
              <a:srgbClr val="26405E"/>
            </a:solidFill>
            <a:prstDash val="solid"/>
          </a:ln>
        </p:spPr>
      </p:sp>
      <p:sp>
        <p:nvSpPr>
          <p:cNvPr id="17" name="Text 15"/>
          <p:cNvSpPr/>
          <p:nvPr/>
        </p:nvSpPr>
        <p:spPr>
          <a:xfrm>
            <a:off x="1046480" y="4080511"/>
            <a:ext cx="406400"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5B041"/>
                </a:solidFill>
                <a:latin typeface="JetBrains Mono" pitchFamily="49" charset="0"/>
                <a:ea typeface="JetBrains Mono" pitchFamily="49" charset="-122"/>
                <a:cs typeface="JetBrains Mono" pitchFamily="49" charset="-120"/>
              </a:rPr>
              <a:t>04</a:t>
            </a:r>
            <a:endParaRPr lang="en-US" sz="1400" dirty="0"/>
          </a:p>
        </p:txBody>
      </p:sp>
      <p:sp>
        <p:nvSpPr>
          <p:cNvPr id="18" name="Text 16"/>
          <p:cNvSpPr/>
          <p:nvPr/>
        </p:nvSpPr>
        <p:spPr>
          <a:xfrm>
            <a:off x="1605280" y="4053839"/>
            <a:ext cx="3662680" cy="327660"/>
          </a:xfrm>
          <a:prstGeom prst="rect">
            <a:avLst/>
          </a:prstGeom>
          <a:noFill/>
          <a:ln/>
        </p:spPr>
        <p:txBody>
          <a:bodyPr wrap="square" lIns="0" tIns="0" rIns="0" bIns="0" rtlCol="0" anchor="t">
            <a:normAutofit/>
          </a:bodyPr>
          <a:lstStyle/>
          <a:p>
            <a:pPr algn="l" indent="0" marL="0">
              <a:lnSpc>
                <a:spcPts val="2380"/>
              </a:lnSpc>
              <a:buNone/>
            </a:pPr>
            <a:r>
              <a:rPr lang="en-US" sz="1700" b="1" dirty="0">
                <a:solidFill>
                  <a:srgbClr val="F3F5F7"/>
                </a:solidFill>
                <a:latin typeface="IBM Plex Sans" pitchFamily="34" charset="0"/>
                <a:ea typeface="IBM Plex Sans" pitchFamily="34" charset="-122"/>
                <a:cs typeface="IBM Plex Sans" pitchFamily="34" charset="-120"/>
              </a:rPr>
              <a:t>Evaluation module</a:t>
            </a:r>
            <a:endParaRPr lang="en-US" sz="1700" dirty="0"/>
          </a:p>
        </p:txBody>
      </p:sp>
      <p:sp>
        <p:nvSpPr>
          <p:cNvPr id="19" name="Text 17"/>
          <p:cNvSpPr/>
          <p:nvPr/>
        </p:nvSpPr>
        <p:spPr>
          <a:xfrm>
            <a:off x="5364480" y="4080511"/>
            <a:ext cx="5755640"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A9BDD3"/>
                </a:solidFill>
                <a:latin typeface="IBM Plex Sans" pitchFamily="34" charset="0"/>
                <a:ea typeface="IBM Plex Sans" pitchFamily="34" charset="-122"/>
                <a:cs typeface="IBM Plex Sans" pitchFamily="34" charset="-120"/>
              </a:rPr>
              <a:t>Keyword scoring, weakness profile, propositional inference</a:t>
            </a:r>
            <a:endParaRPr lang="en-US" sz="1400" dirty="0"/>
          </a:p>
        </p:txBody>
      </p:sp>
      <p:sp>
        <p:nvSpPr>
          <p:cNvPr id="20" name="Shape 18"/>
          <p:cNvSpPr/>
          <p:nvPr/>
        </p:nvSpPr>
        <p:spPr>
          <a:xfrm>
            <a:off x="815975" y="4605657"/>
            <a:ext cx="10560050" cy="585470"/>
          </a:xfrm>
          <a:prstGeom prst="roundRect">
            <a:avLst>
              <a:gd name="adj" fmla="val 16811"/>
            </a:avLst>
          </a:prstGeom>
          <a:solidFill>
            <a:srgbClr val="16273D"/>
          </a:solidFill>
          <a:ln w="6350">
            <a:solidFill>
              <a:srgbClr val="26405E"/>
            </a:solidFill>
            <a:prstDash val="solid"/>
          </a:ln>
        </p:spPr>
      </p:sp>
      <p:sp>
        <p:nvSpPr>
          <p:cNvPr id="21" name="Text 19"/>
          <p:cNvSpPr/>
          <p:nvPr/>
        </p:nvSpPr>
        <p:spPr>
          <a:xfrm>
            <a:off x="1046480" y="4773932"/>
            <a:ext cx="406400"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5B041"/>
                </a:solidFill>
                <a:latin typeface="JetBrains Mono" pitchFamily="49" charset="0"/>
                <a:ea typeface="JetBrains Mono" pitchFamily="49" charset="-122"/>
                <a:cs typeface="JetBrains Mono" pitchFamily="49" charset="-120"/>
              </a:rPr>
              <a:t>05</a:t>
            </a:r>
            <a:endParaRPr lang="en-US" sz="1400" dirty="0"/>
          </a:p>
        </p:txBody>
      </p:sp>
      <p:sp>
        <p:nvSpPr>
          <p:cNvPr id="22" name="Text 20"/>
          <p:cNvSpPr/>
          <p:nvPr/>
        </p:nvSpPr>
        <p:spPr>
          <a:xfrm>
            <a:off x="1605280" y="4747261"/>
            <a:ext cx="3662680" cy="327660"/>
          </a:xfrm>
          <a:prstGeom prst="rect">
            <a:avLst/>
          </a:prstGeom>
          <a:noFill/>
          <a:ln/>
        </p:spPr>
        <p:txBody>
          <a:bodyPr wrap="square" lIns="0" tIns="0" rIns="0" bIns="0" rtlCol="0" anchor="t">
            <a:normAutofit/>
          </a:bodyPr>
          <a:lstStyle/>
          <a:p>
            <a:pPr algn="l" indent="0" marL="0">
              <a:lnSpc>
                <a:spcPts val="2380"/>
              </a:lnSpc>
              <a:buNone/>
            </a:pPr>
            <a:r>
              <a:rPr lang="en-US" sz="1700" b="1" dirty="0">
                <a:solidFill>
                  <a:srgbClr val="F3F5F7"/>
                </a:solidFill>
                <a:latin typeface="IBM Plex Sans" pitchFamily="34" charset="0"/>
                <a:ea typeface="IBM Plex Sans" pitchFamily="34" charset="-122"/>
                <a:cs typeface="IBM Plex Sans" pitchFamily="34" charset="-120"/>
              </a:rPr>
              <a:t>Feedback and final report</a:t>
            </a:r>
            <a:endParaRPr lang="en-US" sz="1700" dirty="0"/>
          </a:p>
        </p:txBody>
      </p:sp>
      <p:sp>
        <p:nvSpPr>
          <p:cNvPr id="23" name="Text 21"/>
          <p:cNvSpPr/>
          <p:nvPr/>
        </p:nvSpPr>
        <p:spPr>
          <a:xfrm>
            <a:off x="5364480" y="4773932"/>
            <a:ext cx="5755640"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A9BDD3"/>
                </a:solidFill>
                <a:latin typeface="IBM Plex Sans" pitchFamily="34" charset="0"/>
                <a:ea typeface="IBM Plex Sans" pitchFamily="34" charset="-122"/>
                <a:cs typeface="IBM Plex Sans" pitchFamily="34" charset="-120"/>
              </a:rPr>
              <a:t>Score, mastery, revision areas, algorithm trace</a:t>
            </a:r>
            <a:endParaRPr lang="en-US" sz="1400" dirty="0"/>
          </a:p>
        </p:txBody>
      </p:sp>
      <p:sp>
        <p:nvSpPr>
          <p:cNvPr id="24" name="Text 22"/>
          <p:cNvSpPr/>
          <p:nvPr/>
        </p:nvSpPr>
        <p:spPr>
          <a:xfrm>
            <a:off x="812800" y="6238239"/>
            <a:ext cx="78486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F96AF"/>
                </a:solidFill>
                <a:latin typeface="IBM Plex Sans" pitchFamily="34" charset="0"/>
                <a:ea typeface="IBM Plex Sans" pitchFamily="34" charset="-122"/>
                <a:cs typeface="IBM Plex Sans" pitchFamily="34" charset="-120"/>
              </a:rPr>
              <a:t>AI-Based Adaptive Interview Preparation System</a:t>
            </a:r>
            <a:endParaRPr lang="en-US" sz="1200" dirty="0"/>
          </a:p>
        </p:txBody>
      </p:sp>
      <p:sp>
        <p:nvSpPr>
          <p:cNvPr id="25" name="Text 23"/>
          <p:cNvSpPr/>
          <p:nvPr/>
        </p:nvSpPr>
        <p:spPr>
          <a:xfrm>
            <a:off x="10058400" y="6238239"/>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7F96AF"/>
                </a:solidFill>
                <a:latin typeface="IBM Plex Sans" pitchFamily="34" charset="0"/>
                <a:ea typeface="IBM Plex Sans" pitchFamily="34" charset="-122"/>
                <a:cs typeface="IBM Plex Sans" pitchFamily="34" charset="-120"/>
              </a:rPr>
              <a:t>05</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3F5F7"/>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0B7285"/>
                </a:solidFill>
                <a:latin typeface="JetBrains Mono" pitchFamily="49" charset="0"/>
                <a:ea typeface="JetBrains Mono" pitchFamily="49" charset="-122"/>
                <a:cs typeface="JetBrains Mono" pitchFamily="49" charset="-120"/>
              </a:rPr>
              <a:t>IMPLEMENTATION</a:t>
            </a:r>
            <a:endParaRPr lang="en-US" sz="1200" dirty="0"/>
          </a:p>
        </p:txBody>
      </p:sp>
      <p:sp>
        <p:nvSpPr>
          <p:cNvPr id="3" name="Text 1"/>
          <p:cNvSpPr/>
          <p:nvPr>
            <p:ph type="title"/>
          </p:nvPr>
        </p:nvSpPr>
        <p:spPr>
          <a:xfrm>
            <a:off x="812800" y="1127761"/>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2202F"/>
                </a:solidFill>
                <a:latin typeface="IBM Plex Sans" pitchFamily="34" charset="0"/>
                <a:ea typeface="IBM Plex Sans" pitchFamily="34" charset="-122"/>
                <a:cs typeface="IBM Plex Sans" pitchFamily="34" charset="-120"/>
              </a:rPr>
              <a:t>Technologies used</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2960" y="1889760"/>
          <a:ext cx="10556240" cy="2871470"/>
        </p:xfrm>
        <a:graphic>
          <a:graphicData uri="http://schemas.openxmlformats.org/drawingml/2006/table">
            <a:tbl>
              <a:tblPr/>
              <a:tblGrid>
                <a:gridCol w="2955747"/>
                <a:gridCol w="7600493"/>
              </a:tblGrid>
              <a:tr h="410210">
                <a:tc>
                  <a:txBody>
                    <a:bodyPr/>
                    <a:lstStyle/>
                    <a:p>
                      <a:pPr indent="0" marL="0">
                        <a:lnSpc>
                          <a:spcPts val="2100"/>
                        </a:lnSpc>
                        <a:buNone/>
                      </a:pPr>
                      <a:r>
                        <a:rPr lang="en-US" sz="1500" b="1" dirty="0">
                          <a:solidFill>
                            <a:srgbClr val="F3F5F7"/>
                          </a:solidFill>
                          <a:latin typeface="IBM Plex Sans" pitchFamily="34" charset="0"/>
                          <a:ea typeface="IBM Plex Sans" pitchFamily="34" charset="-122"/>
                          <a:cs typeface="IBM Plex Sans" pitchFamily="34" charset="-120"/>
                        </a:rPr>
                        <a:t>Technology</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2C4C5"/>
                      </a:solidFill>
                      <a:prstDash val="solid"/>
                      <a:round/>
                      <a:headEnd type="none" w="med" len="med"/>
                      <a:tailEnd type="none" w="med" len="med"/>
                    </a:lnL>
                    <a:lnR w="12700" cap="flat" cmpd="sng" algn="ctr">
                      <a:solidFill>
                        <a:srgbClr val="121D29"/>
                      </a:solidFill>
                      <a:prstDash val="solid"/>
                      <a:round/>
                      <a:headEnd type="none" w="med" len="med"/>
                      <a:tailEnd type="none" w="med" len="med"/>
                    </a:lnR>
                    <a:lnT w="12700" cap="flat" cmpd="sng" algn="ctr">
                      <a:solidFill>
                        <a:srgbClr val="C2C4C5"/>
                      </a:solidFill>
                      <a:prstDash val="solid"/>
                      <a:round/>
                      <a:headEnd type="none" w="med" len="med"/>
                      <a:tailEnd type="none" w="med" len="med"/>
                    </a:lnT>
                    <a:lnB w="12700" cap="flat" cmpd="sng" algn="ctr">
                      <a:solidFill>
                        <a:srgbClr val="121D29"/>
                      </a:solidFill>
                      <a:prstDash val="solid"/>
                      <a:round/>
                      <a:headEnd type="none" w="med" len="med"/>
                      <a:tailEnd type="none" w="med" len="med"/>
                    </a:lnB>
                    <a:solidFill>
                      <a:srgbClr val="12202F"/>
                    </a:solidFill>
                  </a:tcPr>
                </a:tc>
                <a:tc>
                  <a:txBody>
                    <a:bodyPr/>
                    <a:lstStyle/>
                    <a:p>
                      <a:pPr indent="0" marL="0">
                        <a:lnSpc>
                          <a:spcPts val="2100"/>
                        </a:lnSpc>
                        <a:buNone/>
                      </a:pPr>
                      <a:r>
                        <a:rPr lang="en-US" sz="1500" b="1" dirty="0">
                          <a:solidFill>
                            <a:srgbClr val="F3F5F7"/>
                          </a:solidFill>
                          <a:latin typeface="IBM Plex Sans" pitchFamily="34" charset="0"/>
                          <a:ea typeface="IBM Plex Sans" pitchFamily="34" charset="-122"/>
                          <a:cs typeface="IBM Plex Sans" pitchFamily="34" charset="-120"/>
                        </a:rPr>
                        <a:t>Role in the project</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121D29"/>
                      </a:solidFill>
                      <a:prstDash val="solid"/>
                      <a:round/>
                      <a:headEnd type="none" w="med" len="med"/>
                      <a:tailEnd type="none" w="med" len="med"/>
                    </a:lnL>
                    <a:lnR w="12700" cap="flat" cmpd="sng" algn="ctr">
                      <a:solidFill>
                        <a:srgbClr val="121D29"/>
                      </a:solidFill>
                      <a:prstDash val="solid"/>
                      <a:round/>
                      <a:headEnd type="none" w="med" len="med"/>
                      <a:tailEnd type="none" w="med" len="med"/>
                    </a:lnR>
                    <a:lnT w="12700" cap="flat" cmpd="sng" algn="ctr">
                      <a:solidFill>
                        <a:srgbClr val="C2C4C5"/>
                      </a:solidFill>
                      <a:prstDash val="solid"/>
                      <a:round/>
                      <a:headEnd type="none" w="med" len="med"/>
                      <a:tailEnd type="none" w="med" len="med"/>
                    </a:lnT>
                    <a:lnB w="12700" cap="flat" cmpd="sng" algn="ctr">
                      <a:solidFill>
                        <a:srgbClr val="121D29"/>
                      </a:solidFill>
                      <a:prstDash val="solid"/>
                      <a:round/>
                      <a:headEnd type="none" w="med" len="med"/>
                      <a:tailEnd type="none" w="med" len="med"/>
                    </a:lnB>
                    <a:solidFill>
                      <a:srgbClr val="12202F"/>
                    </a:solidFill>
                  </a:tcPr>
                </a:tc>
              </a:tr>
              <a:tr h="410210">
                <a:tc>
                  <a:txBody>
                    <a:bodyPr/>
                    <a:lstStyle/>
                    <a:p>
                      <a:pPr indent="0" marL="0">
                        <a:lnSpc>
                          <a:spcPts val="2100"/>
                        </a:lnSpc>
                        <a:buNone/>
                      </a:pPr>
                      <a:r>
                        <a:rPr lang="en-US" sz="1500" dirty="0">
                          <a:solidFill>
                            <a:srgbClr val="12202F"/>
                          </a:solidFill>
                          <a:latin typeface="IBM Plex Sans" pitchFamily="34" charset="0"/>
                          <a:ea typeface="IBM Plex Sans" pitchFamily="34" charset="-122"/>
                          <a:cs typeface="IBM Plex Sans" pitchFamily="34" charset="-120"/>
                        </a:rPr>
                        <a:t>Python</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2C4C5"/>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D29"/>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2100"/>
                        </a:lnSpc>
                        <a:buNone/>
                      </a:pPr>
                      <a:r>
                        <a:rPr lang="en-US" sz="1500" dirty="0">
                          <a:solidFill>
                            <a:srgbClr val="12202F"/>
                          </a:solidFill>
                          <a:latin typeface="IBM Plex Sans" pitchFamily="34" charset="0"/>
                          <a:ea typeface="IBM Plex Sans" pitchFamily="34" charset="-122"/>
                          <a:cs typeface="IBM Plex Sans" pitchFamily="34" charset="-120"/>
                        </a:rPr>
                        <a:t>Search, CSP and logic algorithms; evaluation</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D29"/>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r>
              <a:tr h="410210">
                <a:tc>
                  <a:txBody>
                    <a:bodyPr/>
                    <a:lstStyle/>
                    <a:p>
                      <a:pPr indent="0" marL="0">
                        <a:lnSpc>
                          <a:spcPts val="2100"/>
                        </a:lnSpc>
                        <a:buNone/>
                      </a:pPr>
                      <a:r>
                        <a:rPr lang="en-US" sz="1500" dirty="0">
                          <a:solidFill>
                            <a:srgbClr val="12202F"/>
                          </a:solidFill>
                          <a:latin typeface="IBM Plex Sans" pitchFamily="34" charset="0"/>
                          <a:ea typeface="IBM Plex Sans" pitchFamily="34" charset="-122"/>
                          <a:cs typeface="IBM Plex Sans" pitchFamily="34" charset="-120"/>
                        </a:rPr>
                        <a:t>Tkinter</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2C4C5"/>
                      </a:solidFill>
                      <a:prstDash val="solid"/>
                      <a:round/>
                      <a:headEnd type="none" w="med" len="med"/>
                      <a:tailEnd type="none" w="med" len="med"/>
                    </a:lnL>
                    <a:lnR w="12700" cap="flat" cmpd="sng" algn="ctr">
                      <a:solidFill>
                        <a:srgbClr val="B9BDC0"/>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9BDC0"/>
                      </a:solidFill>
                      <a:prstDash val="solid"/>
                      <a:round/>
                      <a:headEnd type="none" w="med" len="med"/>
                      <a:tailEnd type="none" w="med" len="med"/>
                    </a:lnB>
                    <a:solidFill>
                      <a:srgbClr val="E8EDF1"/>
                    </a:solidFill>
                  </a:tcPr>
                </a:tc>
                <a:tc>
                  <a:txBody>
                    <a:bodyPr/>
                    <a:lstStyle/>
                    <a:p>
                      <a:pPr indent="0" marL="0">
                        <a:lnSpc>
                          <a:spcPts val="2100"/>
                        </a:lnSpc>
                        <a:buNone/>
                      </a:pPr>
                      <a:r>
                        <a:rPr lang="en-US" sz="1500" dirty="0">
                          <a:solidFill>
                            <a:srgbClr val="12202F"/>
                          </a:solidFill>
                          <a:latin typeface="IBM Plex Sans" pitchFamily="34" charset="0"/>
                          <a:ea typeface="IBM Plex Sans" pitchFamily="34" charset="-122"/>
                          <a:cs typeface="IBM Plex Sans" pitchFamily="34" charset="-120"/>
                        </a:rPr>
                        <a:t>Dark-themed GUI with cards and a scrollable report</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B9BDC0"/>
                      </a:solidFill>
                      <a:prstDash val="solid"/>
                      <a:round/>
                      <a:headEnd type="none" w="med" len="med"/>
                      <a:tailEnd type="none" w="med" len="med"/>
                    </a:lnL>
                    <a:lnR w="12700" cap="flat" cmpd="sng" algn="ctr">
                      <a:solidFill>
                        <a:srgbClr val="B9BDC0"/>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9BDC0"/>
                      </a:solidFill>
                      <a:prstDash val="solid"/>
                      <a:round/>
                      <a:headEnd type="none" w="med" len="med"/>
                      <a:tailEnd type="none" w="med" len="med"/>
                    </a:lnB>
                    <a:solidFill>
                      <a:srgbClr val="E8EDF1"/>
                    </a:solidFill>
                  </a:tcPr>
                </a:tc>
              </a:tr>
              <a:tr h="410210">
                <a:tc>
                  <a:txBody>
                    <a:bodyPr/>
                    <a:lstStyle/>
                    <a:p>
                      <a:pPr indent="0" marL="0">
                        <a:lnSpc>
                          <a:spcPts val="2100"/>
                        </a:lnSpc>
                        <a:buNone/>
                      </a:pPr>
                      <a:r>
                        <a:rPr lang="en-US" sz="1500" dirty="0">
                          <a:solidFill>
                            <a:srgbClr val="12202F"/>
                          </a:solidFill>
                          <a:latin typeface="IBM Plex Sans" pitchFamily="34" charset="0"/>
                          <a:ea typeface="IBM Plex Sans" pitchFamily="34" charset="-122"/>
                          <a:cs typeface="IBM Plex Sans" pitchFamily="34" charset="-120"/>
                        </a:rPr>
                        <a:t>Gemini REST API</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2C4C5"/>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9BDC0"/>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2100"/>
                        </a:lnSpc>
                        <a:buNone/>
                      </a:pPr>
                      <a:r>
                        <a:rPr lang="en-US" sz="1500" dirty="0">
                          <a:solidFill>
                            <a:srgbClr val="12202F"/>
                          </a:solidFill>
                          <a:latin typeface="IBM Plex Sans" pitchFamily="34" charset="0"/>
                          <a:ea typeface="IBM Plex Sans" pitchFamily="34" charset="-122"/>
                          <a:cs typeface="IBM Plex Sans" pitchFamily="34" charset="-120"/>
                        </a:rPr>
                        <a:t>Topic-specific question bank via urllib.request</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9BDC0"/>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r>
              <a:tr h="410210">
                <a:tc>
                  <a:txBody>
                    <a:bodyPr/>
                    <a:lstStyle/>
                    <a:p>
                      <a:pPr indent="0" marL="0">
                        <a:lnSpc>
                          <a:spcPts val="2100"/>
                        </a:lnSpc>
                        <a:buNone/>
                      </a:pPr>
                      <a:r>
                        <a:rPr lang="en-US" sz="1500" dirty="0">
                          <a:solidFill>
                            <a:srgbClr val="12202F"/>
                          </a:solidFill>
                          <a:latin typeface="IBM Plex Sans" pitchFamily="34" charset="0"/>
                          <a:ea typeface="IBM Plex Sans" pitchFamily="34" charset="-122"/>
                          <a:cs typeface="IBM Plex Sans" pitchFamily="34" charset="-120"/>
                        </a:rPr>
                        <a:t>Search</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2C4C5"/>
                      </a:solidFill>
                      <a:prstDash val="solid"/>
                      <a:round/>
                      <a:headEnd type="none" w="med" len="med"/>
                      <a:tailEnd type="none" w="med" len="med"/>
                    </a:lnL>
                    <a:lnR w="12700" cap="flat" cmpd="sng" algn="ctr">
                      <a:solidFill>
                        <a:srgbClr val="B9BDC0"/>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9BDC0"/>
                      </a:solidFill>
                      <a:prstDash val="solid"/>
                      <a:round/>
                      <a:headEnd type="none" w="med" len="med"/>
                      <a:tailEnd type="none" w="med" len="med"/>
                    </a:lnB>
                    <a:solidFill>
                      <a:srgbClr val="E8EDF1"/>
                    </a:solidFill>
                  </a:tcPr>
                </a:tc>
                <a:tc>
                  <a:txBody>
                    <a:bodyPr/>
                    <a:lstStyle/>
                    <a:p>
                      <a:pPr indent="0" marL="0">
                        <a:lnSpc>
                          <a:spcPts val="2100"/>
                        </a:lnSpc>
                        <a:buNone/>
                      </a:pPr>
                      <a:r>
                        <a:rPr lang="en-US" sz="1500" dirty="0">
                          <a:solidFill>
                            <a:srgbClr val="12202F"/>
                          </a:solidFill>
                          <a:latin typeface="IBM Plex Sans" pitchFamily="34" charset="0"/>
                          <a:ea typeface="IBM Plex Sans" pitchFamily="34" charset="-122"/>
                          <a:cs typeface="IBM Plex Sans" pitchFamily="34" charset="-120"/>
                        </a:rPr>
                        <a:t>BFS, DFS, UCS, IDS, Bidirectional, Greedy, A*, Hill Climbing, Simulated Annealing</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B9BDC0"/>
                      </a:solidFill>
                      <a:prstDash val="solid"/>
                      <a:round/>
                      <a:headEnd type="none" w="med" len="med"/>
                      <a:tailEnd type="none" w="med" len="med"/>
                    </a:lnL>
                    <a:lnR w="12700" cap="flat" cmpd="sng" algn="ctr">
                      <a:solidFill>
                        <a:srgbClr val="B9BDC0"/>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9BDC0"/>
                      </a:solidFill>
                      <a:prstDash val="solid"/>
                      <a:round/>
                      <a:headEnd type="none" w="med" len="med"/>
                      <a:tailEnd type="none" w="med" len="med"/>
                    </a:lnB>
                    <a:solidFill>
                      <a:srgbClr val="E8EDF1"/>
                    </a:solidFill>
                  </a:tcPr>
                </a:tc>
              </a:tr>
              <a:tr h="410210">
                <a:tc>
                  <a:txBody>
                    <a:bodyPr/>
                    <a:lstStyle/>
                    <a:p>
                      <a:pPr indent="0" marL="0">
                        <a:lnSpc>
                          <a:spcPts val="2100"/>
                        </a:lnSpc>
                        <a:buNone/>
                      </a:pPr>
                      <a:r>
                        <a:rPr lang="en-US" sz="1500" dirty="0">
                          <a:solidFill>
                            <a:srgbClr val="12202F"/>
                          </a:solidFill>
                          <a:latin typeface="IBM Plex Sans" pitchFamily="34" charset="0"/>
                          <a:ea typeface="IBM Plex Sans" pitchFamily="34" charset="-122"/>
                          <a:cs typeface="IBM Plex Sans" pitchFamily="34" charset="-120"/>
                        </a:rPr>
                        <a:t>CSP</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2C4C5"/>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9BDC0"/>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2100"/>
                        </a:lnSpc>
                        <a:buNone/>
                      </a:pPr>
                      <a:r>
                        <a:rPr lang="en-US" sz="1500" dirty="0">
                          <a:solidFill>
                            <a:srgbClr val="12202F"/>
                          </a:solidFill>
                          <a:latin typeface="IBM Plex Sans" pitchFamily="34" charset="0"/>
                          <a:ea typeface="IBM Plex Sans" pitchFamily="34" charset="-122"/>
                          <a:cs typeface="IBM Plex Sans" pitchFamily="34" charset="-120"/>
                        </a:rPr>
                        <a:t>Domain filtering, relaxation and backtracking</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9BDC0"/>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r>
              <a:tr h="410210">
                <a:tc>
                  <a:txBody>
                    <a:bodyPr/>
                    <a:lstStyle/>
                    <a:p>
                      <a:pPr indent="0" marL="0">
                        <a:lnSpc>
                          <a:spcPts val="2100"/>
                        </a:lnSpc>
                        <a:buNone/>
                      </a:pPr>
                      <a:r>
                        <a:rPr lang="en-US" sz="1500" dirty="0">
                          <a:solidFill>
                            <a:srgbClr val="12202F"/>
                          </a:solidFill>
                          <a:latin typeface="IBM Plex Sans" pitchFamily="34" charset="0"/>
                          <a:ea typeface="IBM Plex Sans" pitchFamily="34" charset="-122"/>
                          <a:cs typeface="IBM Plex Sans" pitchFamily="34" charset="-120"/>
                        </a:rPr>
                        <a:t>Logic</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2C4C5"/>
                      </a:solidFill>
                      <a:prstDash val="solid"/>
                      <a:round/>
                      <a:headEnd type="none" w="med" len="med"/>
                      <a:tailEnd type="none" w="med" len="med"/>
                    </a:lnL>
                    <a:lnR w="12700" cap="flat" cmpd="sng" algn="ctr">
                      <a:solidFill>
                        <a:srgbClr val="B9BDC0"/>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9BDC0"/>
                      </a:solidFill>
                      <a:prstDash val="solid"/>
                      <a:round/>
                      <a:headEnd type="none" w="med" len="med"/>
                      <a:tailEnd type="none" w="med" len="med"/>
                    </a:lnB>
                    <a:solidFill>
                      <a:srgbClr val="E8EDF1"/>
                    </a:solidFill>
                  </a:tcPr>
                </a:tc>
                <a:tc>
                  <a:txBody>
                    <a:bodyPr/>
                    <a:lstStyle/>
                    <a:p>
                      <a:pPr indent="0" marL="0">
                        <a:lnSpc>
                          <a:spcPts val="2100"/>
                        </a:lnSpc>
                        <a:buNone/>
                      </a:pPr>
                      <a:r>
                        <a:rPr lang="en-US" sz="1500" dirty="0">
                          <a:solidFill>
                            <a:srgbClr val="12202F"/>
                          </a:solidFill>
                          <a:latin typeface="IBM Plex Sans" pitchFamily="34" charset="0"/>
                          <a:ea typeface="IBM Plex Sans" pitchFamily="34" charset="-122"/>
                          <a:cs typeface="IBM Plex Sans" pitchFamily="34" charset="-120"/>
                        </a:rPr>
                        <a:t>Propositional and first-order inference, unification, resolution</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B9BDC0"/>
                      </a:solidFill>
                      <a:prstDash val="solid"/>
                      <a:round/>
                      <a:headEnd type="none" w="med" len="med"/>
                      <a:tailEnd type="none" w="med" len="med"/>
                    </a:lnL>
                    <a:lnR w="12700" cap="flat" cmpd="sng" algn="ctr">
                      <a:solidFill>
                        <a:srgbClr val="B9BDC0"/>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9BDC0"/>
                      </a:solidFill>
                      <a:prstDash val="solid"/>
                      <a:round/>
                      <a:headEnd type="none" w="med" len="med"/>
                      <a:tailEnd type="none" w="med" len="med"/>
                    </a:lnB>
                    <a:solidFill>
                      <a:srgbClr val="E8EDF1"/>
                    </a:solidFill>
                  </a:tcPr>
                </a:tc>
              </a:tr>
            </a:tbl>
          </a:graphicData>
        </a:graphic>
      </p:graphicFrame>
      <p:sp>
        <p:nvSpPr>
          <p:cNvPr id="5" name="Text 2"/>
          <p:cNvSpPr/>
          <p:nvPr/>
        </p:nvSpPr>
        <p:spPr>
          <a:xfrm>
            <a:off x="812800" y="6238239"/>
            <a:ext cx="78486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786"/>
                </a:solidFill>
                <a:latin typeface="IBM Plex Sans" pitchFamily="34" charset="0"/>
                <a:ea typeface="IBM Plex Sans" pitchFamily="34" charset="-122"/>
                <a:cs typeface="IBM Plex Sans" pitchFamily="34" charset="-120"/>
              </a:rPr>
              <a:t>AI-Based Adaptive Interview Preparation System</a:t>
            </a:r>
            <a:endParaRPr lang="en-US" sz="1200" dirty="0"/>
          </a:p>
        </p:txBody>
      </p:sp>
      <p:sp>
        <p:nvSpPr>
          <p:cNvPr id="6" name="Text 3"/>
          <p:cNvSpPr/>
          <p:nvPr/>
        </p:nvSpPr>
        <p:spPr>
          <a:xfrm>
            <a:off x="10058400" y="6238239"/>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A7786"/>
                </a:solidFill>
                <a:latin typeface="IBM Plex Sans" pitchFamily="34" charset="0"/>
                <a:ea typeface="IBM Plex Sans" pitchFamily="34" charset="-122"/>
                <a:cs typeface="IBM Plex Sans" pitchFamily="34" charset="-120"/>
              </a:rPr>
              <a:t>06</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3F5F7"/>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0B7285"/>
                </a:solidFill>
                <a:latin typeface="JetBrains Mono" pitchFamily="49" charset="0"/>
                <a:ea typeface="JetBrains Mono" pitchFamily="49" charset="-122"/>
                <a:cs typeface="JetBrains Mono" pitchFamily="49" charset="-120"/>
              </a:rPr>
              <a:t>CONSTRAINT SATISFACTION</a:t>
            </a:r>
            <a:endParaRPr lang="en-US" sz="1200" dirty="0"/>
          </a:p>
        </p:txBody>
      </p:sp>
      <p:sp>
        <p:nvSpPr>
          <p:cNvPr id="3" name="Text 1"/>
          <p:cNvSpPr/>
          <p:nvPr>
            <p:ph type="title"/>
          </p:nvPr>
        </p:nvSpPr>
        <p:spPr>
          <a:xfrm>
            <a:off x="812800" y="1127761"/>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2202F"/>
                </a:solidFill>
                <a:latin typeface="IBM Plex Sans" pitchFamily="34" charset="0"/>
                <a:ea typeface="IBM Plex Sans" pitchFamily="34" charset="-122"/>
                <a:cs typeface="IBM Plex Sans" pitchFamily="34" charset="-120"/>
              </a:rPr>
              <a:t>Choosing which questions are eligible</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2960" y="1889760"/>
          <a:ext cx="5577840" cy="2415540"/>
        </p:xfrm>
        <a:graphic>
          <a:graphicData uri="http://schemas.openxmlformats.org/drawingml/2006/table">
            <a:tbl>
              <a:tblPr/>
              <a:tblGrid>
                <a:gridCol w="1784909"/>
                <a:gridCol w="3792931"/>
              </a:tblGrid>
              <a:tr h="383540">
                <a:tc>
                  <a:txBody>
                    <a:bodyPr/>
                    <a:lstStyle/>
                    <a:p>
                      <a:pPr indent="0" marL="0">
                        <a:lnSpc>
                          <a:spcPts val="1960"/>
                        </a:lnSpc>
                        <a:buNone/>
                      </a:pPr>
                      <a:r>
                        <a:rPr lang="en-US" sz="1400" b="1" dirty="0">
                          <a:solidFill>
                            <a:srgbClr val="F3F5F7"/>
                          </a:solidFill>
                          <a:latin typeface="IBM Plex Sans" pitchFamily="34" charset="0"/>
                          <a:ea typeface="IBM Plex Sans" pitchFamily="34" charset="-122"/>
                          <a:cs typeface="IBM Plex Sans" pitchFamily="34" charset="-120"/>
                        </a:rPr>
                        <a:t>Element</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2C4C5"/>
                      </a:solidFill>
                      <a:prstDash val="solid"/>
                      <a:round/>
                      <a:headEnd type="none" w="med" len="med"/>
                      <a:tailEnd type="none" w="med" len="med"/>
                    </a:lnL>
                    <a:lnR w="12700" cap="flat" cmpd="sng" algn="ctr">
                      <a:solidFill>
                        <a:srgbClr val="121D29"/>
                      </a:solidFill>
                      <a:prstDash val="solid"/>
                      <a:round/>
                      <a:headEnd type="none" w="med" len="med"/>
                      <a:tailEnd type="none" w="med" len="med"/>
                    </a:lnR>
                    <a:lnT w="12700" cap="flat" cmpd="sng" algn="ctr">
                      <a:solidFill>
                        <a:srgbClr val="C2C4C5"/>
                      </a:solidFill>
                      <a:prstDash val="solid"/>
                      <a:round/>
                      <a:headEnd type="none" w="med" len="med"/>
                      <a:tailEnd type="none" w="med" len="med"/>
                    </a:lnT>
                    <a:lnB w="12700" cap="flat" cmpd="sng" algn="ctr">
                      <a:solidFill>
                        <a:srgbClr val="121D29"/>
                      </a:solidFill>
                      <a:prstDash val="solid"/>
                      <a:round/>
                      <a:headEnd type="none" w="med" len="med"/>
                      <a:tailEnd type="none" w="med" len="med"/>
                    </a:lnB>
                    <a:solidFill>
                      <a:srgbClr val="12202F"/>
                    </a:solidFill>
                  </a:tcPr>
                </a:tc>
                <a:tc>
                  <a:txBody>
                    <a:bodyPr/>
                    <a:lstStyle/>
                    <a:p>
                      <a:pPr indent="0" marL="0">
                        <a:lnSpc>
                          <a:spcPts val="1960"/>
                        </a:lnSpc>
                        <a:buNone/>
                      </a:pPr>
                      <a:r>
                        <a:rPr lang="en-US" sz="1400" b="1" dirty="0">
                          <a:solidFill>
                            <a:srgbClr val="F3F5F7"/>
                          </a:solidFill>
                          <a:latin typeface="IBM Plex Sans" pitchFamily="34" charset="0"/>
                          <a:ea typeface="IBM Plex Sans" pitchFamily="34" charset="-122"/>
                          <a:cs typeface="IBM Plex Sans" pitchFamily="34" charset="-120"/>
                        </a:rPr>
                        <a:t>In this project</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121D29"/>
                      </a:solidFill>
                      <a:prstDash val="solid"/>
                      <a:round/>
                      <a:headEnd type="none" w="med" len="med"/>
                      <a:tailEnd type="none" w="med" len="med"/>
                    </a:lnL>
                    <a:lnR w="12700" cap="flat" cmpd="sng" algn="ctr">
                      <a:solidFill>
                        <a:srgbClr val="121D29"/>
                      </a:solidFill>
                      <a:prstDash val="solid"/>
                      <a:round/>
                      <a:headEnd type="none" w="med" len="med"/>
                      <a:tailEnd type="none" w="med" len="med"/>
                    </a:lnR>
                    <a:lnT w="12700" cap="flat" cmpd="sng" algn="ctr">
                      <a:solidFill>
                        <a:srgbClr val="C2C4C5"/>
                      </a:solidFill>
                      <a:prstDash val="solid"/>
                      <a:round/>
                      <a:headEnd type="none" w="med" len="med"/>
                      <a:tailEnd type="none" w="med" len="med"/>
                    </a:lnT>
                    <a:lnB w="12700" cap="flat" cmpd="sng" algn="ctr">
                      <a:solidFill>
                        <a:srgbClr val="121D29"/>
                      </a:solidFill>
                      <a:prstDash val="solid"/>
                      <a:round/>
                      <a:headEnd type="none" w="med" len="med"/>
                      <a:tailEnd type="none" w="med" len="med"/>
                    </a:lnB>
                    <a:solidFill>
                      <a:srgbClr val="12202F"/>
                    </a:solidFill>
                  </a:tcPr>
                </a:tc>
              </a:tr>
              <a:tr h="383540">
                <a:tc>
                  <a:txBody>
                    <a:bodyPr/>
                    <a:lstStyle/>
                    <a:p>
                      <a:pPr indent="0" marL="0">
                        <a:lnSpc>
                          <a:spcPts val="1960"/>
                        </a:lnSpc>
                        <a:buNone/>
                      </a:pPr>
                      <a:r>
                        <a:rPr lang="en-US" sz="1400" dirty="0">
                          <a:solidFill>
                            <a:srgbClr val="12202F"/>
                          </a:solidFill>
                          <a:latin typeface="IBM Plex Sans" pitchFamily="34" charset="0"/>
                          <a:ea typeface="IBM Plex Sans" pitchFamily="34" charset="-122"/>
                          <a:cs typeface="IBM Plex Sans" pitchFamily="34" charset="-120"/>
                        </a:rPr>
                        <a:t>Variable</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2C4C5"/>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D29"/>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960"/>
                        </a:lnSpc>
                        <a:buNone/>
                      </a:pPr>
                      <a:r>
                        <a:rPr lang="en-US" sz="1400" dirty="0">
                          <a:solidFill>
                            <a:srgbClr val="12202F"/>
                          </a:solidFill>
                          <a:latin typeface="IBM Plex Sans" pitchFamily="34" charset="0"/>
                          <a:ea typeface="IBM Plex Sans" pitchFamily="34" charset="-122"/>
                          <a:cs typeface="IBM Plex Sans" pitchFamily="34" charset="-120"/>
                        </a:rPr>
                        <a:t>The next question to ask</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D29"/>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r>
              <a:tr h="383540">
                <a:tc>
                  <a:txBody>
                    <a:bodyPr/>
                    <a:lstStyle/>
                    <a:p>
                      <a:pPr indent="0" marL="0">
                        <a:lnSpc>
                          <a:spcPts val="1960"/>
                        </a:lnSpc>
                        <a:buNone/>
                      </a:pPr>
                      <a:r>
                        <a:rPr lang="en-US" sz="1400" dirty="0">
                          <a:solidFill>
                            <a:srgbClr val="12202F"/>
                          </a:solidFill>
                          <a:latin typeface="IBM Plex Sans" pitchFamily="34" charset="0"/>
                          <a:ea typeface="IBM Plex Sans" pitchFamily="34" charset="-122"/>
                          <a:cs typeface="IBM Plex Sans" pitchFamily="34" charset="-120"/>
                        </a:rPr>
                        <a:t>Domain</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2C4C5"/>
                      </a:solidFill>
                      <a:prstDash val="solid"/>
                      <a:round/>
                      <a:headEnd type="none" w="med" len="med"/>
                      <a:tailEnd type="none" w="med" len="med"/>
                    </a:lnL>
                    <a:lnR w="12700" cap="flat" cmpd="sng" algn="ctr">
                      <a:solidFill>
                        <a:srgbClr val="B9BDC0"/>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9BDC0"/>
                      </a:solidFill>
                      <a:prstDash val="solid"/>
                      <a:round/>
                      <a:headEnd type="none" w="med" len="med"/>
                      <a:tailEnd type="none" w="med" len="med"/>
                    </a:lnB>
                    <a:solidFill>
                      <a:srgbClr val="E8EDF1"/>
                    </a:solidFill>
                  </a:tcPr>
                </a:tc>
                <a:tc>
                  <a:txBody>
                    <a:bodyPr/>
                    <a:lstStyle/>
                    <a:p>
                      <a:pPr indent="0" marL="0">
                        <a:lnSpc>
                          <a:spcPts val="1960"/>
                        </a:lnSpc>
                        <a:buNone/>
                      </a:pPr>
                      <a:r>
                        <a:rPr lang="en-US" sz="1400" dirty="0">
                          <a:solidFill>
                            <a:srgbClr val="12202F"/>
                          </a:solidFill>
                          <a:latin typeface="IBM Plex Sans" pitchFamily="34" charset="0"/>
                          <a:ea typeface="IBM Plex Sans" pitchFamily="34" charset="-122"/>
                          <a:cs typeface="IBM Plex Sans" pitchFamily="34" charset="-120"/>
                        </a:rPr>
                        <a:t>Unasked questions generated for the topic</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9BDC0"/>
                      </a:solidFill>
                      <a:prstDash val="solid"/>
                      <a:round/>
                      <a:headEnd type="none" w="med" len="med"/>
                      <a:tailEnd type="none" w="med" len="med"/>
                    </a:lnL>
                    <a:lnR w="12700" cap="flat" cmpd="sng" algn="ctr">
                      <a:solidFill>
                        <a:srgbClr val="B9BDC0"/>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9BDC0"/>
                      </a:solidFill>
                      <a:prstDash val="solid"/>
                      <a:round/>
                      <a:headEnd type="none" w="med" len="med"/>
                      <a:tailEnd type="none" w="med" len="med"/>
                    </a:lnB>
                    <a:solidFill>
                      <a:srgbClr val="E8EDF1"/>
                    </a:solidFill>
                  </a:tcPr>
                </a:tc>
              </a:tr>
              <a:tr h="632460">
                <a:tc>
                  <a:txBody>
                    <a:bodyPr/>
                    <a:lstStyle/>
                    <a:p>
                      <a:pPr indent="0" marL="0">
                        <a:lnSpc>
                          <a:spcPts val="1960"/>
                        </a:lnSpc>
                        <a:buNone/>
                      </a:pPr>
                      <a:r>
                        <a:rPr lang="en-US" sz="1400" dirty="0">
                          <a:solidFill>
                            <a:srgbClr val="12202F"/>
                          </a:solidFill>
                          <a:latin typeface="IBM Plex Sans" pitchFamily="34" charset="0"/>
                          <a:ea typeface="IBM Plex Sans" pitchFamily="34" charset="-122"/>
                          <a:cs typeface="IBM Plex Sans" pitchFamily="34" charset="-120"/>
                        </a:rPr>
                        <a:t>Constraints</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2C4C5"/>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9BDC0"/>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960"/>
                        </a:lnSpc>
                        <a:buNone/>
                      </a:pPr>
                      <a:r>
                        <a:rPr lang="en-US" sz="1400" dirty="0">
                          <a:solidFill>
                            <a:srgbClr val="12202F"/>
                          </a:solidFill>
                          <a:latin typeface="IBM Plex Sans" pitchFamily="34" charset="0"/>
                          <a:ea typeface="IBM Plex Sans" pitchFamily="34" charset="-122"/>
                          <a:cs typeface="IBM Plex Sans" pitchFamily="34" charset="-120"/>
                        </a:rPr>
                        <a:t>Not asked, within allowed difficulty, relaxed if the domain is empty</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9BDC0"/>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r>
              <a:tr h="632460">
                <a:tc>
                  <a:txBody>
                    <a:bodyPr/>
                    <a:lstStyle/>
                    <a:p>
                      <a:pPr indent="0" marL="0">
                        <a:lnSpc>
                          <a:spcPts val="1960"/>
                        </a:lnSpc>
                        <a:buNone/>
                      </a:pPr>
                      <a:r>
                        <a:rPr lang="en-US" sz="1400" dirty="0">
                          <a:solidFill>
                            <a:srgbClr val="12202F"/>
                          </a:solidFill>
                          <a:latin typeface="IBM Plex Sans" pitchFamily="34" charset="0"/>
                          <a:ea typeface="IBM Plex Sans" pitchFamily="34" charset="-122"/>
                          <a:cs typeface="IBM Plex Sans" pitchFamily="34" charset="-120"/>
                        </a:rPr>
                        <a:t>Solution</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2C4C5"/>
                      </a:solidFill>
                      <a:prstDash val="solid"/>
                      <a:round/>
                      <a:headEnd type="none" w="med" len="med"/>
                      <a:tailEnd type="none" w="med" len="med"/>
                    </a:lnL>
                    <a:lnR w="12700" cap="flat" cmpd="sng" algn="ctr">
                      <a:solidFill>
                        <a:srgbClr val="B9BDC0"/>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9BDC0"/>
                      </a:solidFill>
                      <a:prstDash val="solid"/>
                      <a:round/>
                      <a:headEnd type="none" w="med" len="med"/>
                      <a:tailEnd type="none" w="med" len="med"/>
                    </a:lnB>
                    <a:solidFill>
                      <a:srgbClr val="E8EDF1"/>
                    </a:solidFill>
                  </a:tcPr>
                </a:tc>
                <a:tc>
                  <a:txBody>
                    <a:bodyPr/>
                    <a:lstStyle/>
                    <a:p>
                      <a:pPr indent="0" marL="0">
                        <a:lnSpc>
                          <a:spcPts val="1960"/>
                        </a:lnSpc>
                        <a:buNone/>
                      </a:pPr>
                      <a:r>
                        <a:rPr lang="en-US" sz="1400" dirty="0">
                          <a:solidFill>
                            <a:srgbClr val="12202F"/>
                          </a:solidFill>
                          <a:latin typeface="IBM Plex Sans" pitchFamily="34" charset="0"/>
                          <a:ea typeface="IBM Plex Sans" pitchFamily="34" charset="-122"/>
                          <a:cs typeface="IBM Plex Sans" pitchFamily="34" charset="-120"/>
                        </a:rPr>
                        <a:t>One valid question chosen by a search strategy</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9BDC0"/>
                      </a:solidFill>
                      <a:prstDash val="solid"/>
                      <a:round/>
                      <a:headEnd type="none" w="med" len="med"/>
                      <a:tailEnd type="none" w="med" len="med"/>
                    </a:lnL>
                    <a:lnR w="12700" cap="flat" cmpd="sng" algn="ctr">
                      <a:solidFill>
                        <a:srgbClr val="B9BDC0"/>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9BDC0"/>
                      </a:solidFill>
                      <a:prstDash val="solid"/>
                      <a:round/>
                      <a:headEnd type="none" w="med" len="med"/>
                      <a:tailEnd type="none" w="med" len="med"/>
                    </a:lnB>
                    <a:solidFill>
                      <a:srgbClr val="E8EDF1"/>
                    </a:solidFill>
                  </a:tcPr>
                </a:tc>
              </a:tr>
            </a:tbl>
          </a:graphicData>
        </a:graphic>
      </p:graphicFrame>
      <p:sp>
        <p:nvSpPr>
          <p:cNvPr id="5" name="Shape 2"/>
          <p:cNvSpPr/>
          <p:nvPr/>
        </p:nvSpPr>
        <p:spPr>
          <a:xfrm>
            <a:off x="6604000" y="1879600"/>
            <a:ext cx="4775200" cy="1484630"/>
          </a:xfrm>
          <a:prstGeom prst="roundRect">
            <a:avLst>
              <a:gd name="adj" fmla="val 8554"/>
            </a:avLst>
          </a:prstGeom>
          <a:solidFill>
            <a:srgbClr val="12202F"/>
          </a:solidFill>
          <a:ln/>
        </p:spPr>
      </p:sp>
      <p:sp>
        <p:nvSpPr>
          <p:cNvPr id="6" name="Text 3"/>
          <p:cNvSpPr/>
          <p:nvPr/>
        </p:nvSpPr>
        <p:spPr>
          <a:xfrm>
            <a:off x="6807200" y="2082800"/>
            <a:ext cx="4499864" cy="28448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F3F5F7"/>
                </a:solidFill>
                <a:latin typeface="IBM Plex Sans" pitchFamily="34" charset="0"/>
                <a:ea typeface="IBM Plex Sans" pitchFamily="34" charset="-122"/>
                <a:cs typeface="IBM Plex Sans" pitchFamily="34" charset="-120"/>
              </a:rPr>
              <a:t>Hard constraints</a:t>
            </a:r>
            <a:endParaRPr lang="en-US" sz="1700" dirty="0"/>
          </a:p>
        </p:txBody>
      </p:sp>
      <p:sp>
        <p:nvSpPr>
          <p:cNvPr id="7" name="Text 4"/>
          <p:cNvSpPr/>
          <p:nvPr/>
        </p:nvSpPr>
        <p:spPr>
          <a:xfrm>
            <a:off x="6892544" y="2418082"/>
            <a:ext cx="4406900" cy="768350"/>
          </a:xfrm>
          <a:prstGeom prst="rect">
            <a:avLst/>
          </a:prstGeom>
          <a:noFill/>
          <a:ln/>
        </p:spPr>
        <p:txBody>
          <a:bodyPr wrap="square" lIns="0" tIns="0" rIns="0" bIns="0" rtlCol="0" anchor="t">
            <a:normAutofit/>
          </a:bodyPr>
          <a:lstStyle/>
          <a:p>
            <a:pPr algn="l" marL="168656" indent="-168656">
              <a:lnSpc>
                <a:spcPts val="1950"/>
              </a:lnSpc>
              <a:buSzPct val="100000"/>
              <a:buChar char="•"/>
            </a:pPr>
            <a:r>
              <a:rPr lang="en-US" sz="1300" dirty="0">
                <a:solidFill>
                  <a:srgbClr val="C9D6E3"/>
                </a:solidFill>
                <a:latin typeface="IBM Plex Sans" pitchFamily="34" charset="0"/>
                <a:ea typeface="IBM Plex Sans" pitchFamily="34" charset="-122"/>
                <a:cs typeface="IBM Plex Sans" pitchFamily="34" charset="-120"/>
              </a:rPr>
              <a:t>Question not already asked</a:t>
            </a:r>
            <a:endParaRPr lang="en-US" sz="1300" dirty="0"/>
          </a:p>
          <a:p>
            <a:pPr algn="l" marL="168656" indent="-168656">
              <a:lnSpc>
                <a:spcPts val="1950"/>
              </a:lnSpc>
              <a:buSzPct val="100000"/>
              <a:buChar char="•"/>
            </a:pPr>
            <a:r>
              <a:rPr lang="en-US" sz="1300" dirty="0">
                <a:solidFill>
                  <a:srgbClr val="C9D6E3"/>
                </a:solidFill>
                <a:latin typeface="IBM Plex Sans" pitchFamily="34" charset="0"/>
                <a:ea typeface="IBM Plex Sans" pitchFamily="34" charset="-122"/>
                <a:cs typeface="IBM Plex Sans" pitchFamily="34" charset="-120"/>
              </a:rPr>
              <a:t>Difficulty within allowed level</a:t>
            </a:r>
            <a:endParaRPr lang="en-US" sz="1300" dirty="0"/>
          </a:p>
          <a:p>
            <a:pPr algn="l" marL="168656" indent="-168656">
              <a:lnSpc>
                <a:spcPts val="1950"/>
              </a:lnSpc>
              <a:buSzPct val="100000"/>
              <a:buChar char="•"/>
            </a:pPr>
            <a:r>
              <a:rPr lang="en-US" sz="1300" dirty="0">
                <a:solidFill>
                  <a:srgbClr val="C9D6E3"/>
                </a:solidFill>
                <a:latin typeface="IBM Plex Sans" pitchFamily="34" charset="0"/>
                <a:ea typeface="IBM Plex Sans" pitchFamily="34" charset="-122"/>
                <a:cs typeface="IBM Plex Sans" pitchFamily="34" charset="-120"/>
              </a:rPr>
              <a:t>Relaxed if no question fits</a:t>
            </a:r>
            <a:endParaRPr lang="en-US" sz="1300" dirty="0"/>
          </a:p>
        </p:txBody>
      </p:sp>
      <p:sp>
        <p:nvSpPr>
          <p:cNvPr id="8" name="Shape 5"/>
          <p:cNvSpPr/>
          <p:nvPr/>
        </p:nvSpPr>
        <p:spPr>
          <a:xfrm>
            <a:off x="6607175" y="3519807"/>
            <a:ext cx="4768850" cy="1488440"/>
          </a:xfrm>
          <a:prstGeom prst="roundRect">
            <a:avLst>
              <a:gd name="adj" fmla="val 8319"/>
            </a:avLst>
          </a:prstGeom>
          <a:solidFill>
            <a:srgbClr val="FFFFFF"/>
          </a:solidFill>
          <a:ln w="6350">
            <a:solidFill>
              <a:srgbClr val="D5DCE3"/>
            </a:solidFill>
            <a:prstDash val="solid"/>
          </a:ln>
        </p:spPr>
      </p:sp>
      <p:sp>
        <p:nvSpPr>
          <p:cNvPr id="9" name="Text 6"/>
          <p:cNvSpPr/>
          <p:nvPr/>
        </p:nvSpPr>
        <p:spPr>
          <a:xfrm>
            <a:off x="6812280" y="3724911"/>
            <a:ext cx="4489399" cy="28448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2202F"/>
                </a:solidFill>
                <a:latin typeface="IBM Plex Sans" pitchFamily="34" charset="0"/>
                <a:ea typeface="IBM Plex Sans" pitchFamily="34" charset="-122"/>
                <a:cs typeface="IBM Plex Sans" pitchFamily="34" charset="-120"/>
              </a:rPr>
              <a:t>Soft constraints</a:t>
            </a:r>
            <a:endParaRPr lang="en-US" sz="1700" dirty="0"/>
          </a:p>
        </p:txBody>
      </p:sp>
      <p:sp>
        <p:nvSpPr>
          <p:cNvPr id="10" name="Text 7"/>
          <p:cNvSpPr/>
          <p:nvPr/>
        </p:nvSpPr>
        <p:spPr>
          <a:xfrm>
            <a:off x="6897624" y="4060189"/>
            <a:ext cx="4396435" cy="768350"/>
          </a:xfrm>
          <a:prstGeom prst="rect">
            <a:avLst/>
          </a:prstGeom>
          <a:noFill/>
          <a:ln/>
        </p:spPr>
        <p:txBody>
          <a:bodyPr wrap="square" lIns="0" tIns="0" rIns="0" bIns="0" rtlCol="0" anchor="t">
            <a:normAutofit/>
          </a:bodyPr>
          <a:lstStyle/>
          <a:p>
            <a:pPr algn="l" marL="168656" indent="-168656">
              <a:lnSpc>
                <a:spcPts val="1950"/>
              </a:lnSpc>
              <a:buSzPct val="100000"/>
              <a:buChar char="•"/>
            </a:pPr>
            <a:r>
              <a:rPr lang="en-US" sz="1300" dirty="0">
                <a:solidFill>
                  <a:srgbClr val="4B5A6B"/>
                </a:solidFill>
                <a:latin typeface="IBM Plex Sans" pitchFamily="34" charset="0"/>
                <a:ea typeface="IBM Plex Sans" pitchFamily="34" charset="-122"/>
                <a:cs typeface="IBM Plex Sans" pitchFamily="34" charset="-120"/>
              </a:rPr>
              <a:t>Prefer weak skills</a:t>
            </a:r>
            <a:endParaRPr lang="en-US" sz="1300" dirty="0"/>
          </a:p>
          <a:p>
            <a:pPr algn="l" marL="168656" indent="-168656">
              <a:lnSpc>
                <a:spcPts val="1950"/>
              </a:lnSpc>
              <a:buSzPct val="100000"/>
              <a:buChar char="•"/>
            </a:pPr>
            <a:r>
              <a:rPr lang="en-US" sz="1300" dirty="0">
                <a:solidFill>
                  <a:srgbClr val="4B5A6B"/>
                </a:solidFill>
                <a:latin typeface="IBM Plex Sans" pitchFamily="34" charset="0"/>
                <a:ea typeface="IBM Plex Sans" pitchFamily="34" charset="-122"/>
                <a:cs typeface="IBM Plex Sans" pitchFamily="34" charset="-120"/>
              </a:rPr>
              <a:t>Prefer difficulty near the target</a:t>
            </a:r>
            <a:endParaRPr lang="en-US" sz="1300" dirty="0"/>
          </a:p>
          <a:p>
            <a:pPr algn="l" marL="168656" indent="-168656">
              <a:lnSpc>
                <a:spcPts val="1950"/>
              </a:lnSpc>
              <a:buSzPct val="100000"/>
              <a:buChar char="•"/>
            </a:pPr>
            <a:r>
              <a:rPr lang="en-US" sz="1300" dirty="0">
                <a:solidFill>
                  <a:srgbClr val="4B5A6B"/>
                </a:solidFill>
                <a:latin typeface="IBM Plex Sans" pitchFamily="34" charset="0"/>
                <a:ea typeface="IBM Plex Sans" pitchFamily="34" charset="-122"/>
                <a:cs typeface="IBM Plex Sans" pitchFamily="34" charset="-120"/>
              </a:rPr>
              <a:t>Rotate search strategies</a:t>
            </a:r>
            <a:endParaRPr lang="en-US" sz="1300" dirty="0"/>
          </a:p>
        </p:txBody>
      </p:sp>
      <p:sp>
        <p:nvSpPr>
          <p:cNvPr id="11" name="Text 8"/>
          <p:cNvSpPr/>
          <p:nvPr/>
        </p:nvSpPr>
        <p:spPr>
          <a:xfrm>
            <a:off x="812800" y="6238239"/>
            <a:ext cx="78486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786"/>
                </a:solidFill>
                <a:latin typeface="IBM Plex Sans" pitchFamily="34" charset="0"/>
                <a:ea typeface="IBM Plex Sans" pitchFamily="34" charset="-122"/>
                <a:cs typeface="IBM Plex Sans" pitchFamily="34" charset="-120"/>
              </a:rPr>
              <a:t>AI-Based Adaptive Interview Preparation System</a:t>
            </a:r>
            <a:endParaRPr lang="en-US" sz="1200" dirty="0"/>
          </a:p>
        </p:txBody>
      </p:sp>
      <p:sp>
        <p:nvSpPr>
          <p:cNvPr id="12" name="Text 9"/>
          <p:cNvSpPr/>
          <p:nvPr/>
        </p:nvSpPr>
        <p:spPr>
          <a:xfrm>
            <a:off x="10058400" y="6238239"/>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A7786"/>
                </a:solidFill>
                <a:latin typeface="IBM Plex Sans" pitchFamily="34" charset="0"/>
                <a:ea typeface="IBM Plex Sans" pitchFamily="34" charset="-122"/>
                <a:cs typeface="IBM Plex Sans" pitchFamily="34" charset="-120"/>
              </a:rPr>
              <a:t>07</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E1A2B"/>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3CC8E0"/>
                </a:solidFill>
                <a:latin typeface="JetBrains Mono" pitchFamily="49" charset="0"/>
                <a:ea typeface="JetBrains Mono" pitchFamily="49" charset="-122"/>
                <a:cs typeface="JetBrains Mono" pitchFamily="49" charset="-120"/>
              </a:rPr>
              <a:t>SEARCH STRATEGIES</a:t>
            </a:r>
            <a:endParaRPr lang="en-US" sz="1200" dirty="0"/>
          </a:p>
        </p:txBody>
      </p:sp>
      <p:sp>
        <p:nvSpPr>
          <p:cNvPr id="3" name="Text 1"/>
          <p:cNvSpPr/>
          <p:nvPr>
            <p:ph type="title"/>
          </p:nvPr>
        </p:nvSpPr>
        <p:spPr>
          <a:xfrm>
            <a:off x="812800" y="1127761"/>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F3F5F7"/>
                </a:solidFill>
                <a:latin typeface="IBM Plex Sans" pitchFamily="34" charset="0"/>
                <a:ea typeface="IBM Plex Sans" pitchFamily="34" charset="-122"/>
                <a:cs typeface="IBM Plex Sans" pitchFamily="34" charset="-120"/>
              </a:rPr>
              <a:t>Strategy rotation picks each question</a:t>
            </a:r>
            <a:endParaRPr lang="en-US" sz="3200" dirty="0"/>
          </a:p>
        </p:txBody>
      </p:sp>
      <p:sp>
        <p:nvSpPr>
          <p:cNvPr id="4" name="Shape 2"/>
          <p:cNvSpPr/>
          <p:nvPr/>
        </p:nvSpPr>
        <p:spPr>
          <a:xfrm>
            <a:off x="815975" y="1831975"/>
            <a:ext cx="5175250" cy="2299970"/>
          </a:xfrm>
          <a:prstGeom prst="roundRect">
            <a:avLst>
              <a:gd name="adj" fmla="val 5384"/>
            </a:avLst>
          </a:prstGeom>
          <a:solidFill>
            <a:srgbClr val="16273D"/>
          </a:solidFill>
          <a:ln w="6350">
            <a:solidFill>
              <a:srgbClr val="26405E"/>
            </a:solidFill>
            <a:prstDash val="solid"/>
          </a:ln>
        </p:spPr>
      </p:sp>
      <p:sp>
        <p:nvSpPr>
          <p:cNvPr id="5" name="Text 3"/>
          <p:cNvSpPr/>
          <p:nvPr/>
        </p:nvSpPr>
        <p:spPr>
          <a:xfrm>
            <a:off x="1046480" y="2062482"/>
            <a:ext cx="4855667" cy="23876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F5B041"/>
                </a:solidFill>
                <a:latin typeface="JetBrains Mono" pitchFamily="49" charset="0"/>
                <a:ea typeface="JetBrains Mono" pitchFamily="49" charset="-122"/>
                <a:cs typeface="JetBrains Mono" pitchFamily="49" charset="-120"/>
              </a:rPr>
              <a:t>QUESTIONS 1–5</a:t>
            </a:r>
            <a:endParaRPr lang="en-US" sz="1200" dirty="0"/>
          </a:p>
        </p:txBody>
      </p:sp>
      <p:sp>
        <p:nvSpPr>
          <p:cNvPr id="6" name="Text 4"/>
          <p:cNvSpPr/>
          <p:nvPr/>
        </p:nvSpPr>
        <p:spPr>
          <a:xfrm>
            <a:off x="1075293" y="2377439"/>
            <a:ext cx="4819234" cy="1549400"/>
          </a:xfrm>
          <a:prstGeom prst="rect">
            <a:avLst/>
          </a:prstGeom>
          <a:noFill/>
          <a:ln/>
        </p:spPr>
        <p:txBody>
          <a:bodyPr wrap="square" lIns="0" tIns="0" rIns="0" bIns="0" rtlCol="0" anchor="t">
            <a:normAutofit/>
          </a:bodyPr>
          <a:lstStyle/>
          <a:p>
            <a:pPr algn="l" marL="225187" indent="-225187">
              <a:lnSpc>
                <a:spcPts val="2400"/>
              </a:lnSpc>
              <a:buSzPct val="100000"/>
              <a:buFontTx/>
              <a:buAutoNum type="arabicPeriod" startAt="1"/>
            </a:pPr>
            <a:r>
              <a:rPr lang="en-US" sz="1600" dirty="0">
                <a:solidFill>
                  <a:srgbClr val="F3F5F7"/>
                </a:solidFill>
                <a:latin typeface="IBM Plex Sans" pitchFamily="34" charset="0"/>
                <a:ea typeface="IBM Plex Sans" pitchFamily="34" charset="-122"/>
                <a:cs typeface="IBM Plex Sans" pitchFamily="34" charset="-120"/>
              </a:rPr>
              <a:t>A* Search</a:t>
            </a:r>
            <a:endParaRPr lang="en-US" sz="1600" dirty="0"/>
          </a:p>
          <a:p>
            <a:pPr algn="l" marL="225187" indent="-225187">
              <a:lnSpc>
                <a:spcPts val="2400"/>
              </a:lnSpc>
              <a:buSzPct val="100000"/>
              <a:buFontTx/>
              <a:buAutoNum type="arabicPeriod" startAt="1"/>
            </a:pPr>
            <a:r>
              <a:rPr lang="en-US" sz="1600" dirty="0">
                <a:solidFill>
                  <a:srgbClr val="F3F5F7"/>
                </a:solidFill>
                <a:latin typeface="IBM Plex Sans" pitchFamily="34" charset="0"/>
                <a:ea typeface="IBM Plex Sans" pitchFamily="34" charset="-122"/>
                <a:cs typeface="IBM Plex Sans" pitchFamily="34" charset="-120"/>
              </a:rPr>
              <a:t>Breadth-First Search</a:t>
            </a:r>
            <a:endParaRPr lang="en-US" sz="1600" dirty="0"/>
          </a:p>
          <a:p>
            <a:pPr algn="l" marL="225187" indent="-225187">
              <a:lnSpc>
                <a:spcPts val="2400"/>
              </a:lnSpc>
              <a:buSzPct val="100000"/>
              <a:buFontTx/>
              <a:buAutoNum type="arabicPeriod" startAt="1"/>
            </a:pPr>
            <a:r>
              <a:rPr lang="en-US" sz="1600" dirty="0">
                <a:solidFill>
                  <a:srgbClr val="F3F5F7"/>
                </a:solidFill>
                <a:latin typeface="IBM Plex Sans" pitchFamily="34" charset="0"/>
                <a:ea typeface="IBM Plex Sans" pitchFamily="34" charset="-122"/>
                <a:cs typeface="IBM Plex Sans" pitchFamily="34" charset="-120"/>
              </a:rPr>
              <a:t>Uniform Cost Search</a:t>
            </a:r>
            <a:endParaRPr lang="en-US" sz="1600" dirty="0"/>
          </a:p>
          <a:p>
            <a:pPr algn="l" marL="225187" indent="-225187">
              <a:lnSpc>
                <a:spcPts val="2400"/>
              </a:lnSpc>
              <a:buSzPct val="100000"/>
              <a:buFontTx/>
              <a:buAutoNum type="arabicPeriod" startAt="1"/>
            </a:pPr>
            <a:r>
              <a:rPr lang="en-US" sz="1600" dirty="0">
                <a:solidFill>
                  <a:srgbClr val="F3F5F7"/>
                </a:solidFill>
                <a:latin typeface="IBM Plex Sans" pitchFamily="34" charset="0"/>
                <a:ea typeface="IBM Plex Sans" pitchFamily="34" charset="-122"/>
                <a:cs typeface="IBM Plex Sans" pitchFamily="34" charset="-120"/>
              </a:rPr>
              <a:t>Bidirectional Search</a:t>
            </a:r>
            <a:endParaRPr lang="en-US" sz="1600" dirty="0"/>
          </a:p>
          <a:p>
            <a:pPr algn="l" marL="225187" indent="-225187">
              <a:lnSpc>
                <a:spcPts val="2400"/>
              </a:lnSpc>
              <a:buSzPct val="100000"/>
              <a:buFontTx/>
              <a:buAutoNum type="arabicPeriod" startAt="1"/>
            </a:pPr>
            <a:r>
              <a:rPr lang="en-US" sz="1600" dirty="0">
                <a:solidFill>
                  <a:srgbClr val="F3F5F7"/>
                </a:solidFill>
                <a:latin typeface="IBM Plex Sans" pitchFamily="34" charset="0"/>
                <a:ea typeface="IBM Plex Sans" pitchFamily="34" charset="-122"/>
                <a:cs typeface="IBM Plex Sans" pitchFamily="34" charset="-120"/>
              </a:rPr>
              <a:t>Iterative Deepening Search</a:t>
            </a:r>
            <a:endParaRPr lang="en-US" sz="1600" dirty="0"/>
          </a:p>
        </p:txBody>
      </p:sp>
      <p:sp>
        <p:nvSpPr>
          <p:cNvPr id="7" name="Shape 5"/>
          <p:cNvSpPr/>
          <p:nvPr/>
        </p:nvSpPr>
        <p:spPr>
          <a:xfrm>
            <a:off x="6200775" y="1831975"/>
            <a:ext cx="5175250" cy="2299970"/>
          </a:xfrm>
          <a:prstGeom prst="roundRect">
            <a:avLst>
              <a:gd name="adj" fmla="val 5384"/>
            </a:avLst>
          </a:prstGeom>
          <a:solidFill>
            <a:srgbClr val="16273D"/>
          </a:solidFill>
          <a:ln w="6350">
            <a:solidFill>
              <a:srgbClr val="26405E"/>
            </a:solidFill>
            <a:prstDash val="solid"/>
          </a:ln>
        </p:spPr>
      </p:sp>
      <p:sp>
        <p:nvSpPr>
          <p:cNvPr id="8" name="Text 6"/>
          <p:cNvSpPr/>
          <p:nvPr/>
        </p:nvSpPr>
        <p:spPr>
          <a:xfrm>
            <a:off x="6431280" y="2062482"/>
            <a:ext cx="4855667" cy="23876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F5B041"/>
                </a:solidFill>
                <a:latin typeface="JetBrains Mono" pitchFamily="49" charset="0"/>
                <a:ea typeface="JetBrains Mono" pitchFamily="49" charset="-122"/>
                <a:cs typeface="JetBrains Mono" pitchFamily="49" charset="-120"/>
              </a:rPr>
              <a:t>LATER QUESTIONS ROTATE</a:t>
            </a:r>
            <a:endParaRPr lang="en-US" sz="1200" dirty="0"/>
          </a:p>
        </p:txBody>
      </p:sp>
      <p:sp>
        <p:nvSpPr>
          <p:cNvPr id="9" name="Text 7"/>
          <p:cNvSpPr/>
          <p:nvPr/>
        </p:nvSpPr>
        <p:spPr>
          <a:xfrm>
            <a:off x="6488938" y="2377439"/>
            <a:ext cx="4790389" cy="1244600"/>
          </a:xfrm>
          <a:prstGeom prst="rect">
            <a:avLst/>
          </a:prstGeom>
          <a:noFill/>
          <a:ln/>
        </p:spPr>
        <p:txBody>
          <a:bodyPr wrap="square" lIns="0" tIns="0" rIns="0" bIns="0" rtlCol="0" anchor="t">
            <a:normAutofit/>
          </a:bodyPr>
          <a:lstStyle/>
          <a:p>
            <a:pPr algn="l" marL="196342" indent="-196342">
              <a:lnSpc>
                <a:spcPts val="2400"/>
              </a:lnSpc>
              <a:buSzPct val="100000"/>
              <a:buChar char="•"/>
            </a:pPr>
            <a:r>
              <a:rPr lang="en-US" sz="1600" dirty="0">
                <a:solidFill>
                  <a:srgbClr val="F3F5F7"/>
                </a:solidFill>
                <a:latin typeface="IBM Plex Sans" pitchFamily="34" charset="0"/>
                <a:ea typeface="IBM Plex Sans" pitchFamily="34" charset="-122"/>
                <a:cs typeface="IBM Plex Sans" pitchFamily="34" charset="-120"/>
              </a:rPr>
              <a:t>Greedy Best-First Search</a:t>
            </a:r>
            <a:endParaRPr lang="en-US" sz="1600" dirty="0"/>
          </a:p>
          <a:p>
            <a:pPr algn="l" marL="196342" indent="-196342">
              <a:lnSpc>
                <a:spcPts val="2400"/>
              </a:lnSpc>
              <a:buSzPct val="100000"/>
              <a:buChar char="•"/>
            </a:pPr>
            <a:r>
              <a:rPr lang="en-US" sz="1600" dirty="0">
                <a:solidFill>
                  <a:srgbClr val="F3F5F7"/>
                </a:solidFill>
                <a:latin typeface="IBM Plex Sans" pitchFamily="34" charset="0"/>
                <a:ea typeface="IBM Plex Sans" pitchFamily="34" charset="-122"/>
                <a:cs typeface="IBM Plex Sans" pitchFamily="34" charset="-120"/>
              </a:rPr>
              <a:t>A* Search</a:t>
            </a:r>
            <a:endParaRPr lang="en-US" sz="1600" dirty="0"/>
          </a:p>
          <a:p>
            <a:pPr algn="l" marL="196342" indent="-196342">
              <a:lnSpc>
                <a:spcPts val="2400"/>
              </a:lnSpc>
              <a:buSzPct val="100000"/>
              <a:buChar char="•"/>
            </a:pPr>
            <a:r>
              <a:rPr lang="en-US" sz="1600" dirty="0">
                <a:solidFill>
                  <a:srgbClr val="F3F5F7"/>
                </a:solidFill>
                <a:latin typeface="IBM Plex Sans" pitchFamily="34" charset="0"/>
                <a:ea typeface="IBM Plex Sans" pitchFamily="34" charset="-122"/>
                <a:cs typeface="IBM Plex Sans" pitchFamily="34" charset="-120"/>
              </a:rPr>
              <a:t>Hill Climbing</a:t>
            </a:r>
            <a:endParaRPr lang="en-US" sz="1600" dirty="0"/>
          </a:p>
          <a:p>
            <a:pPr algn="l" marL="196342" indent="-196342">
              <a:lnSpc>
                <a:spcPts val="2400"/>
              </a:lnSpc>
              <a:buSzPct val="100000"/>
              <a:buChar char="•"/>
            </a:pPr>
            <a:r>
              <a:rPr lang="en-US" sz="1600" dirty="0">
                <a:solidFill>
                  <a:srgbClr val="F3F5F7"/>
                </a:solidFill>
                <a:latin typeface="IBM Plex Sans" pitchFamily="34" charset="0"/>
                <a:ea typeface="IBM Plex Sans" pitchFamily="34" charset="-122"/>
                <a:cs typeface="IBM Plex Sans" pitchFamily="34" charset="-120"/>
              </a:rPr>
              <a:t>Simulated Annealing</a:t>
            </a:r>
            <a:endParaRPr lang="en-US" sz="1600" dirty="0"/>
          </a:p>
        </p:txBody>
      </p:sp>
      <p:sp>
        <p:nvSpPr>
          <p:cNvPr id="10" name="Shape 8"/>
          <p:cNvSpPr/>
          <p:nvPr/>
        </p:nvSpPr>
        <p:spPr>
          <a:xfrm>
            <a:off x="812800" y="4392296"/>
            <a:ext cx="10566400" cy="0"/>
          </a:xfrm>
          <a:prstGeom prst="line">
            <a:avLst/>
          </a:prstGeom>
          <a:noFill/>
          <a:ln w="6350">
            <a:solidFill>
              <a:srgbClr val="26405E"/>
            </a:solidFill>
            <a:prstDash val="solid"/>
          </a:ln>
        </p:spPr>
      </p:sp>
      <p:sp>
        <p:nvSpPr>
          <p:cNvPr id="11" name="Text 9"/>
          <p:cNvSpPr/>
          <p:nvPr/>
        </p:nvSpPr>
        <p:spPr>
          <a:xfrm>
            <a:off x="812800" y="4650742"/>
            <a:ext cx="4055110" cy="416560"/>
          </a:xfrm>
          <a:prstGeom prst="rect">
            <a:avLst/>
          </a:prstGeom>
          <a:noFill/>
          <a:ln/>
        </p:spPr>
        <p:txBody>
          <a:bodyPr wrap="square" lIns="0" tIns="0" rIns="0" bIns="0" rtlCol="0" anchor="t">
            <a:normAutofit/>
          </a:bodyPr>
          <a:lstStyle/>
          <a:p>
            <a:pPr algn="l" indent="0" marL="0">
              <a:lnSpc>
                <a:spcPts val="3080"/>
              </a:lnSpc>
              <a:buNone/>
            </a:pPr>
            <a:r>
              <a:rPr lang="en-US" sz="2200" dirty="0">
                <a:solidFill>
                  <a:srgbClr val="3CC8E0"/>
                </a:solidFill>
                <a:latin typeface="JetBrains Mono" pitchFamily="49" charset="0"/>
                <a:ea typeface="JetBrains Mono" pitchFamily="49" charset="-122"/>
                <a:cs typeface="JetBrains Mono" pitchFamily="49" charset="-120"/>
              </a:rPr>
              <a:t>f(n) = g(n) + h(n)</a:t>
            </a:r>
            <a:endParaRPr lang="en-US" sz="2200" dirty="0"/>
          </a:p>
        </p:txBody>
      </p:sp>
      <p:sp>
        <p:nvSpPr>
          <p:cNvPr id="12" name="Text 10"/>
          <p:cNvSpPr/>
          <p:nvPr/>
        </p:nvSpPr>
        <p:spPr>
          <a:xfrm>
            <a:off x="5054600" y="4597400"/>
            <a:ext cx="6540500"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A9BDD3"/>
                </a:solidFill>
                <a:latin typeface="IBM Plex Sans" pitchFamily="34" charset="0"/>
                <a:ea typeface="IBM Plex Sans" pitchFamily="34" charset="-122"/>
                <a:cs typeface="IBM Plex Sans" pitchFamily="34" charset="-120"/>
              </a:rPr>
              <a:t>h(n) combines skill weakness and the gap from the target difficulty. Easier questions point to harder ones in a prerequisite graph.</a:t>
            </a:r>
            <a:endParaRPr lang="en-US" sz="1400" dirty="0"/>
          </a:p>
        </p:txBody>
      </p:sp>
      <p:sp>
        <p:nvSpPr>
          <p:cNvPr id="13" name="Text 11"/>
          <p:cNvSpPr/>
          <p:nvPr/>
        </p:nvSpPr>
        <p:spPr>
          <a:xfrm>
            <a:off x="812800" y="6238242"/>
            <a:ext cx="78486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F96AF"/>
                </a:solidFill>
                <a:latin typeface="IBM Plex Sans" pitchFamily="34" charset="0"/>
                <a:ea typeface="IBM Plex Sans" pitchFamily="34" charset="-122"/>
                <a:cs typeface="IBM Plex Sans" pitchFamily="34" charset="-120"/>
              </a:rPr>
              <a:t>AI-Based Adaptive Interview Preparation System</a:t>
            </a:r>
            <a:endParaRPr lang="en-US" sz="1200" dirty="0"/>
          </a:p>
        </p:txBody>
      </p:sp>
      <p:sp>
        <p:nvSpPr>
          <p:cNvPr id="14" name="Text 12"/>
          <p:cNvSpPr/>
          <p:nvPr/>
        </p:nvSpPr>
        <p:spPr>
          <a:xfrm>
            <a:off x="10058400" y="6238242"/>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7F96AF"/>
                </a:solidFill>
                <a:latin typeface="IBM Plex Sans" pitchFamily="34" charset="0"/>
                <a:ea typeface="IBM Plex Sans" pitchFamily="34" charset="-122"/>
                <a:cs typeface="IBM Plex Sans" pitchFamily="34" charset="-120"/>
              </a:rPr>
              <a:t>08</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3F5F7"/>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0B7285"/>
                </a:solidFill>
                <a:latin typeface="JetBrains Mono" pitchFamily="49" charset="0"/>
                <a:ea typeface="JetBrains Mono" pitchFamily="49" charset="-122"/>
                <a:cs typeface="JetBrains Mono" pitchFamily="49" charset="-120"/>
              </a:rPr>
              <a:t>ADAPTIVE LOGIC</a:t>
            </a:r>
            <a:endParaRPr lang="en-US" sz="1200" dirty="0"/>
          </a:p>
        </p:txBody>
      </p:sp>
      <p:sp>
        <p:nvSpPr>
          <p:cNvPr id="3" name="Text 1"/>
          <p:cNvSpPr/>
          <p:nvPr>
            <p:ph type="title"/>
          </p:nvPr>
        </p:nvSpPr>
        <p:spPr>
          <a:xfrm>
            <a:off x="812800" y="1127764"/>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2202F"/>
                </a:solidFill>
                <a:latin typeface="IBM Plex Sans" pitchFamily="34" charset="0"/>
                <a:ea typeface="IBM Plex Sans" pitchFamily="34" charset="-122"/>
                <a:cs typeface="IBM Plex Sans" pitchFamily="34" charset="-120"/>
              </a:rPr>
              <a:t>Difficulty and focus follow the candidate</a:t>
            </a:r>
            <a:endParaRPr lang="en-US" sz="3200" dirty="0"/>
          </a:p>
        </p:txBody>
      </p:sp>
      <p:sp>
        <p:nvSpPr>
          <p:cNvPr id="4" name="Shape 2"/>
          <p:cNvSpPr/>
          <p:nvPr/>
        </p:nvSpPr>
        <p:spPr>
          <a:xfrm>
            <a:off x="815975" y="1882775"/>
            <a:ext cx="3383677" cy="2467610"/>
          </a:xfrm>
          <a:prstGeom prst="roundRect">
            <a:avLst>
              <a:gd name="adj" fmla="val 5018"/>
            </a:avLst>
          </a:prstGeom>
          <a:solidFill>
            <a:srgbClr val="FFFFFF"/>
          </a:solidFill>
          <a:ln w="6350">
            <a:solidFill>
              <a:srgbClr val="D5DCE3"/>
            </a:solidFill>
            <a:prstDash val="solid"/>
          </a:ln>
        </p:spPr>
      </p:sp>
      <p:sp>
        <p:nvSpPr>
          <p:cNvPr id="5" name="Text 3"/>
          <p:cNvSpPr/>
          <p:nvPr/>
        </p:nvSpPr>
        <p:spPr>
          <a:xfrm>
            <a:off x="1071880" y="2138679"/>
            <a:ext cx="2958023" cy="23876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0B7285"/>
                </a:solidFill>
                <a:latin typeface="JetBrains Mono" pitchFamily="49" charset="0"/>
                <a:ea typeface="JetBrains Mono" pitchFamily="49" charset="-122"/>
                <a:cs typeface="JetBrains Mono" pitchFamily="49" charset="-120"/>
              </a:rPr>
              <a:t>DIFFICULTY UP</a:t>
            </a:r>
            <a:endParaRPr lang="en-US" sz="1200" dirty="0"/>
          </a:p>
        </p:txBody>
      </p:sp>
      <p:sp>
        <p:nvSpPr>
          <p:cNvPr id="6" name="Text 4"/>
          <p:cNvSpPr/>
          <p:nvPr/>
        </p:nvSpPr>
        <p:spPr>
          <a:xfrm>
            <a:off x="1071880" y="2428242"/>
            <a:ext cx="2958023" cy="878840"/>
          </a:xfrm>
          <a:prstGeom prst="rect">
            <a:avLst/>
          </a:prstGeom>
          <a:noFill/>
          <a:ln/>
        </p:spPr>
        <p:txBody>
          <a:bodyPr wrap="square" lIns="0" tIns="0" rIns="0" bIns="0" rtlCol="0" anchor="t">
            <a:normAutofit/>
          </a:bodyPr>
          <a:lstStyle/>
          <a:p>
            <a:pPr algn="l" indent="0" marL="0">
              <a:lnSpc>
                <a:spcPts val="6720"/>
              </a:lnSpc>
              <a:buNone/>
            </a:pPr>
            <a:r>
              <a:rPr lang="en-US" sz="6400" b="1" dirty="0">
                <a:solidFill>
                  <a:srgbClr val="12202F"/>
                </a:solidFill>
                <a:latin typeface="IBM Plex Sans" pitchFamily="34" charset="0"/>
                <a:ea typeface="IBM Plex Sans" pitchFamily="34" charset="-122"/>
                <a:cs typeface="IBM Plex Sans" pitchFamily="34" charset="-120"/>
              </a:rPr>
              <a:t>≥ 80</a:t>
            </a:r>
            <a:endParaRPr lang="en-US" sz="6400" dirty="0"/>
          </a:p>
        </p:txBody>
      </p:sp>
      <p:sp>
        <p:nvSpPr>
          <p:cNvPr id="7" name="Text 5"/>
          <p:cNvSpPr/>
          <p:nvPr/>
        </p:nvSpPr>
        <p:spPr>
          <a:xfrm>
            <a:off x="1071880" y="3357879"/>
            <a:ext cx="2958023"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B5A6B"/>
                </a:solidFill>
                <a:latin typeface="IBM Plex Sans" pitchFamily="34" charset="0"/>
                <a:ea typeface="IBM Plex Sans" pitchFamily="34" charset="-122"/>
                <a:cs typeface="IBM Plex Sans" pitchFamily="34" charset="-120"/>
              </a:rPr>
              <a:t>Average of the last three scores raises the target difficulty.</a:t>
            </a:r>
            <a:endParaRPr lang="en-US" sz="1400" dirty="0"/>
          </a:p>
        </p:txBody>
      </p:sp>
      <p:sp>
        <p:nvSpPr>
          <p:cNvPr id="8" name="Shape 6"/>
          <p:cNvSpPr/>
          <p:nvPr/>
        </p:nvSpPr>
        <p:spPr>
          <a:xfrm>
            <a:off x="4409202" y="1882775"/>
            <a:ext cx="3383756" cy="2467610"/>
          </a:xfrm>
          <a:prstGeom prst="roundRect">
            <a:avLst>
              <a:gd name="adj" fmla="val 5018"/>
            </a:avLst>
          </a:prstGeom>
          <a:solidFill>
            <a:srgbClr val="FFFFFF"/>
          </a:solidFill>
          <a:ln w="6350">
            <a:solidFill>
              <a:srgbClr val="D5DCE3"/>
            </a:solidFill>
            <a:prstDash val="solid"/>
          </a:ln>
        </p:spPr>
      </p:sp>
      <p:sp>
        <p:nvSpPr>
          <p:cNvPr id="9" name="Text 7"/>
          <p:cNvSpPr/>
          <p:nvPr/>
        </p:nvSpPr>
        <p:spPr>
          <a:xfrm>
            <a:off x="4665107" y="2138679"/>
            <a:ext cx="2958105" cy="23876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0B7285"/>
                </a:solidFill>
                <a:latin typeface="JetBrains Mono" pitchFamily="49" charset="0"/>
                <a:ea typeface="JetBrains Mono" pitchFamily="49" charset="-122"/>
                <a:cs typeface="JetBrains Mono" pitchFamily="49" charset="-120"/>
              </a:rPr>
              <a:t>DIFFICULTY DOWN</a:t>
            </a:r>
            <a:endParaRPr lang="en-US" sz="1200" dirty="0"/>
          </a:p>
        </p:txBody>
      </p:sp>
      <p:sp>
        <p:nvSpPr>
          <p:cNvPr id="10" name="Text 8"/>
          <p:cNvSpPr/>
          <p:nvPr/>
        </p:nvSpPr>
        <p:spPr>
          <a:xfrm>
            <a:off x="4665107" y="2428242"/>
            <a:ext cx="2958105" cy="878840"/>
          </a:xfrm>
          <a:prstGeom prst="rect">
            <a:avLst/>
          </a:prstGeom>
          <a:noFill/>
          <a:ln/>
        </p:spPr>
        <p:txBody>
          <a:bodyPr wrap="square" lIns="0" tIns="0" rIns="0" bIns="0" rtlCol="0" anchor="t">
            <a:normAutofit/>
          </a:bodyPr>
          <a:lstStyle/>
          <a:p>
            <a:pPr algn="l" indent="0" marL="0">
              <a:lnSpc>
                <a:spcPts val="6720"/>
              </a:lnSpc>
              <a:buNone/>
            </a:pPr>
            <a:r>
              <a:rPr lang="en-US" sz="6400" b="1" dirty="0">
                <a:solidFill>
                  <a:srgbClr val="12202F"/>
                </a:solidFill>
                <a:latin typeface="IBM Plex Sans" pitchFamily="34" charset="0"/>
                <a:ea typeface="IBM Plex Sans" pitchFamily="34" charset="-122"/>
                <a:cs typeface="IBM Plex Sans" pitchFamily="34" charset="-120"/>
              </a:rPr>
              <a:t>&lt; 45</a:t>
            </a:r>
            <a:endParaRPr lang="en-US" sz="6400" dirty="0"/>
          </a:p>
        </p:txBody>
      </p:sp>
      <p:sp>
        <p:nvSpPr>
          <p:cNvPr id="11" name="Text 9"/>
          <p:cNvSpPr/>
          <p:nvPr/>
        </p:nvSpPr>
        <p:spPr>
          <a:xfrm>
            <a:off x="4665107" y="3357879"/>
            <a:ext cx="2958105"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B5A6B"/>
                </a:solidFill>
                <a:latin typeface="IBM Plex Sans" pitchFamily="34" charset="0"/>
                <a:ea typeface="IBM Plex Sans" pitchFamily="34" charset="-122"/>
                <a:cs typeface="IBM Plex Sans" pitchFamily="34" charset="-120"/>
              </a:rPr>
              <a:t>Average of the last three scores lowers the target difficulty.</a:t>
            </a:r>
            <a:endParaRPr lang="en-US" sz="1400" dirty="0"/>
          </a:p>
        </p:txBody>
      </p:sp>
      <p:sp>
        <p:nvSpPr>
          <p:cNvPr id="12" name="Shape 10"/>
          <p:cNvSpPr/>
          <p:nvPr/>
        </p:nvSpPr>
        <p:spPr>
          <a:xfrm>
            <a:off x="7999333" y="1879600"/>
            <a:ext cx="3379867" cy="2473960"/>
          </a:xfrm>
          <a:prstGeom prst="roundRect">
            <a:avLst>
              <a:gd name="adj" fmla="val 5133"/>
            </a:avLst>
          </a:prstGeom>
          <a:solidFill>
            <a:srgbClr val="12202F"/>
          </a:solidFill>
          <a:ln/>
        </p:spPr>
      </p:sp>
      <p:sp>
        <p:nvSpPr>
          <p:cNvPr id="13" name="Text 11"/>
          <p:cNvSpPr/>
          <p:nvPr/>
        </p:nvSpPr>
        <p:spPr>
          <a:xfrm>
            <a:off x="8253333" y="2133600"/>
            <a:ext cx="2958023" cy="23876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3CC8E0"/>
                </a:solidFill>
                <a:latin typeface="JetBrains Mono" pitchFamily="49" charset="0"/>
                <a:ea typeface="JetBrains Mono" pitchFamily="49" charset="-122"/>
                <a:cs typeface="JetBrains Mono" pitchFamily="49" charset="-120"/>
              </a:rPr>
              <a:t>WEAKNESS PROFILE</a:t>
            </a:r>
            <a:endParaRPr lang="en-US" sz="1200" dirty="0"/>
          </a:p>
        </p:txBody>
      </p:sp>
      <p:sp>
        <p:nvSpPr>
          <p:cNvPr id="14" name="Text 12"/>
          <p:cNvSpPr/>
          <p:nvPr/>
        </p:nvSpPr>
        <p:spPr>
          <a:xfrm>
            <a:off x="8253333" y="2423164"/>
            <a:ext cx="2958023" cy="878840"/>
          </a:xfrm>
          <a:prstGeom prst="rect">
            <a:avLst/>
          </a:prstGeom>
          <a:noFill/>
          <a:ln/>
        </p:spPr>
        <p:txBody>
          <a:bodyPr wrap="square" lIns="0" tIns="0" rIns="0" bIns="0" rtlCol="0" anchor="t">
            <a:normAutofit/>
          </a:bodyPr>
          <a:lstStyle/>
          <a:p>
            <a:pPr algn="l" indent="0" marL="0">
              <a:lnSpc>
                <a:spcPts val="6720"/>
              </a:lnSpc>
              <a:buNone/>
            </a:pPr>
            <a:r>
              <a:rPr lang="en-US" sz="6400" b="1" dirty="0">
                <a:solidFill>
                  <a:srgbClr val="F3F5F7"/>
                </a:solidFill>
                <a:latin typeface="IBM Plex Sans" pitchFamily="34" charset="0"/>
                <a:ea typeface="IBM Plex Sans" pitchFamily="34" charset="-122"/>
                <a:cs typeface="IBM Plex Sans" pitchFamily="34" charset="-120"/>
              </a:rPr>
              <a:t>0–100</a:t>
            </a:r>
            <a:endParaRPr lang="en-US" sz="6400" dirty="0"/>
          </a:p>
        </p:txBody>
      </p:sp>
      <p:sp>
        <p:nvSpPr>
          <p:cNvPr id="15" name="Text 13"/>
          <p:cNvSpPr/>
          <p:nvPr/>
        </p:nvSpPr>
        <p:spPr>
          <a:xfrm>
            <a:off x="8253333" y="3352800"/>
            <a:ext cx="2958023" cy="77216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C9D6E3"/>
                </a:solidFill>
                <a:latin typeface="IBM Plex Sans" pitchFamily="34" charset="0"/>
                <a:ea typeface="IBM Plex Sans" pitchFamily="34" charset="-122"/>
                <a:cs typeface="IBM Plex Sans" pitchFamily="34" charset="-120"/>
              </a:rPr>
              <a:t>Each skill keeps a moving-average score, so weak skills get priority later.</a:t>
            </a:r>
            <a:endParaRPr lang="en-US" sz="1400" dirty="0"/>
          </a:p>
        </p:txBody>
      </p:sp>
      <p:sp>
        <p:nvSpPr>
          <p:cNvPr id="16" name="Text 14"/>
          <p:cNvSpPr/>
          <p:nvPr/>
        </p:nvSpPr>
        <p:spPr>
          <a:xfrm>
            <a:off x="812800" y="6238242"/>
            <a:ext cx="78486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786"/>
                </a:solidFill>
                <a:latin typeface="IBM Plex Sans" pitchFamily="34" charset="0"/>
                <a:ea typeface="IBM Plex Sans" pitchFamily="34" charset="-122"/>
                <a:cs typeface="IBM Plex Sans" pitchFamily="34" charset="-120"/>
              </a:rPr>
              <a:t>AI-Based Adaptive Interview Preparation System</a:t>
            </a:r>
            <a:endParaRPr lang="en-US" sz="1200" dirty="0"/>
          </a:p>
        </p:txBody>
      </p:sp>
      <p:sp>
        <p:nvSpPr>
          <p:cNvPr id="17" name="Text 15"/>
          <p:cNvSpPr/>
          <p:nvPr/>
        </p:nvSpPr>
        <p:spPr>
          <a:xfrm>
            <a:off x="10058400" y="6238242"/>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A7786"/>
                </a:solidFill>
                <a:latin typeface="IBM Plex Sans" pitchFamily="34" charset="0"/>
                <a:ea typeface="IBM Plex Sans" pitchFamily="34" charset="-122"/>
                <a:cs typeface="IBM Plex Sans" pitchFamily="34" charset="-120"/>
              </a:rPr>
              <a:t>09</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E1A2B"/>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3CC8E0"/>
                </a:solidFill>
                <a:latin typeface="JetBrains Mono" pitchFamily="49" charset="0"/>
                <a:ea typeface="JetBrains Mono" pitchFamily="49" charset="-122"/>
                <a:cs typeface="JetBrains Mono" pitchFamily="49" charset="-120"/>
              </a:rPr>
              <a:t>EVALUATION AND FEEDBACK</a:t>
            </a:r>
            <a:endParaRPr lang="en-US" sz="1200" dirty="0"/>
          </a:p>
        </p:txBody>
      </p:sp>
      <p:sp>
        <p:nvSpPr>
          <p:cNvPr id="3" name="Text 1"/>
          <p:cNvSpPr/>
          <p:nvPr>
            <p:ph type="title"/>
          </p:nvPr>
        </p:nvSpPr>
        <p:spPr>
          <a:xfrm>
            <a:off x="812800" y="1127764"/>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F3F5F7"/>
                </a:solidFill>
                <a:latin typeface="IBM Plex Sans" pitchFamily="34" charset="0"/>
                <a:ea typeface="IBM Plex Sans" pitchFamily="34" charset="-122"/>
                <a:cs typeface="IBM Plex Sans" pitchFamily="34" charset="-120"/>
              </a:rPr>
              <a:t>Every answer is scored out of 100</a:t>
            </a:r>
            <a:endParaRPr lang="en-US" sz="3200" dirty="0"/>
          </a:p>
        </p:txBody>
      </p:sp>
      <p:sp>
        <p:nvSpPr>
          <p:cNvPr id="4" name="Text 2"/>
          <p:cNvSpPr/>
          <p:nvPr/>
        </p:nvSpPr>
        <p:spPr>
          <a:xfrm>
            <a:off x="812800" y="1930400"/>
            <a:ext cx="9509760" cy="711200"/>
          </a:xfrm>
          <a:custGeom>
            <a:avLst/>
            <a:gdLst/>
            <a:ahLst/>
            <a:cxnLst/>
            <a:rect l="l" t="t" r="r" b="b"/>
            <a:pathLst>
              <a:path w="9509760" h="711200">
                <a:moveTo>
                  <a:pt x="0" y="127000"/>
                </a:moveTo>
                <a:arcTo hR="127000" wR="127000" stAng="10800000" swAng="5400000"/>
                <a:lnTo>
                  <a:pt x="9509760" y="0"/>
                </a:lnTo>
                <a:lnTo>
                  <a:pt x="9509760" y="711200"/>
                </a:lnTo>
                <a:lnTo>
                  <a:pt x="127000" y="711200"/>
                </a:lnTo>
                <a:arcTo hR="127000" wR="127000" stAng="5400000" swAng="5400000"/>
                <a:close/>
              </a:path>
            </a:pathLst>
          </a:custGeom>
          <a:solidFill>
            <a:srgbClr val="3CC8E0"/>
          </a:solidFill>
          <a:ln/>
        </p:spPr>
        <p:txBody>
          <a:bodyPr wrap="square" lIns="0" tIns="0" rIns="0" bIns="0" rtlCol="0" anchor="ctr">
            <a:normAutofit/>
          </a:bodyPr>
          <a:lstStyle/>
          <a:p>
            <a:pPr algn="ctr" indent="0" marL="0">
              <a:lnSpc>
                <a:spcPts val="3080"/>
              </a:lnSpc>
              <a:buNone/>
            </a:pPr>
            <a:r>
              <a:rPr lang="en-US" sz="2200" b="1" dirty="0">
                <a:solidFill>
                  <a:srgbClr val="0E1A2B"/>
                </a:solidFill>
                <a:latin typeface="IBM Plex Sans" pitchFamily="34" charset="0"/>
                <a:ea typeface="IBM Plex Sans" pitchFamily="34" charset="-122"/>
                <a:cs typeface="IBM Plex Sans" pitchFamily="34" charset="-120"/>
              </a:rPr>
              <a:t>90</a:t>
            </a:r>
            <a:endParaRPr lang="en-US" sz="2200" dirty="0"/>
          </a:p>
        </p:txBody>
      </p:sp>
      <p:sp>
        <p:nvSpPr>
          <p:cNvPr id="5" name="Text 3"/>
          <p:cNvSpPr/>
          <p:nvPr/>
        </p:nvSpPr>
        <p:spPr>
          <a:xfrm>
            <a:off x="10322560" y="1930400"/>
            <a:ext cx="1056640" cy="711200"/>
          </a:xfrm>
          <a:custGeom>
            <a:avLst/>
            <a:gdLst/>
            <a:ahLst/>
            <a:cxnLst/>
            <a:rect l="l" t="t" r="r" b="b"/>
            <a:pathLst>
              <a:path w="1056640" h="711200">
                <a:moveTo>
                  <a:pt x="929640" y="0"/>
                </a:moveTo>
                <a:arcTo hR="127000" wR="127000" stAng="16200000" swAng="5400000"/>
                <a:lnTo>
                  <a:pt x="1056640" y="584200"/>
                </a:lnTo>
                <a:arcTo hR="127000" wR="127000" stAng="0" swAng="5400000"/>
                <a:lnTo>
                  <a:pt x="0" y="711200"/>
                </a:lnTo>
                <a:lnTo>
                  <a:pt x="0" y="0"/>
                </a:lnTo>
                <a:close/>
              </a:path>
            </a:pathLst>
          </a:custGeom>
          <a:solidFill>
            <a:srgbClr val="F5B041"/>
          </a:solidFill>
          <a:ln/>
        </p:spPr>
        <p:txBody>
          <a:bodyPr wrap="square" lIns="0" tIns="0" rIns="0" bIns="0" rtlCol="0" anchor="ctr">
            <a:normAutofit/>
          </a:bodyPr>
          <a:lstStyle/>
          <a:p>
            <a:pPr algn="ctr" indent="0" marL="0">
              <a:lnSpc>
                <a:spcPts val="3080"/>
              </a:lnSpc>
              <a:buNone/>
            </a:pPr>
            <a:r>
              <a:rPr lang="en-US" sz="2200" b="1" dirty="0">
                <a:solidFill>
                  <a:srgbClr val="0E1A2B"/>
                </a:solidFill>
                <a:latin typeface="IBM Plex Sans" pitchFamily="34" charset="0"/>
                <a:ea typeface="IBM Plex Sans" pitchFamily="34" charset="-122"/>
                <a:cs typeface="IBM Plex Sans" pitchFamily="34" charset="-120"/>
              </a:rPr>
              <a:t>10</a:t>
            </a:r>
            <a:endParaRPr lang="en-US" sz="2200" dirty="0"/>
          </a:p>
        </p:txBody>
      </p:sp>
      <p:sp>
        <p:nvSpPr>
          <p:cNvPr id="6" name="Text 4"/>
          <p:cNvSpPr/>
          <p:nvPr/>
        </p:nvSpPr>
        <p:spPr>
          <a:xfrm>
            <a:off x="812800" y="2997200"/>
            <a:ext cx="7116064"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3CC8E0"/>
                </a:solidFill>
                <a:latin typeface="IBM Plex Sans" pitchFamily="34" charset="0"/>
                <a:ea typeface="IBM Plex Sans" pitchFamily="34" charset="-122"/>
                <a:cs typeface="IBM Plex Sans" pitchFamily="34" charset="-120"/>
              </a:rPr>
              <a:t>Keyword coverage · up to 90</a:t>
            </a:r>
            <a:endParaRPr lang="en-US" sz="1800" dirty="0"/>
          </a:p>
        </p:txBody>
      </p:sp>
      <p:sp>
        <p:nvSpPr>
          <p:cNvPr id="7" name="Text 5"/>
          <p:cNvSpPr/>
          <p:nvPr/>
        </p:nvSpPr>
        <p:spPr>
          <a:xfrm>
            <a:off x="812800" y="3347721"/>
            <a:ext cx="7116064"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A9BDD3"/>
                </a:solidFill>
                <a:latin typeface="IBM Plex Sans" pitchFamily="34" charset="0"/>
                <a:ea typeface="IBM Plex Sans" pitchFamily="34" charset="-122"/>
                <a:cs typeface="IBM Plex Sans" pitchFamily="34" charset="-120"/>
              </a:rPr>
              <a:t>Marks follow how many expected concept keywords appear in the answer.</a:t>
            </a:r>
            <a:endParaRPr lang="en-US" sz="1400" dirty="0"/>
          </a:p>
        </p:txBody>
      </p:sp>
      <p:sp>
        <p:nvSpPr>
          <p:cNvPr id="8" name="Text 6"/>
          <p:cNvSpPr/>
          <p:nvPr/>
        </p:nvSpPr>
        <p:spPr>
          <a:xfrm>
            <a:off x="7924800" y="2997200"/>
            <a:ext cx="3558032"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F5B041"/>
                </a:solidFill>
                <a:latin typeface="IBM Plex Sans" pitchFamily="34" charset="0"/>
                <a:ea typeface="IBM Plex Sans" pitchFamily="34" charset="-122"/>
                <a:cs typeface="IBM Plex Sans" pitchFamily="34" charset="-120"/>
              </a:rPr>
              <a:t>Elaboration · +5 or +10</a:t>
            </a:r>
            <a:endParaRPr lang="en-US" sz="1800" dirty="0"/>
          </a:p>
        </p:txBody>
      </p:sp>
      <p:sp>
        <p:nvSpPr>
          <p:cNvPr id="9" name="Text 7"/>
          <p:cNvSpPr/>
          <p:nvPr/>
        </p:nvSpPr>
        <p:spPr>
          <a:xfrm>
            <a:off x="7924800" y="3347721"/>
            <a:ext cx="3558032"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A9BDD3"/>
                </a:solidFill>
                <a:latin typeface="IBM Plex Sans" pitchFamily="34" charset="0"/>
                <a:ea typeface="IBM Plex Sans" pitchFamily="34" charset="-122"/>
                <a:cs typeface="IBM Plex Sans" pitchFamily="34" charset="-120"/>
              </a:rPr>
              <a:t>Bonus for answers of at least 15 or 30 words.</a:t>
            </a:r>
            <a:endParaRPr lang="en-US" sz="1400" dirty="0"/>
          </a:p>
        </p:txBody>
      </p:sp>
      <p:sp>
        <p:nvSpPr>
          <p:cNvPr id="10" name="Shape 8"/>
          <p:cNvSpPr/>
          <p:nvPr/>
        </p:nvSpPr>
        <p:spPr>
          <a:xfrm>
            <a:off x="812800" y="4204339"/>
            <a:ext cx="9525000" cy="0"/>
          </a:xfrm>
          <a:prstGeom prst="line">
            <a:avLst/>
          </a:prstGeom>
          <a:noFill/>
          <a:ln w="6350">
            <a:solidFill>
              <a:srgbClr val="26405E"/>
            </a:solidFill>
            <a:prstDash val="solid"/>
          </a:ln>
        </p:spPr>
      </p:sp>
      <p:sp>
        <p:nvSpPr>
          <p:cNvPr id="11" name="Text 9"/>
          <p:cNvSpPr/>
          <p:nvPr/>
        </p:nvSpPr>
        <p:spPr>
          <a:xfrm>
            <a:off x="812800" y="4409444"/>
            <a:ext cx="9810750" cy="3098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F3F5F7"/>
                </a:solidFill>
                <a:latin typeface="IBM Plex Sans" pitchFamily="34" charset="0"/>
                <a:ea typeface="IBM Plex Sans" pitchFamily="34" charset="-122"/>
                <a:cs typeface="IBM Plex Sans" pitchFamily="34" charset="-120"/>
              </a:rPr>
              <a:t>The feedback screen lists the concepts the candidate mentioned and the ones omitted.</a:t>
            </a:r>
            <a:endParaRPr lang="en-US" sz="1600" dirty="0"/>
          </a:p>
        </p:txBody>
      </p:sp>
      <p:sp>
        <p:nvSpPr>
          <p:cNvPr id="12" name="Text 10"/>
          <p:cNvSpPr/>
          <p:nvPr/>
        </p:nvSpPr>
        <p:spPr>
          <a:xfrm>
            <a:off x="812800" y="6238242"/>
            <a:ext cx="78486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F96AF"/>
                </a:solidFill>
                <a:latin typeface="IBM Plex Sans" pitchFamily="34" charset="0"/>
                <a:ea typeface="IBM Plex Sans" pitchFamily="34" charset="-122"/>
                <a:cs typeface="IBM Plex Sans" pitchFamily="34" charset="-120"/>
              </a:rPr>
              <a:t>AI-Based Adaptive Interview Preparation System</a:t>
            </a:r>
            <a:endParaRPr lang="en-US" sz="1200" dirty="0"/>
          </a:p>
        </p:txBody>
      </p:sp>
      <p:sp>
        <p:nvSpPr>
          <p:cNvPr id="13" name="Text 11"/>
          <p:cNvSpPr/>
          <p:nvPr/>
        </p:nvSpPr>
        <p:spPr>
          <a:xfrm>
            <a:off x="10058400" y="6238242"/>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7F96AF"/>
                </a:solidFill>
                <a:latin typeface="IBM Plex Sans" pitchFamily="34" charset="0"/>
                <a:ea typeface="IBM Plex Sans" pitchFamily="34" charset="-122"/>
                <a:cs typeface="IBM Plex Sans" pitchFamily="34" charset="-120"/>
              </a:rPr>
              <a:t>10</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3F5F7"/>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0B7285"/>
                </a:solidFill>
                <a:latin typeface="JetBrains Mono" pitchFamily="49" charset="0"/>
                <a:ea typeface="JetBrains Mono" pitchFamily="49" charset="-122"/>
                <a:cs typeface="JetBrains Mono" pitchFamily="49" charset="-120"/>
              </a:rPr>
              <a:t>LOGICAL REASONING</a:t>
            </a:r>
            <a:endParaRPr lang="en-US" sz="1200" dirty="0"/>
          </a:p>
        </p:txBody>
      </p:sp>
      <p:sp>
        <p:nvSpPr>
          <p:cNvPr id="3" name="Text 1"/>
          <p:cNvSpPr/>
          <p:nvPr>
            <p:ph type="title"/>
          </p:nvPr>
        </p:nvSpPr>
        <p:spPr>
          <a:xfrm>
            <a:off x="812800" y="1127764"/>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2202F"/>
                </a:solidFill>
                <a:latin typeface="IBM Plex Sans" pitchFamily="34" charset="0"/>
                <a:ea typeface="IBM Plex Sans" pitchFamily="34" charset="-122"/>
                <a:cs typeface="IBM Plex Sans" pitchFamily="34" charset="-120"/>
              </a:rPr>
              <a:t>Inferring what the candidate knows</a:t>
            </a:r>
            <a:endParaRPr lang="en-US" sz="3200" dirty="0"/>
          </a:p>
        </p:txBody>
      </p:sp>
      <p:sp>
        <p:nvSpPr>
          <p:cNvPr id="4" name="Shape 2"/>
          <p:cNvSpPr/>
          <p:nvPr/>
        </p:nvSpPr>
        <p:spPr>
          <a:xfrm>
            <a:off x="815975" y="1882775"/>
            <a:ext cx="5175250" cy="2419350"/>
          </a:xfrm>
          <a:prstGeom prst="roundRect">
            <a:avLst>
              <a:gd name="adj" fmla="val 5118"/>
            </a:avLst>
          </a:prstGeom>
          <a:solidFill>
            <a:srgbClr val="FFFFFF"/>
          </a:solidFill>
          <a:ln w="6350">
            <a:solidFill>
              <a:srgbClr val="D5DCE3"/>
            </a:solidFill>
            <a:prstDash val="solid"/>
          </a:ln>
        </p:spPr>
      </p:sp>
      <p:sp>
        <p:nvSpPr>
          <p:cNvPr id="5" name="Text 3"/>
          <p:cNvSpPr/>
          <p:nvPr/>
        </p:nvSpPr>
        <p:spPr>
          <a:xfrm>
            <a:off x="1071880" y="2138679"/>
            <a:ext cx="4803343"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2202F"/>
                </a:solidFill>
                <a:latin typeface="IBM Plex Sans" pitchFamily="34" charset="0"/>
                <a:ea typeface="IBM Plex Sans" pitchFamily="34" charset="-122"/>
                <a:cs typeface="IBM Plex Sans" pitchFamily="34" charset="-120"/>
              </a:rPr>
              <a:t>Propositional logic</a:t>
            </a:r>
            <a:endParaRPr lang="en-US" sz="2000" dirty="0"/>
          </a:p>
        </p:txBody>
      </p:sp>
      <p:sp>
        <p:nvSpPr>
          <p:cNvPr id="6" name="Text 4"/>
          <p:cNvSpPr/>
          <p:nvPr/>
        </p:nvSpPr>
        <p:spPr>
          <a:xfrm>
            <a:off x="1071880" y="2570479"/>
            <a:ext cx="4803343"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B5A6B"/>
                </a:solidFill>
                <a:latin typeface="IBM Plex Sans" pitchFamily="34" charset="0"/>
                <a:ea typeface="IBM Plex Sans" pitchFamily="34" charset="-122"/>
                <a:cs typeface="IBM Plex Sans" pitchFamily="34" charset="-120"/>
              </a:rPr>
              <a:t>Forward chaining, backward chaining and resolution derive facts such as Mastered_Skill after each answer.</a:t>
            </a:r>
            <a:endParaRPr lang="en-US" sz="1400" dirty="0"/>
          </a:p>
        </p:txBody>
      </p:sp>
      <p:sp>
        <p:nvSpPr>
          <p:cNvPr id="7" name="Text 5"/>
          <p:cNvSpPr/>
          <p:nvPr/>
        </p:nvSpPr>
        <p:spPr>
          <a:xfrm>
            <a:off x="1071880" y="3195321"/>
            <a:ext cx="4663440" cy="800100"/>
          </a:xfrm>
          <a:prstGeom prst="roundRect">
            <a:avLst>
              <a:gd name="adj" fmla="val 9524"/>
            </a:avLst>
          </a:prstGeom>
          <a:solidFill>
            <a:srgbClr val="12202F"/>
          </a:solidFill>
          <a:ln/>
        </p:spPr>
        <p:txBody>
          <a:bodyPr wrap="square" lIns="155482" tIns="130082" rIns="26247" bIns="104682" rtlCol="0" anchor="t">
            <a:normAutofit/>
          </a:bodyPr>
          <a:lstStyle/>
          <a:p>
            <a:pPr algn="l" indent="0" marL="0">
              <a:lnSpc>
                <a:spcPts val="1950"/>
              </a:lnSpc>
              <a:buNone/>
            </a:pPr>
            <a:r>
              <a:rPr lang="en-US" sz="1300" dirty="0">
                <a:solidFill>
                  <a:srgbClr val="3CC8E0"/>
                </a:solidFill>
                <a:latin typeface="JetBrains Mono" pitchFamily="49" charset="0"/>
                <a:ea typeface="JetBrains Mono" pitchFamily="49" charset="-122"/>
                <a:cs typeface="JetBrains Mono" pitchFamily="49" charset="-120"/>
              </a:rPr>
              <a:t>IF Weak_Skill AND Knowledge_Base_Updated → Schedule_Remediation</a:t>
            </a:r>
            <a:endParaRPr lang="en-US" sz="1300" dirty="0"/>
          </a:p>
        </p:txBody>
      </p:sp>
      <p:sp>
        <p:nvSpPr>
          <p:cNvPr id="8" name="Shape 6"/>
          <p:cNvSpPr/>
          <p:nvPr/>
        </p:nvSpPr>
        <p:spPr>
          <a:xfrm>
            <a:off x="6200775" y="1882775"/>
            <a:ext cx="5175250" cy="2419350"/>
          </a:xfrm>
          <a:prstGeom prst="roundRect">
            <a:avLst>
              <a:gd name="adj" fmla="val 5118"/>
            </a:avLst>
          </a:prstGeom>
          <a:solidFill>
            <a:srgbClr val="FFFFFF"/>
          </a:solidFill>
          <a:ln w="6350">
            <a:solidFill>
              <a:srgbClr val="D5DCE3"/>
            </a:solidFill>
            <a:prstDash val="solid"/>
          </a:ln>
        </p:spPr>
      </p:sp>
      <p:sp>
        <p:nvSpPr>
          <p:cNvPr id="9" name="Text 7"/>
          <p:cNvSpPr/>
          <p:nvPr/>
        </p:nvSpPr>
        <p:spPr>
          <a:xfrm>
            <a:off x="6456680" y="2138679"/>
            <a:ext cx="4803343"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2202F"/>
                </a:solidFill>
                <a:latin typeface="IBM Plex Sans" pitchFamily="34" charset="0"/>
                <a:ea typeface="IBM Plex Sans" pitchFamily="34" charset="-122"/>
                <a:cs typeface="IBM Plex Sans" pitchFamily="34" charset="-120"/>
              </a:rPr>
              <a:t>First-order logic</a:t>
            </a:r>
            <a:endParaRPr lang="en-US" sz="2000" dirty="0"/>
          </a:p>
        </p:txBody>
      </p:sp>
      <p:sp>
        <p:nvSpPr>
          <p:cNvPr id="10" name="Text 8"/>
          <p:cNvSpPr/>
          <p:nvPr/>
        </p:nvSpPr>
        <p:spPr>
          <a:xfrm>
            <a:off x="6456680" y="2570479"/>
            <a:ext cx="4803343"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B5A6B"/>
                </a:solidFill>
                <a:latin typeface="IBM Plex Sans" pitchFamily="34" charset="0"/>
                <a:ea typeface="IBM Plex Sans" pitchFamily="34" charset="-122"/>
                <a:cs typeface="IBM Plex Sans" pitchFamily="34" charset="-120"/>
              </a:rPr>
              <a:t>Unification with forward chaining matches patterns against facts in the final report.</a:t>
            </a:r>
            <a:endParaRPr lang="en-US" sz="1400" dirty="0"/>
          </a:p>
        </p:txBody>
      </p:sp>
      <p:sp>
        <p:nvSpPr>
          <p:cNvPr id="11" name="Shape 9"/>
          <p:cNvSpPr/>
          <p:nvPr/>
        </p:nvSpPr>
        <p:spPr>
          <a:xfrm>
            <a:off x="6456680" y="3195321"/>
            <a:ext cx="4663440" cy="850900"/>
          </a:xfrm>
          <a:prstGeom prst="roundRect">
            <a:avLst>
              <a:gd name="adj" fmla="val 8955"/>
            </a:avLst>
          </a:prstGeom>
          <a:solidFill>
            <a:srgbClr val="12202F"/>
          </a:solidFill>
          <a:ln/>
        </p:spPr>
      </p:sp>
      <p:sp>
        <p:nvSpPr>
          <p:cNvPr id="12" name="Text 10"/>
          <p:cNvSpPr/>
          <p:nvPr/>
        </p:nvSpPr>
        <p:spPr>
          <a:xfrm>
            <a:off x="6634480" y="3347721"/>
            <a:ext cx="4437075" cy="273050"/>
          </a:xfrm>
          <a:prstGeom prst="rect">
            <a:avLst/>
          </a:prstGeom>
          <a:noFill/>
          <a:ln/>
        </p:spPr>
        <p:txBody>
          <a:bodyPr wrap="square" lIns="0" tIns="0" rIns="0" bIns="0" rtlCol="0" anchor="t">
            <a:normAutofit/>
          </a:bodyPr>
          <a:lstStyle/>
          <a:p>
            <a:pPr algn="l" indent="0" marL="0">
              <a:lnSpc>
                <a:spcPts val="1950"/>
              </a:lnSpc>
              <a:buNone/>
            </a:pPr>
            <a:r>
              <a:rPr lang="en-US" sz="1300" dirty="0">
                <a:solidFill>
                  <a:srgbClr val="3CC8E0"/>
                </a:solidFill>
                <a:latin typeface="JetBrains Mono" pitchFamily="49" charset="0"/>
                <a:ea typeface="JetBrains Mono" pitchFamily="49" charset="-122"/>
                <a:cs typeface="JetBrains Mono" pitchFamily="49" charset="-120"/>
              </a:rPr>
              <a:t>Pattern: Mastered(?candidate, ?topic)</a:t>
            </a:r>
            <a:endParaRPr lang="en-US" sz="1300" dirty="0"/>
          </a:p>
        </p:txBody>
      </p:sp>
      <p:sp>
        <p:nvSpPr>
          <p:cNvPr id="13" name="Text 11"/>
          <p:cNvSpPr/>
          <p:nvPr/>
        </p:nvSpPr>
        <p:spPr>
          <a:xfrm>
            <a:off x="6634480" y="3646171"/>
            <a:ext cx="4437075" cy="273050"/>
          </a:xfrm>
          <a:prstGeom prst="rect">
            <a:avLst/>
          </a:prstGeom>
          <a:noFill/>
          <a:ln/>
        </p:spPr>
        <p:txBody>
          <a:bodyPr wrap="square" lIns="0" tIns="0" rIns="0" bIns="0" rtlCol="0" anchor="t">
            <a:normAutofit/>
          </a:bodyPr>
          <a:lstStyle/>
          <a:p>
            <a:pPr algn="l" indent="0" marL="0">
              <a:lnSpc>
                <a:spcPts val="1950"/>
              </a:lnSpc>
              <a:buNone/>
            </a:pPr>
            <a:r>
              <a:rPr lang="en-US" sz="1300" dirty="0">
                <a:solidFill>
                  <a:srgbClr val="F5B041"/>
                </a:solidFill>
                <a:latin typeface="JetBrains Mono" pitchFamily="49" charset="0"/>
                <a:ea typeface="JetBrains Mono" pitchFamily="49" charset="-122"/>
                <a:cs typeface="JetBrains Mono" pitchFamily="49" charset="-120"/>
              </a:rPr>
              <a:t>Fact: Mastered(Akhil, Context Switching)</a:t>
            </a:r>
            <a:endParaRPr lang="en-US" sz="1300" dirty="0"/>
          </a:p>
        </p:txBody>
      </p:sp>
      <p:sp>
        <p:nvSpPr>
          <p:cNvPr id="14" name="Text 12"/>
          <p:cNvSpPr/>
          <p:nvPr/>
        </p:nvSpPr>
        <p:spPr>
          <a:xfrm>
            <a:off x="812800" y="6238242"/>
            <a:ext cx="78486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786"/>
                </a:solidFill>
                <a:latin typeface="IBM Plex Sans" pitchFamily="34" charset="0"/>
                <a:ea typeface="IBM Plex Sans" pitchFamily="34" charset="-122"/>
                <a:cs typeface="IBM Plex Sans" pitchFamily="34" charset="-120"/>
              </a:rPr>
              <a:t>AI-Based Adaptive Interview Preparation System</a:t>
            </a:r>
            <a:endParaRPr lang="en-US" sz="1200" dirty="0"/>
          </a:p>
        </p:txBody>
      </p:sp>
      <p:sp>
        <p:nvSpPr>
          <p:cNvPr id="15" name="Text 13"/>
          <p:cNvSpPr/>
          <p:nvPr/>
        </p:nvSpPr>
        <p:spPr>
          <a:xfrm>
            <a:off x="10058400" y="6238242"/>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A7786"/>
                </a:solidFill>
                <a:latin typeface="IBM Plex Sans" pitchFamily="34" charset="0"/>
                <a:ea typeface="IBM Plex Sans" pitchFamily="34" charset="-122"/>
                <a:cs typeface="IBM Plex Sans" pitchFamily="34" charset="-120"/>
              </a:rPr>
              <a:t>11</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3F5F7"/>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0B7285"/>
                </a:solidFill>
                <a:latin typeface="JetBrains Mono" pitchFamily="49" charset="0"/>
                <a:ea typeface="JetBrains Mono" pitchFamily="49" charset="-122"/>
                <a:cs typeface="JetBrains Mono" pitchFamily="49" charset="-120"/>
              </a:rPr>
              <a:t>OUTPUT SCREENS</a:t>
            </a:r>
            <a:endParaRPr lang="en-US" sz="1200" dirty="0"/>
          </a:p>
        </p:txBody>
      </p:sp>
      <p:sp>
        <p:nvSpPr>
          <p:cNvPr id="3" name="Text 1"/>
          <p:cNvSpPr/>
          <p:nvPr>
            <p:ph type="title"/>
          </p:nvPr>
        </p:nvSpPr>
        <p:spPr>
          <a:xfrm>
            <a:off x="812800" y="1127764"/>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2202F"/>
                </a:solidFill>
                <a:latin typeface="IBM Plex Sans" pitchFamily="34" charset="0"/>
                <a:ea typeface="IBM Plex Sans" pitchFamily="34" charset="-122"/>
                <a:cs typeface="IBM Plex Sans" pitchFamily="34" charset="-120"/>
              </a:rPr>
              <a:t>Home screen and interview settings</a:t>
            </a:r>
            <a:endParaRPr lang="en-US" sz="3200" dirty="0"/>
          </a:p>
        </p:txBody>
      </p:sp>
      <p:sp>
        <p:nvSpPr>
          <p:cNvPr id="4" name="Shape 2"/>
          <p:cNvSpPr/>
          <p:nvPr/>
        </p:nvSpPr>
        <p:spPr>
          <a:xfrm>
            <a:off x="812800" y="1879600"/>
            <a:ext cx="5181600" cy="2768600"/>
          </a:xfrm>
          <a:prstGeom prst="roundRect">
            <a:avLst>
              <a:gd name="adj" fmla="val 2752"/>
            </a:avLst>
          </a:prstGeom>
          <a:solidFill>
            <a:srgbClr val="0E1A2B"/>
          </a:solidFill>
          <a:ln/>
        </p:spPr>
      </p:sp>
      <p:pic>
        <p:nvPicPr>
          <p:cNvPr id="5" name="Image 0" descr="Home screen showing candidate profile and interview topic fields">    </p:cNvPr>
          <p:cNvPicPr>
            <a:picLocks noChangeAspect="1"/>
          </p:cNvPicPr>
          <p:nvPr/>
        </p:nvPicPr>
        <p:blipFill>
          <a:blip r:embed="rId1"/>
          <a:srcRect l="-113" r="-113" t="0" b="0"/>
          <a:stretch/>
        </p:blipFill>
        <p:spPr>
          <a:xfrm>
            <a:off x="819150" y="1885950"/>
            <a:ext cx="5168900" cy="2755900"/>
          </a:xfrm>
          <a:prstGeom prst="roundRect">
            <a:avLst>
              <a:gd name="adj" fmla="val 2535"/>
            </a:avLst>
          </a:prstGeom>
        </p:spPr>
      </p:pic>
      <p:sp>
        <p:nvSpPr>
          <p:cNvPr id="6" name="Shape 3"/>
          <p:cNvSpPr/>
          <p:nvPr/>
        </p:nvSpPr>
        <p:spPr>
          <a:xfrm>
            <a:off x="815975" y="1882775"/>
            <a:ext cx="5175250" cy="2762250"/>
          </a:xfrm>
          <a:prstGeom prst="roundRect">
            <a:avLst>
              <a:gd name="adj" fmla="val 2644"/>
            </a:avLst>
          </a:prstGeom>
          <a:noFill/>
          <a:ln w="6350">
            <a:solidFill>
              <a:srgbClr val="D5DCE3"/>
            </a:solidFill>
            <a:prstDash val="solid"/>
          </a:ln>
        </p:spPr>
      </p:sp>
      <p:sp>
        <p:nvSpPr>
          <p:cNvPr id="7" name="Text 4"/>
          <p:cNvSpPr/>
          <p:nvPr/>
        </p:nvSpPr>
        <p:spPr>
          <a:xfrm>
            <a:off x="812800" y="4749800"/>
            <a:ext cx="5337048"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B5A6B"/>
                </a:solidFill>
                <a:latin typeface="IBM Plex Sans" pitchFamily="34" charset="0"/>
                <a:ea typeface="IBM Plex Sans" pitchFamily="34" charset="-122"/>
                <a:cs typeface="IBM Plex Sans" pitchFamily="34" charset="-120"/>
              </a:rPr>
              <a:t>Fig. 5.1 · Candidate profile and interview topic</a:t>
            </a:r>
            <a:endParaRPr lang="en-US" sz="1300" dirty="0"/>
          </a:p>
        </p:txBody>
      </p:sp>
      <p:sp>
        <p:nvSpPr>
          <p:cNvPr id="8" name="Shape 5"/>
          <p:cNvSpPr/>
          <p:nvPr/>
        </p:nvSpPr>
        <p:spPr>
          <a:xfrm>
            <a:off x="6197600" y="1879600"/>
            <a:ext cx="5181600" cy="2768600"/>
          </a:xfrm>
          <a:prstGeom prst="roundRect">
            <a:avLst>
              <a:gd name="adj" fmla="val 2752"/>
            </a:avLst>
          </a:prstGeom>
          <a:solidFill>
            <a:srgbClr val="0E1A2B"/>
          </a:solidFill>
          <a:ln/>
        </p:spPr>
      </p:sp>
      <p:pic>
        <p:nvPicPr>
          <p:cNvPr id="9" name="Image 1" descr="Adaptive interview settings screen">    </p:cNvPr>
          <p:cNvPicPr>
            <a:picLocks noChangeAspect="1"/>
          </p:cNvPicPr>
          <p:nvPr/>
        </p:nvPicPr>
        <p:blipFill>
          <a:blip r:embed="rId2"/>
          <a:srcRect l="0" r="0" t="-16" b="-16"/>
          <a:stretch/>
        </p:blipFill>
        <p:spPr>
          <a:xfrm>
            <a:off x="6203950" y="1885950"/>
            <a:ext cx="5168900" cy="2755900"/>
          </a:xfrm>
          <a:prstGeom prst="roundRect">
            <a:avLst>
              <a:gd name="adj" fmla="val 2535"/>
            </a:avLst>
          </a:prstGeom>
        </p:spPr>
      </p:pic>
      <p:sp>
        <p:nvSpPr>
          <p:cNvPr id="10" name="Shape 6"/>
          <p:cNvSpPr/>
          <p:nvPr/>
        </p:nvSpPr>
        <p:spPr>
          <a:xfrm>
            <a:off x="6200775" y="1882775"/>
            <a:ext cx="5175250" cy="2762250"/>
          </a:xfrm>
          <a:prstGeom prst="roundRect">
            <a:avLst>
              <a:gd name="adj" fmla="val 2644"/>
            </a:avLst>
          </a:prstGeom>
          <a:noFill/>
          <a:ln w="6350">
            <a:solidFill>
              <a:srgbClr val="D5DCE3"/>
            </a:solidFill>
            <a:prstDash val="solid"/>
          </a:ln>
        </p:spPr>
      </p:sp>
      <p:sp>
        <p:nvSpPr>
          <p:cNvPr id="11" name="Text 7"/>
          <p:cNvSpPr/>
          <p:nvPr/>
        </p:nvSpPr>
        <p:spPr>
          <a:xfrm>
            <a:off x="6197600" y="4749800"/>
            <a:ext cx="5337048"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B5A6B"/>
                </a:solidFill>
                <a:latin typeface="IBM Plex Sans" pitchFamily="34" charset="0"/>
                <a:ea typeface="IBM Plex Sans" pitchFamily="34" charset="-122"/>
                <a:cs typeface="IBM Plex Sans" pitchFamily="34" charset="-120"/>
              </a:rPr>
              <a:t>Fig. 5.2 · Adaptive interview settings</a:t>
            </a:r>
            <a:endParaRPr lang="en-US" sz="1300" dirty="0"/>
          </a:p>
        </p:txBody>
      </p:sp>
      <p:sp>
        <p:nvSpPr>
          <p:cNvPr id="12" name="Text 8"/>
          <p:cNvSpPr/>
          <p:nvPr/>
        </p:nvSpPr>
        <p:spPr>
          <a:xfrm>
            <a:off x="812800" y="6238242"/>
            <a:ext cx="78486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786"/>
                </a:solidFill>
                <a:latin typeface="IBM Plex Sans" pitchFamily="34" charset="0"/>
                <a:ea typeface="IBM Plex Sans" pitchFamily="34" charset="-122"/>
                <a:cs typeface="IBM Plex Sans" pitchFamily="34" charset="-120"/>
              </a:rPr>
              <a:t>AI-Based Adaptive Interview Preparation System</a:t>
            </a:r>
            <a:endParaRPr lang="en-US" sz="1200" dirty="0"/>
          </a:p>
        </p:txBody>
      </p:sp>
      <p:sp>
        <p:nvSpPr>
          <p:cNvPr id="13" name="Text 9"/>
          <p:cNvSpPr/>
          <p:nvPr/>
        </p:nvSpPr>
        <p:spPr>
          <a:xfrm>
            <a:off x="10058400" y="6238242"/>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A7786"/>
                </a:solidFill>
                <a:latin typeface="IBM Plex Sans" pitchFamily="34" charset="0"/>
                <a:ea typeface="IBM Plex Sans" pitchFamily="34" charset="-122"/>
                <a:cs typeface="IBM Plex Sans" pitchFamily="34" charset="-120"/>
              </a:rPr>
              <a:t>12</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3F5F7"/>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0B7285"/>
                </a:solidFill>
                <a:latin typeface="JetBrains Mono" pitchFamily="49" charset="0"/>
                <a:ea typeface="JetBrains Mono" pitchFamily="49" charset="-122"/>
                <a:cs typeface="JetBrains Mono" pitchFamily="49" charset="-120"/>
              </a:rPr>
              <a:t>OUTPUT SCREENS</a:t>
            </a:r>
            <a:endParaRPr lang="en-US" sz="1200" dirty="0"/>
          </a:p>
        </p:txBody>
      </p:sp>
      <p:sp>
        <p:nvSpPr>
          <p:cNvPr id="3" name="Text 1"/>
          <p:cNvSpPr/>
          <p:nvPr>
            <p:ph type="title"/>
          </p:nvPr>
        </p:nvSpPr>
        <p:spPr>
          <a:xfrm>
            <a:off x="812800" y="1127764"/>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2202F"/>
                </a:solidFill>
                <a:latin typeface="IBM Plex Sans" pitchFamily="34" charset="0"/>
                <a:ea typeface="IBM Plex Sans" pitchFamily="34" charset="-122"/>
                <a:cs typeface="IBM Plex Sans" pitchFamily="34" charset="-120"/>
              </a:rPr>
              <a:t>Question screen and answer entry</a:t>
            </a:r>
            <a:endParaRPr lang="en-US" sz="3200" dirty="0"/>
          </a:p>
        </p:txBody>
      </p:sp>
      <p:sp>
        <p:nvSpPr>
          <p:cNvPr id="4" name="Shape 2"/>
          <p:cNvSpPr/>
          <p:nvPr/>
        </p:nvSpPr>
        <p:spPr>
          <a:xfrm>
            <a:off x="812800" y="1879600"/>
            <a:ext cx="5181600" cy="2768600"/>
          </a:xfrm>
          <a:prstGeom prst="roundRect">
            <a:avLst>
              <a:gd name="adj" fmla="val 2752"/>
            </a:avLst>
          </a:prstGeom>
          <a:solidFill>
            <a:srgbClr val="0E1A2B"/>
          </a:solidFill>
          <a:ln/>
        </p:spPr>
      </p:sp>
      <p:pic>
        <p:nvPicPr>
          <p:cNvPr id="5" name="Image 0" descr="Question screen showing the AI selection strategy used for the question">    </p:cNvPr>
          <p:cNvPicPr>
            <a:picLocks noChangeAspect="1"/>
          </p:cNvPicPr>
          <p:nvPr/>
        </p:nvPicPr>
        <p:blipFill>
          <a:blip r:embed="rId1"/>
          <a:srcRect l="-113" r="-113" t="0" b="0"/>
          <a:stretch/>
        </p:blipFill>
        <p:spPr>
          <a:xfrm>
            <a:off x="819150" y="1885950"/>
            <a:ext cx="5168900" cy="2755900"/>
          </a:xfrm>
          <a:prstGeom prst="roundRect">
            <a:avLst>
              <a:gd name="adj" fmla="val 2535"/>
            </a:avLst>
          </a:prstGeom>
        </p:spPr>
      </p:pic>
      <p:sp>
        <p:nvSpPr>
          <p:cNvPr id="6" name="Shape 3"/>
          <p:cNvSpPr/>
          <p:nvPr/>
        </p:nvSpPr>
        <p:spPr>
          <a:xfrm>
            <a:off x="815975" y="1882775"/>
            <a:ext cx="5175250" cy="2762250"/>
          </a:xfrm>
          <a:prstGeom prst="roundRect">
            <a:avLst>
              <a:gd name="adj" fmla="val 2644"/>
            </a:avLst>
          </a:prstGeom>
          <a:noFill/>
          <a:ln w="6350">
            <a:solidFill>
              <a:srgbClr val="D5DCE3"/>
            </a:solidFill>
            <a:prstDash val="solid"/>
          </a:ln>
        </p:spPr>
      </p:sp>
      <p:sp>
        <p:nvSpPr>
          <p:cNvPr id="7" name="Text 4"/>
          <p:cNvSpPr/>
          <p:nvPr/>
        </p:nvSpPr>
        <p:spPr>
          <a:xfrm>
            <a:off x="812800" y="4749800"/>
            <a:ext cx="5337048"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B5A6B"/>
                </a:solidFill>
                <a:latin typeface="IBM Plex Sans" pitchFamily="34" charset="0"/>
                <a:ea typeface="IBM Plex Sans" pitchFamily="34" charset="-122"/>
                <a:cs typeface="IBM Plex Sans" pitchFamily="34" charset="-120"/>
              </a:rPr>
              <a:t>Fig. 5.3 · Question with the AI selection strategy</a:t>
            </a:r>
            <a:endParaRPr lang="en-US" sz="1300" dirty="0"/>
          </a:p>
        </p:txBody>
      </p:sp>
      <p:sp>
        <p:nvSpPr>
          <p:cNvPr id="8" name="Shape 5"/>
          <p:cNvSpPr/>
          <p:nvPr/>
        </p:nvSpPr>
        <p:spPr>
          <a:xfrm>
            <a:off x="6197600" y="1879600"/>
            <a:ext cx="5181600" cy="2768600"/>
          </a:xfrm>
          <a:prstGeom prst="roundRect">
            <a:avLst>
              <a:gd name="adj" fmla="val 2752"/>
            </a:avLst>
          </a:prstGeom>
          <a:solidFill>
            <a:srgbClr val="0E1A2B"/>
          </a:solidFill>
          <a:ln/>
        </p:spPr>
      </p:sp>
      <p:pic>
        <p:nvPicPr>
          <p:cNvPr id="9" name="Image 1" descr="Answer entry and submission screen">    </p:cNvPr>
          <p:cNvPicPr>
            <a:picLocks noChangeAspect="1"/>
          </p:cNvPicPr>
          <p:nvPr/>
        </p:nvPicPr>
        <p:blipFill>
          <a:blip r:embed="rId2"/>
          <a:srcRect l="-113" r="-113" t="0" b="0"/>
          <a:stretch/>
        </p:blipFill>
        <p:spPr>
          <a:xfrm>
            <a:off x="6203950" y="1885950"/>
            <a:ext cx="5168900" cy="2755900"/>
          </a:xfrm>
          <a:prstGeom prst="roundRect">
            <a:avLst>
              <a:gd name="adj" fmla="val 2535"/>
            </a:avLst>
          </a:prstGeom>
        </p:spPr>
      </p:pic>
      <p:sp>
        <p:nvSpPr>
          <p:cNvPr id="10" name="Shape 6"/>
          <p:cNvSpPr/>
          <p:nvPr/>
        </p:nvSpPr>
        <p:spPr>
          <a:xfrm>
            <a:off x="6200775" y="1882775"/>
            <a:ext cx="5175250" cy="2762250"/>
          </a:xfrm>
          <a:prstGeom prst="roundRect">
            <a:avLst>
              <a:gd name="adj" fmla="val 2644"/>
            </a:avLst>
          </a:prstGeom>
          <a:noFill/>
          <a:ln w="6350">
            <a:solidFill>
              <a:srgbClr val="D5DCE3"/>
            </a:solidFill>
            <a:prstDash val="solid"/>
          </a:ln>
        </p:spPr>
      </p:sp>
      <p:sp>
        <p:nvSpPr>
          <p:cNvPr id="11" name="Text 7"/>
          <p:cNvSpPr/>
          <p:nvPr/>
        </p:nvSpPr>
        <p:spPr>
          <a:xfrm>
            <a:off x="6197600" y="4749800"/>
            <a:ext cx="5337048"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B5A6B"/>
                </a:solidFill>
                <a:latin typeface="IBM Plex Sans" pitchFamily="34" charset="0"/>
                <a:ea typeface="IBM Plex Sans" pitchFamily="34" charset="-122"/>
                <a:cs typeface="IBM Plex Sans" pitchFamily="34" charset="-120"/>
              </a:rPr>
              <a:t>Fig. 5.4 · Answer entry and submission</a:t>
            </a:r>
            <a:endParaRPr lang="en-US" sz="1300" dirty="0"/>
          </a:p>
        </p:txBody>
      </p:sp>
      <p:sp>
        <p:nvSpPr>
          <p:cNvPr id="12" name="Text 8"/>
          <p:cNvSpPr/>
          <p:nvPr/>
        </p:nvSpPr>
        <p:spPr>
          <a:xfrm>
            <a:off x="812800" y="6238242"/>
            <a:ext cx="78486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786"/>
                </a:solidFill>
                <a:latin typeface="IBM Plex Sans" pitchFamily="34" charset="0"/>
                <a:ea typeface="IBM Plex Sans" pitchFamily="34" charset="-122"/>
                <a:cs typeface="IBM Plex Sans" pitchFamily="34" charset="-120"/>
              </a:rPr>
              <a:t>AI-Based Adaptive Interview Preparation System</a:t>
            </a:r>
            <a:endParaRPr lang="en-US" sz="1200" dirty="0"/>
          </a:p>
        </p:txBody>
      </p:sp>
      <p:sp>
        <p:nvSpPr>
          <p:cNvPr id="13" name="Text 9"/>
          <p:cNvSpPr/>
          <p:nvPr/>
        </p:nvSpPr>
        <p:spPr>
          <a:xfrm>
            <a:off x="10058400" y="6238242"/>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A7786"/>
                </a:solidFill>
                <a:latin typeface="IBM Plex Sans" pitchFamily="34" charset="0"/>
                <a:ea typeface="IBM Plex Sans" pitchFamily="34" charset="-122"/>
                <a:cs typeface="IBM Plex Sans" pitchFamily="34" charset="-120"/>
              </a:rPr>
              <a:t>13</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E1A2B"/>
        </a:solidFill>
      </p:bgPr>
    </p:bg>
    <p:spTree>
      <p:nvGrpSpPr>
        <p:cNvPr id="1" name=""/>
        <p:cNvGrpSpPr/>
        <p:nvPr/>
      </p:nvGrpSpPr>
      <p:grpSpPr>
        <a:xfrm>
          <a:off x="0" y="0"/>
          <a:ext cx="0" cy="0"/>
          <a:chOff x="0" y="0"/>
          <a:chExt cx="0" cy="0"/>
        </a:xfrm>
      </p:grpSpPr>
      <p:sp>
        <p:nvSpPr>
          <p:cNvPr id="2" name="Text 0"/>
          <p:cNvSpPr/>
          <p:nvPr/>
        </p:nvSpPr>
        <p:spPr>
          <a:xfrm>
            <a:off x="812800" y="812800"/>
            <a:ext cx="10883392" cy="233442"/>
          </a:xfrm>
          <a:prstGeom prst="rect">
            <a:avLst/>
          </a:prstGeom>
          <a:noFill/>
          <a:ln/>
        </p:spPr>
        <p:txBody>
          <a:bodyPr wrap="square" lIns="0" tIns="0" rIns="0" bIns="0" rtlCol="0" anchor="t">
            <a:normAutofit/>
          </a:bodyPr>
          <a:lstStyle/>
          <a:p>
            <a:pPr algn="l" indent="0" marL="0">
              <a:lnSpc>
                <a:spcPts val="1675"/>
              </a:lnSpc>
              <a:buNone/>
            </a:pPr>
            <a:r>
              <a:rPr lang="en-US" sz="1196" spc="100" kern="0" dirty="0">
                <a:solidFill>
                  <a:srgbClr val="3CC8E0"/>
                </a:solidFill>
                <a:latin typeface="JetBrains Mono" pitchFamily="49" charset="0"/>
                <a:ea typeface="JetBrains Mono" pitchFamily="49" charset="-122"/>
                <a:cs typeface="JetBrains Mono" pitchFamily="49" charset="-120"/>
              </a:rPr>
              <a:t>OUTPUT SCREENS</a:t>
            </a:r>
            <a:endParaRPr lang="en-US" sz="1196" dirty="0"/>
          </a:p>
        </p:txBody>
      </p:sp>
      <p:sp>
        <p:nvSpPr>
          <p:cNvPr id="3" name="Text 1"/>
          <p:cNvSpPr/>
          <p:nvPr>
            <p:ph type="title"/>
          </p:nvPr>
        </p:nvSpPr>
        <p:spPr>
          <a:xfrm>
            <a:off x="812800" y="1122443"/>
            <a:ext cx="10883392" cy="461328"/>
          </a:xfrm>
          <a:prstGeom prst="rect">
            <a:avLst/>
          </a:prstGeom>
          <a:noFill/>
          <a:ln/>
        </p:spPr>
        <p:txBody>
          <a:bodyPr wrap="square" lIns="0" tIns="0" rIns="0" bIns="0" rtlCol="0" anchor="t">
            <a:normAutofit/>
          </a:bodyPr>
          <a:lstStyle/>
          <a:p>
            <a:pPr algn="l" indent="0" marL="0">
              <a:lnSpc>
                <a:spcPts val="3465"/>
              </a:lnSpc>
              <a:buNone/>
            </a:pPr>
            <a:r>
              <a:rPr lang="en-US" sz="3150" b="1" i="0" dirty="0">
                <a:solidFill>
                  <a:srgbClr val="F3F5F7"/>
                </a:solidFill>
                <a:latin typeface="IBM Plex Sans" pitchFamily="34" charset="0"/>
                <a:ea typeface="IBM Plex Sans" pitchFamily="34" charset="-122"/>
                <a:cs typeface="IBM Plex Sans" pitchFamily="34" charset="-120"/>
              </a:rPr>
              <a:t>Evaluation and inference trace</a:t>
            </a:r>
            <a:endParaRPr lang="en-US" sz="3150" dirty="0"/>
          </a:p>
        </p:txBody>
      </p:sp>
      <p:sp>
        <p:nvSpPr>
          <p:cNvPr id="4" name="Shape 2"/>
          <p:cNvSpPr/>
          <p:nvPr/>
        </p:nvSpPr>
        <p:spPr>
          <a:xfrm>
            <a:off x="812800" y="1819356"/>
            <a:ext cx="6985000" cy="3733800"/>
          </a:xfrm>
          <a:prstGeom prst="roundRect">
            <a:avLst>
              <a:gd name="adj" fmla="val 2041"/>
            </a:avLst>
          </a:prstGeom>
          <a:solidFill>
            <a:srgbClr val="0A1320"/>
          </a:solidFill>
          <a:ln/>
        </p:spPr>
      </p:sp>
      <p:pic>
        <p:nvPicPr>
          <p:cNvPr id="5" name="Image 0" descr="Evaluation screen with score, keyword analysis and propositional logic inference trace">    </p:cNvPr>
          <p:cNvPicPr>
            <a:picLocks noChangeAspect="1"/>
          </p:cNvPicPr>
          <p:nvPr/>
        </p:nvPicPr>
        <p:blipFill>
          <a:blip r:embed="rId1"/>
          <a:srcRect l="-63" r="-63" t="0" b="0"/>
          <a:stretch/>
        </p:blipFill>
        <p:spPr>
          <a:xfrm>
            <a:off x="819150" y="1825706"/>
            <a:ext cx="6972300" cy="3721100"/>
          </a:xfrm>
          <a:prstGeom prst="roundRect">
            <a:avLst>
              <a:gd name="adj" fmla="val 1877"/>
            </a:avLst>
          </a:prstGeom>
        </p:spPr>
      </p:pic>
      <p:sp>
        <p:nvSpPr>
          <p:cNvPr id="6" name="Shape 3"/>
          <p:cNvSpPr/>
          <p:nvPr/>
        </p:nvSpPr>
        <p:spPr>
          <a:xfrm>
            <a:off x="815975" y="1822531"/>
            <a:ext cx="6978650" cy="3727450"/>
          </a:xfrm>
          <a:prstGeom prst="roundRect">
            <a:avLst>
              <a:gd name="adj" fmla="val 1959"/>
            </a:avLst>
          </a:prstGeom>
          <a:noFill/>
          <a:ln w="6350">
            <a:solidFill>
              <a:srgbClr val="26405E"/>
            </a:solidFill>
            <a:prstDash val="solid"/>
          </a:ln>
        </p:spPr>
      </p:sp>
      <p:sp>
        <p:nvSpPr>
          <p:cNvPr id="7" name="Text 4"/>
          <p:cNvSpPr/>
          <p:nvPr/>
        </p:nvSpPr>
        <p:spPr>
          <a:xfrm>
            <a:off x="812800" y="5654756"/>
            <a:ext cx="7194550"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A9BDD3"/>
                </a:solidFill>
                <a:latin typeface="IBM Plex Sans" pitchFamily="34" charset="0"/>
                <a:ea typeface="IBM Plex Sans" pitchFamily="34" charset="-122"/>
                <a:cs typeface="IBM Plex Sans" pitchFamily="34" charset="-120"/>
              </a:rPr>
              <a:t>Fig. 5.5 · Evaluation and propositional logic inference trace</a:t>
            </a:r>
            <a:endParaRPr lang="en-US" sz="1300" dirty="0"/>
          </a:p>
        </p:txBody>
      </p:sp>
      <p:sp>
        <p:nvSpPr>
          <p:cNvPr id="8" name="Shape 5"/>
          <p:cNvSpPr/>
          <p:nvPr/>
        </p:nvSpPr>
        <p:spPr>
          <a:xfrm>
            <a:off x="8115300" y="3187067"/>
            <a:ext cx="0" cy="243840"/>
          </a:xfrm>
          <a:prstGeom prst="line">
            <a:avLst/>
          </a:prstGeom>
          <a:noFill/>
          <a:ln w="25400">
            <a:solidFill>
              <a:srgbClr val="3CC8E0"/>
            </a:solidFill>
            <a:prstDash val="solid"/>
          </a:ln>
        </p:spPr>
      </p:sp>
      <p:sp>
        <p:nvSpPr>
          <p:cNvPr id="9" name="Text 6"/>
          <p:cNvSpPr/>
          <p:nvPr/>
        </p:nvSpPr>
        <p:spPr>
          <a:xfrm>
            <a:off x="8280400" y="3187067"/>
            <a:ext cx="3191764"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3F5F7"/>
                </a:solidFill>
                <a:latin typeface="IBM Plex Sans" pitchFamily="34" charset="0"/>
                <a:ea typeface="IBM Plex Sans" pitchFamily="34" charset="-122"/>
                <a:cs typeface="IBM Plex Sans" pitchFamily="34" charset="-120"/>
              </a:rPr>
              <a:t>Score out of 100</a:t>
            </a:r>
            <a:endParaRPr lang="en-US" sz="1600" dirty="0"/>
          </a:p>
        </p:txBody>
      </p:sp>
      <p:sp>
        <p:nvSpPr>
          <p:cNvPr id="10" name="Shape 7"/>
          <p:cNvSpPr/>
          <p:nvPr/>
        </p:nvSpPr>
        <p:spPr>
          <a:xfrm>
            <a:off x="8115300" y="3608704"/>
            <a:ext cx="0" cy="487680"/>
          </a:xfrm>
          <a:prstGeom prst="line">
            <a:avLst/>
          </a:prstGeom>
          <a:noFill/>
          <a:ln w="25400">
            <a:solidFill>
              <a:srgbClr val="3CC8E0"/>
            </a:solidFill>
            <a:prstDash val="solid"/>
          </a:ln>
        </p:spPr>
      </p:sp>
      <p:sp>
        <p:nvSpPr>
          <p:cNvPr id="11" name="Text 8"/>
          <p:cNvSpPr/>
          <p:nvPr/>
        </p:nvSpPr>
        <p:spPr>
          <a:xfrm>
            <a:off x="8280400" y="3608704"/>
            <a:ext cx="3191764" cy="5130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3F5F7"/>
                </a:solidFill>
                <a:latin typeface="IBM Plex Sans" pitchFamily="34" charset="0"/>
                <a:ea typeface="IBM Plex Sans" pitchFamily="34" charset="-122"/>
                <a:cs typeface="IBM Plex Sans" pitchFamily="34" charset="-120"/>
              </a:rPr>
              <a:t>Concepts mentioned and omitted</a:t>
            </a:r>
            <a:endParaRPr lang="en-US" sz="1600" dirty="0"/>
          </a:p>
        </p:txBody>
      </p:sp>
      <p:sp>
        <p:nvSpPr>
          <p:cNvPr id="12" name="Shape 9"/>
          <p:cNvSpPr/>
          <p:nvPr/>
        </p:nvSpPr>
        <p:spPr>
          <a:xfrm>
            <a:off x="8115300" y="4274189"/>
            <a:ext cx="0" cy="243840"/>
          </a:xfrm>
          <a:prstGeom prst="line">
            <a:avLst/>
          </a:prstGeom>
          <a:noFill/>
          <a:ln w="25400">
            <a:solidFill>
              <a:srgbClr val="F5B041"/>
            </a:solidFill>
            <a:prstDash val="solid"/>
          </a:ln>
        </p:spPr>
      </p:sp>
      <p:sp>
        <p:nvSpPr>
          <p:cNvPr id="13" name="Text 10"/>
          <p:cNvSpPr/>
          <p:nvPr/>
        </p:nvSpPr>
        <p:spPr>
          <a:xfrm>
            <a:off x="8280400" y="4274189"/>
            <a:ext cx="3191764"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3F5F7"/>
                </a:solidFill>
                <a:latin typeface="IBM Plex Sans" pitchFamily="34" charset="0"/>
                <a:ea typeface="IBM Plex Sans" pitchFamily="34" charset="-122"/>
                <a:cs typeface="IBM Plex Sans" pitchFamily="34" charset="-120"/>
              </a:rPr>
              <a:t>Logic inference trace</a:t>
            </a:r>
            <a:endParaRPr lang="en-US" sz="1600" dirty="0"/>
          </a:p>
        </p:txBody>
      </p:sp>
      <p:sp>
        <p:nvSpPr>
          <p:cNvPr id="14" name="Text 11"/>
          <p:cNvSpPr/>
          <p:nvPr/>
        </p:nvSpPr>
        <p:spPr>
          <a:xfrm>
            <a:off x="812800" y="6238242"/>
            <a:ext cx="78486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F96AF"/>
                </a:solidFill>
                <a:latin typeface="IBM Plex Sans" pitchFamily="34" charset="0"/>
                <a:ea typeface="IBM Plex Sans" pitchFamily="34" charset="-122"/>
                <a:cs typeface="IBM Plex Sans" pitchFamily="34" charset="-120"/>
              </a:rPr>
              <a:t>AI-Based Adaptive Interview Preparation System</a:t>
            </a:r>
            <a:endParaRPr lang="en-US" sz="1200" dirty="0"/>
          </a:p>
        </p:txBody>
      </p:sp>
      <p:sp>
        <p:nvSpPr>
          <p:cNvPr id="15" name="Text 12"/>
          <p:cNvSpPr/>
          <p:nvPr/>
        </p:nvSpPr>
        <p:spPr>
          <a:xfrm>
            <a:off x="10058400" y="6238242"/>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7F96AF"/>
                </a:solidFill>
                <a:latin typeface="IBM Plex Sans" pitchFamily="34" charset="0"/>
                <a:ea typeface="IBM Plex Sans" pitchFamily="34" charset="-122"/>
                <a:cs typeface="IBM Plex Sans" pitchFamily="34" charset="-120"/>
              </a:rPr>
              <a:t>14</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E1A2B"/>
        </a:solidFill>
      </p:bgPr>
    </p:bg>
    <p:spTree>
      <p:nvGrpSpPr>
        <p:cNvPr id="1" name=""/>
        <p:cNvGrpSpPr/>
        <p:nvPr/>
      </p:nvGrpSpPr>
      <p:grpSpPr>
        <a:xfrm>
          <a:off x="0" y="0"/>
          <a:ext cx="0" cy="0"/>
          <a:chOff x="0" y="0"/>
          <a:chExt cx="0" cy="0"/>
        </a:xfrm>
      </p:grpSpPr>
      <p:sp>
        <p:nvSpPr>
          <p:cNvPr id="2" name="Text 0"/>
          <p:cNvSpPr/>
          <p:nvPr/>
        </p:nvSpPr>
        <p:spPr>
          <a:xfrm>
            <a:off x="812800" y="812800"/>
            <a:ext cx="10883392" cy="233442"/>
          </a:xfrm>
          <a:prstGeom prst="rect">
            <a:avLst/>
          </a:prstGeom>
          <a:noFill/>
          <a:ln/>
        </p:spPr>
        <p:txBody>
          <a:bodyPr wrap="square" lIns="0" tIns="0" rIns="0" bIns="0" rtlCol="0" anchor="t">
            <a:normAutofit/>
          </a:bodyPr>
          <a:lstStyle/>
          <a:p>
            <a:pPr algn="l" indent="0" marL="0">
              <a:lnSpc>
                <a:spcPts val="1675"/>
              </a:lnSpc>
              <a:buNone/>
            </a:pPr>
            <a:r>
              <a:rPr lang="en-US" sz="1196" spc="100" kern="0" dirty="0">
                <a:solidFill>
                  <a:srgbClr val="3CC8E0"/>
                </a:solidFill>
                <a:latin typeface="JetBrains Mono" pitchFamily="49" charset="0"/>
                <a:ea typeface="JetBrains Mono" pitchFamily="49" charset="-122"/>
                <a:cs typeface="JetBrains Mono" pitchFamily="49" charset="-120"/>
              </a:rPr>
              <a:t>OUTPUT SCREENS</a:t>
            </a:r>
            <a:endParaRPr lang="en-US" sz="1196" dirty="0"/>
          </a:p>
        </p:txBody>
      </p:sp>
      <p:sp>
        <p:nvSpPr>
          <p:cNvPr id="3" name="Text 1"/>
          <p:cNvSpPr/>
          <p:nvPr>
            <p:ph type="title"/>
          </p:nvPr>
        </p:nvSpPr>
        <p:spPr>
          <a:xfrm>
            <a:off x="812800" y="1122443"/>
            <a:ext cx="10883392" cy="461328"/>
          </a:xfrm>
          <a:prstGeom prst="rect">
            <a:avLst/>
          </a:prstGeom>
          <a:noFill/>
          <a:ln/>
        </p:spPr>
        <p:txBody>
          <a:bodyPr wrap="square" lIns="0" tIns="0" rIns="0" bIns="0" rtlCol="0" anchor="t">
            <a:normAutofit/>
          </a:bodyPr>
          <a:lstStyle/>
          <a:p>
            <a:pPr algn="l" indent="0" marL="0">
              <a:lnSpc>
                <a:spcPts val="3465"/>
              </a:lnSpc>
              <a:buNone/>
            </a:pPr>
            <a:r>
              <a:rPr lang="en-US" sz="3150" b="1" i="0" dirty="0">
                <a:solidFill>
                  <a:srgbClr val="F3F5F7"/>
                </a:solidFill>
                <a:latin typeface="IBM Plex Sans" pitchFamily="34" charset="0"/>
                <a:ea typeface="IBM Plex Sans" pitchFamily="34" charset="-122"/>
                <a:cs typeface="IBM Plex Sans" pitchFamily="34" charset="-120"/>
              </a:rPr>
              <a:t>Final technical assessment report</a:t>
            </a:r>
            <a:endParaRPr lang="en-US" sz="3150" dirty="0"/>
          </a:p>
        </p:txBody>
      </p:sp>
      <p:sp>
        <p:nvSpPr>
          <p:cNvPr id="4" name="Shape 2"/>
          <p:cNvSpPr/>
          <p:nvPr/>
        </p:nvSpPr>
        <p:spPr>
          <a:xfrm>
            <a:off x="812800" y="1819356"/>
            <a:ext cx="6985000" cy="3733800"/>
          </a:xfrm>
          <a:prstGeom prst="roundRect">
            <a:avLst>
              <a:gd name="adj" fmla="val 2041"/>
            </a:avLst>
          </a:prstGeom>
          <a:solidFill>
            <a:srgbClr val="0A1320"/>
          </a:solidFill>
          <a:ln/>
        </p:spPr>
      </p:sp>
      <p:pic>
        <p:nvPicPr>
          <p:cNvPr id="5" name="Image 0" descr="Final technical assessment report with overall mastery and subtopic performance">    </p:cNvPr>
          <p:cNvPicPr>
            <a:picLocks noChangeAspect="1"/>
          </p:cNvPicPr>
          <p:nvPr/>
        </p:nvPicPr>
        <p:blipFill>
          <a:blip r:embed="rId1"/>
          <a:srcRect l="-63" r="-63" t="0" b="0"/>
          <a:stretch/>
        </p:blipFill>
        <p:spPr>
          <a:xfrm>
            <a:off x="819150" y="1825706"/>
            <a:ext cx="6972300" cy="3721100"/>
          </a:xfrm>
          <a:prstGeom prst="roundRect">
            <a:avLst>
              <a:gd name="adj" fmla="val 1877"/>
            </a:avLst>
          </a:prstGeom>
        </p:spPr>
      </p:pic>
      <p:sp>
        <p:nvSpPr>
          <p:cNvPr id="6" name="Shape 3"/>
          <p:cNvSpPr/>
          <p:nvPr/>
        </p:nvSpPr>
        <p:spPr>
          <a:xfrm>
            <a:off x="815975" y="1822531"/>
            <a:ext cx="6978650" cy="3727450"/>
          </a:xfrm>
          <a:prstGeom prst="roundRect">
            <a:avLst>
              <a:gd name="adj" fmla="val 1959"/>
            </a:avLst>
          </a:prstGeom>
          <a:noFill/>
          <a:ln w="6350">
            <a:solidFill>
              <a:srgbClr val="26405E"/>
            </a:solidFill>
            <a:prstDash val="solid"/>
          </a:ln>
        </p:spPr>
      </p:sp>
      <p:sp>
        <p:nvSpPr>
          <p:cNvPr id="7" name="Text 4"/>
          <p:cNvSpPr/>
          <p:nvPr/>
        </p:nvSpPr>
        <p:spPr>
          <a:xfrm>
            <a:off x="812800" y="5654756"/>
            <a:ext cx="7194550"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A9BDD3"/>
                </a:solidFill>
                <a:latin typeface="IBM Plex Sans" pitchFamily="34" charset="0"/>
                <a:ea typeface="IBM Plex Sans" pitchFamily="34" charset="-122"/>
                <a:cs typeface="IBM Plex Sans" pitchFamily="34" charset="-120"/>
              </a:rPr>
              <a:t>Fig. 5.6 · Final technical assessment report</a:t>
            </a:r>
            <a:endParaRPr lang="en-US" sz="1300" dirty="0"/>
          </a:p>
        </p:txBody>
      </p:sp>
      <p:sp>
        <p:nvSpPr>
          <p:cNvPr id="8" name="Shape 5"/>
          <p:cNvSpPr/>
          <p:nvPr/>
        </p:nvSpPr>
        <p:spPr>
          <a:xfrm>
            <a:off x="8115300" y="3098167"/>
            <a:ext cx="0" cy="243840"/>
          </a:xfrm>
          <a:prstGeom prst="line">
            <a:avLst/>
          </a:prstGeom>
          <a:noFill/>
          <a:ln w="25400">
            <a:solidFill>
              <a:srgbClr val="3CC8E0"/>
            </a:solidFill>
            <a:prstDash val="solid"/>
          </a:ln>
        </p:spPr>
      </p:sp>
      <p:sp>
        <p:nvSpPr>
          <p:cNvPr id="9" name="Text 6"/>
          <p:cNvSpPr/>
          <p:nvPr/>
        </p:nvSpPr>
        <p:spPr>
          <a:xfrm>
            <a:off x="8280400" y="3098167"/>
            <a:ext cx="3191764"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3F5F7"/>
                </a:solidFill>
                <a:latin typeface="IBM Plex Sans" pitchFamily="34" charset="0"/>
                <a:ea typeface="IBM Plex Sans" pitchFamily="34" charset="-122"/>
                <a:cs typeface="IBM Plex Sans" pitchFamily="34" charset="-120"/>
              </a:rPr>
              <a:t>Overall mastery</a:t>
            </a:r>
            <a:endParaRPr lang="en-US" sz="1600" dirty="0"/>
          </a:p>
        </p:txBody>
      </p:sp>
      <p:sp>
        <p:nvSpPr>
          <p:cNvPr id="10" name="Shape 7"/>
          <p:cNvSpPr/>
          <p:nvPr/>
        </p:nvSpPr>
        <p:spPr>
          <a:xfrm>
            <a:off x="8115300" y="3519804"/>
            <a:ext cx="0" cy="243840"/>
          </a:xfrm>
          <a:prstGeom prst="line">
            <a:avLst/>
          </a:prstGeom>
          <a:noFill/>
          <a:ln w="25400">
            <a:solidFill>
              <a:srgbClr val="3CC8E0"/>
            </a:solidFill>
            <a:prstDash val="solid"/>
          </a:ln>
        </p:spPr>
      </p:sp>
      <p:sp>
        <p:nvSpPr>
          <p:cNvPr id="11" name="Text 8"/>
          <p:cNvSpPr/>
          <p:nvPr/>
        </p:nvSpPr>
        <p:spPr>
          <a:xfrm>
            <a:off x="8280400" y="3519804"/>
            <a:ext cx="3191764"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3F5F7"/>
                </a:solidFill>
                <a:latin typeface="IBM Plex Sans" pitchFamily="34" charset="0"/>
                <a:ea typeface="IBM Plex Sans" pitchFamily="34" charset="-122"/>
                <a:cs typeface="IBM Plex Sans" pitchFamily="34" charset="-120"/>
              </a:rPr>
              <a:t>Subtopic performance</a:t>
            </a:r>
            <a:endParaRPr lang="en-US" sz="1600" dirty="0"/>
          </a:p>
        </p:txBody>
      </p:sp>
      <p:sp>
        <p:nvSpPr>
          <p:cNvPr id="12" name="Shape 9"/>
          <p:cNvSpPr/>
          <p:nvPr/>
        </p:nvSpPr>
        <p:spPr>
          <a:xfrm>
            <a:off x="8115300" y="3941446"/>
            <a:ext cx="0" cy="243840"/>
          </a:xfrm>
          <a:prstGeom prst="line">
            <a:avLst/>
          </a:prstGeom>
          <a:noFill/>
          <a:ln w="25400">
            <a:solidFill>
              <a:srgbClr val="F5B041"/>
            </a:solidFill>
            <a:prstDash val="solid"/>
          </a:ln>
        </p:spPr>
      </p:sp>
      <p:sp>
        <p:nvSpPr>
          <p:cNvPr id="13" name="Text 10"/>
          <p:cNvSpPr/>
          <p:nvPr/>
        </p:nvSpPr>
        <p:spPr>
          <a:xfrm>
            <a:off x="8280400" y="3941446"/>
            <a:ext cx="3191764"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3F5F7"/>
                </a:solidFill>
                <a:latin typeface="IBM Plex Sans" pitchFamily="34" charset="0"/>
                <a:ea typeface="IBM Plex Sans" pitchFamily="34" charset="-122"/>
                <a:cs typeface="IBM Plex Sans" pitchFamily="34" charset="-120"/>
              </a:rPr>
              <a:t>Recommended revision areas</a:t>
            </a:r>
            <a:endParaRPr lang="en-US" sz="1600" dirty="0"/>
          </a:p>
        </p:txBody>
      </p:sp>
      <p:sp>
        <p:nvSpPr>
          <p:cNvPr id="14" name="Shape 11"/>
          <p:cNvSpPr/>
          <p:nvPr/>
        </p:nvSpPr>
        <p:spPr>
          <a:xfrm>
            <a:off x="8115300" y="4363089"/>
            <a:ext cx="0" cy="243840"/>
          </a:xfrm>
          <a:prstGeom prst="line">
            <a:avLst/>
          </a:prstGeom>
          <a:noFill/>
          <a:ln w="25400">
            <a:solidFill>
              <a:srgbClr val="F5B041"/>
            </a:solidFill>
            <a:prstDash val="solid"/>
          </a:ln>
        </p:spPr>
      </p:sp>
      <p:sp>
        <p:nvSpPr>
          <p:cNvPr id="15" name="Text 12"/>
          <p:cNvSpPr/>
          <p:nvPr/>
        </p:nvSpPr>
        <p:spPr>
          <a:xfrm>
            <a:off x="8280400" y="4363089"/>
            <a:ext cx="3191764"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3F5F7"/>
                </a:solidFill>
                <a:latin typeface="IBM Plex Sans" pitchFamily="34" charset="0"/>
                <a:ea typeface="IBM Plex Sans" pitchFamily="34" charset="-122"/>
                <a:cs typeface="IBM Plex Sans" pitchFamily="34" charset="-120"/>
              </a:rPr>
              <a:t>Algorithm trace</a:t>
            </a:r>
            <a:endParaRPr lang="en-US" sz="1600" dirty="0"/>
          </a:p>
        </p:txBody>
      </p:sp>
      <p:sp>
        <p:nvSpPr>
          <p:cNvPr id="16" name="Text 13"/>
          <p:cNvSpPr/>
          <p:nvPr/>
        </p:nvSpPr>
        <p:spPr>
          <a:xfrm>
            <a:off x="812800" y="6238242"/>
            <a:ext cx="78486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F96AF"/>
                </a:solidFill>
                <a:latin typeface="IBM Plex Sans" pitchFamily="34" charset="0"/>
                <a:ea typeface="IBM Plex Sans" pitchFamily="34" charset="-122"/>
                <a:cs typeface="IBM Plex Sans" pitchFamily="34" charset="-120"/>
              </a:rPr>
              <a:t>AI-Based Adaptive Interview Preparation System</a:t>
            </a:r>
            <a:endParaRPr lang="en-US" sz="1200" dirty="0"/>
          </a:p>
        </p:txBody>
      </p:sp>
      <p:sp>
        <p:nvSpPr>
          <p:cNvPr id="17" name="Text 14"/>
          <p:cNvSpPr/>
          <p:nvPr/>
        </p:nvSpPr>
        <p:spPr>
          <a:xfrm>
            <a:off x="10058400" y="6238242"/>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7F96AF"/>
                </a:solidFill>
                <a:latin typeface="IBM Plex Sans" pitchFamily="34" charset="0"/>
                <a:ea typeface="IBM Plex Sans" pitchFamily="34" charset="-122"/>
                <a:cs typeface="IBM Plex Sans" pitchFamily="34" charset="-120"/>
              </a:rPr>
              <a:t>15</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3F5F7"/>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0B7285"/>
                </a:solidFill>
                <a:latin typeface="JetBrains Mono" pitchFamily="49" charset="0"/>
                <a:ea typeface="JetBrains Mono" pitchFamily="49" charset="-122"/>
                <a:cs typeface="JetBrains Mono" pitchFamily="49" charset="-120"/>
              </a:rPr>
              <a:t>OUTPUT SCREENS</a:t>
            </a:r>
            <a:endParaRPr lang="en-US" sz="1200" dirty="0"/>
          </a:p>
        </p:txBody>
      </p:sp>
      <p:sp>
        <p:nvSpPr>
          <p:cNvPr id="3" name="Text 1"/>
          <p:cNvSpPr/>
          <p:nvPr>
            <p:ph type="title"/>
          </p:nvPr>
        </p:nvSpPr>
        <p:spPr>
          <a:xfrm>
            <a:off x="812800" y="1127764"/>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2202F"/>
                </a:solidFill>
                <a:latin typeface="IBM Plex Sans" pitchFamily="34" charset="0"/>
                <a:ea typeface="IBM Plex Sans" pitchFamily="34" charset="-122"/>
                <a:cs typeface="IBM Plex Sans" pitchFamily="34" charset="-120"/>
              </a:rPr>
              <a:t>Weak areas and algorithm showcase</a:t>
            </a:r>
            <a:endParaRPr lang="en-US" sz="3200" dirty="0"/>
          </a:p>
        </p:txBody>
      </p:sp>
      <p:sp>
        <p:nvSpPr>
          <p:cNvPr id="4" name="Shape 2"/>
          <p:cNvSpPr/>
          <p:nvPr/>
        </p:nvSpPr>
        <p:spPr>
          <a:xfrm>
            <a:off x="812800" y="1879600"/>
            <a:ext cx="5181600" cy="2730500"/>
          </a:xfrm>
          <a:prstGeom prst="roundRect">
            <a:avLst>
              <a:gd name="adj" fmla="val 2791"/>
            </a:avLst>
          </a:prstGeom>
          <a:solidFill>
            <a:srgbClr val="0E1A2B"/>
          </a:solidFill>
          <a:ln/>
        </p:spPr>
      </p:sp>
      <p:pic>
        <p:nvPicPr>
          <p:cNvPr id="5" name="Image 0" descr="Targeted revision screen listing weak areas with assessed mastery">    </p:cNvPr>
          <p:cNvPicPr>
            <a:picLocks noChangeAspect="1"/>
          </p:cNvPicPr>
          <p:nvPr/>
        </p:nvPicPr>
        <p:blipFill>
          <a:blip r:embed="rId1"/>
          <a:srcRect l="-19" r="-19" t="0" b="0"/>
          <a:stretch/>
        </p:blipFill>
        <p:spPr>
          <a:xfrm>
            <a:off x="819150" y="1885950"/>
            <a:ext cx="5168900" cy="2717800"/>
          </a:xfrm>
          <a:prstGeom prst="roundRect">
            <a:avLst>
              <a:gd name="adj" fmla="val 2570"/>
            </a:avLst>
          </a:prstGeom>
        </p:spPr>
      </p:pic>
      <p:sp>
        <p:nvSpPr>
          <p:cNvPr id="6" name="Shape 3"/>
          <p:cNvSpPr/>
          <p:nvPr/>
        </p:nvSpPr>
        <p:spPr>
          <a:xfrm>
            <a:off x="815975" y="1882775"/>
            <a:ext cx="5175250" cy="2724150"/>
          </a:xfrm>
          <a:prstGeom prst="roundRect">
            <a:avLst>
              <a:gd name="adj" fmla="val 2681"/>
            </a:avLst>
          </a:prstGeom>
          <a:noFill/>
          <a:ln w="6350">
            <a:solidFill>
              <a:srgbClr val="D5DCE3"/>
            </a:solidFill>
            <a:prstDash val="solid"/>
          </a:ln>
        </p:spPr>
      </p:sp>
      <p:sp>
        <p:nvSpPr>
          <p:cNvPr id="7" name="Text 4"/>
          <p:cNvSpPr/>
          <p:nvPr/>
        </p:nvSpPr>
        <p:spPr>
          <a:xfrm>
            <a:off x="812800" y="4711700"/>
            <a:ext cx="5337048"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B5A6B"/>
                </a:solidFill>
                <a:latin typeface="IBM Plex Sans" pitchFamily="34" charset="0"/>
                <a:ea typeface="IBM Plex Sans" pitchFamily="34" charset="-122"/>
                <a:cs typeface="IBM Plex Sans" pitchFamily="34" charset="-120"/>
              </a:rPr>
              <a:t>Fig. 5.7 · Targeted revision and weak areas</a:t>
            </a:r>
            <a:endParaRPr lang="en-US" sz="1300" dirty="0"/>
          </a:p>
        </p:txBody>
      </p:sp>
      <p:sp>
        <p:nvSpPr>
          <p:cNvPr id="8" name="Shape 5"/>
          <p:cNvSpPr/>
          <p:nvPr/>
        </p:nvSpPr>
        <p:spPr>
          <a:xfrm>
            <a:off x="6197600" y="1879600"/>
            <a:ext cx="5181600" cy="2730500"/>
          </a:xfrm>
          <a:prstGeom prst="roundRect">
            <a:avLst>
              <a:gd name="adj" fmla="val 2791"/>
            </a:avLst>
          </a:prstGeom>
          <a:solidFill>
            <a:srgbClr val="0E1A2B"/>
          </a:solidFill>
          <a:ln/>
        </p:spPr>
      </p:sp>
      <p:pic>
        <p:nvPicPr>
          <p:cNvPr id="9" name="Image 1" descr="AI Algorithms Execution Showcase listing the search algorithm used for each question">    </p:cNvPr>
          <p:cNvPicPr>
            <a:picLocks noChangeAspect="1"/>
          </p:cNvPicPr>
          <p:nvPr/>
        </p:nvPicPr>
        <p:blipFill>
          <a:blip r:embed="rId2"/>
          <a:stretch>
            <a:fillRect/>
          </a:stretch>
        </p:blipFill>
        <p:spPr>
          <a:xfrm>
            <a:off x="6203950" y="2479853"/>
            <a:ext cx="5168900" cy="1529994"/>
          </a:xfrm>
          <a:prstGeom prst="rect">
            <a:avLst/>
          </a:prstGeom>
        </p:spPr>
      </p:pic>
      <p:sp>
        <p:nvSpPr>
          <p:cNvPr id="10" name="Shape 6"/>
          <p:cNvSpPr/>
          <p:nvPr/>
        </p:nvSpPr>
        <p:spPr>
          <a:xfrm>
            <a:off x="6200775" y="1882775"/>
            <a:ext cx="5175250" cy="2724150"/>
          </a:xfrm>
          <a:prstGeom prst="roundRect">
            <a:avLst>
              <a:gd name="adj" fmla="val 2681"/>
            </a:avLst>
          </a:prstGeom>
          <a:noFill/>
          <a:ln w="6350">
            <a:solidFill>
              <a:srgbClr val="D5DCE3"/>
            </a:solidFill>
            <a:prstDash val="solid"/>
          </a:ln>
        </p:spPr>
      </p:sp>
      <p:sp>
        <p:nvSpPr>
          <p:cNvPr id="11" name="Text 7"/>
          <p:cNvSpPr/>
          <p:nvPr/>
        </p:nvSpPr>
        <p:spPr>
          <a:xfrm>
            <a:off x="6197600" y="4711700"/>
            <a:ext cx="5337048"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B5A6B"/>
                </a:solidFill>
                <a:latin typeface="IBM Plex Sans" pitchFamily="34" charset="0"/>
                <a:ea typeface="IBM Plex Sans" pitchFamily="34" charset="-122"/>
                <a:cs typeface="IBM Plex Sans" pitchFamily="34" charset="-120"/>
              </a:rPr>
              <a:t>Fig. 5.8 · AI algorithms execution showcase</a:t>
            </a:r>
            <a:endParaRPr lang="en-US" sz="1300" dirty="0"/>
          </a:p>
        </p:txBody>
      </p:sp>
      <p:sp>
        <p:nvSpPr>
          <p:cNvPr id="12" name="Text 8"/>
          <p:cNvSpPr/>
          <p:nvPr/>
        </p:nvSpPr>
        <p:spPr>
          <a:xfrm>
            <a:off x="812800" y="6238242"/>
            <a:ext cx="78486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786"/>
                </a:solidFill>
                <a:latin typeface="IBM Plex Sans" pitchFamily="34" charset="0"/>
                <a:ea typeface="IBM Plex Sans" pitchFamily="34" charset="-122"/>
                <a:cs typeface="IBM Plex Sans" pitchFamily="34" charset="-120"/>
              </a:rPr>
              <a:t>AI-Based Adaptive Interview Preparation System</a:t>
            </a:r>
            <a:endParaRPr lang="en-US" sz="1200" dirty="0"/>
          </a:p>
        </p:txBody>
      </p:sp>
      <p:sp>
        <p:nvSpPr>
          <p:cNvPr id="13" name="Text 9"/>
          <p:cNvSpPr/>
          <p:nvPr/>
        </p:nvSpPr>
        <p:spPr>
          <a:xfrm>
            <a:off x="10058400" y="6238242"/>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A7786"/>
                </a:solidFill>
                <a:latin typeface="IBM Plex Sans" pitchFamily="34" charset="0"/>
                <a:ea typeface="IBM Plex Sans" pitchFamily="34" charset="-122"/>
                <a:cs typeface="IBM Plex Sans" pitchFamily="34" charset="-120"/>
              </a:rPr>
              <a:t>16</a:t>
            </a:r>
            <a:endParaRPr lang="en-US" sz="1200" dirty="0"/>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0C162B"/>
        </a:solidFill>
        <a:effectLst/>
      </p:bgPr>
    </p:bg>
    <p:spTree>
      <p:nvGrpSpPr>
        <p:cNvPr id="1" name=""/>
        <p:cNvGrpSpPr/>
        <p:nvPr/>
      </p:nvGrpSpPr>
      <p:grpSpPr/>
      <p:sp>
        <p:nvSpPr>
          <p:cNvPr id="2" name="Title 1"/>
          <p:cNvSpPr>
            <a:spLocks noGrp="1"/>
          </p:cNvSpPr>
          <p:nvPr>
            <p:ph type="title"/>
          </p:nvPr>
        </p:nvSpPr>
        <p:spPr/>
        <p:txBody>
          <a:bodyPr/>
          <a:lstStyle/>
          <a:p/>
        </p:txBody>
      </p:sp>
      <p:sp>
        <p:nvSpPr>
          <p:cNvPr id="3" name="Text Placeholder 2"/>
          <p:cNvSpPr>
            <a:spLocks noGrp="1"/>
          </p:cNvSpPr>
          <p:nvPr>
            <p:ph type="body" idx="101"/>
          </p:nvPr>
        </p:nvSpPr>
        <p:spPr/>
        <p:txBody>
          <a:bodyPr/>
          <a:lstStyle/>
          <a:p/>
        </p:txBody>
      </p:sp>
      <p:sp>
        <p:nvSpPr>
          <p:cNvPr id="4" name="Rectangle 3"/>
          <p:cNvSpPr/>
          <p:nvPr/>
        </p:nvSpPr>
        <p:spPr>
          <a:xfrm>
            <a:off x="0" y="0"/>
            <a:ext cx="118872" cy="6858000"/>
          </a:xfrm>
          <a:prstGeom prst="rect">
            <a:avLst/>
          </a:prstGeom>
          <a:solidFill>
            <a:srgbClr val="40DA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292608"/>
            <a:ext cx="10789920" cy="256032"/>
          </a:xfrm>
          <a:prstGeom prst="rect">
            <a:avLst/>
          </a:prstGeom>
          <a:noFill/>
        </p:spPr>
        <p:txBody>
          <a:bodyPr wrap="square" lIns="18288" rIns="18288" tIns="9144" bIns="9144">
            <a:spAutoFit/>
          </a:bodyPr>
          <a:lstStyle/>
          <a:p>
            <a:pPr>
              <a:defRPr sz="1000" b="1">
                <a:solidFill>
                  <a:srgbClr val="40DAE0"/>
                </a:solidFill>
                <a:latin typeface="Aptos"/>
              </a:defRPr>
            </a:pPr>
            <a:r>
              <a:t>AI PROJECT BASED LEARNING  ·  CLASSICAL AI</a:t>
            </a:r>
          </a:p>
        </p:txBody>
      </p:sp>
      <p:sp>
        <p:nvSpPr>
          <p:cNvPr id="6" name="TextBox 5"/>
          <p:cNvSpPr txBox="1"/>
          <p:nvPr/>
        </p:nvSpPr>
        <p:spPr>
          <a:xfrm>
            <a:off x="566928" y="658368"/>
            <a:ext cx="10972800" cy="502920"/>
          </a:xfrm>
          <a:prstGeom prst="rect">
            <a:avLst/>
          </a:prstGeom>
          <a:noFill/>
        </p:spPr>
        <p:txBody>
          <a:bodyPr wrap="square" lIns="18288" rIns="18288" tIns="9144" bIns="9144">
            <a:spAutoFit/>
          </a:bodyPr>
          <a:lstStyle/>
          <a:p>
            <a:pPr>
              <a:defRPr sz="2500" b="1">
                <a:solidFill>
                  <a:srgbClr val="F5F7FB"/>
                </a:solidFill>
                <a:latin typeface="Aptos"/>
              </a:defRPr>
            </a:pPr>
            <a:r>
              <a:t>TESTING &amp; VALIDATION</a:t>
            </a:r>
          </a:p>
        </p:txBody>
      </p:sp>
      <p:sp>
        <p:nvSpPr>
          <p:cNvPr id="7" name="TextBox 6"/>
          <p:cNvSpPr txBox="1"/>
          <p:nvPr/>
        </p:nvSpPr>
        <p:spPr>
          <a:xfrm>
            <a:off x="585216" y="1216152"/>
            <a:ext cx="10789920" cy="347472"/>
          </a:xfrm>
          <a:prstGeom prst="rect">
            <a:avLst/>
          </a:prstGeom>
          <a:noFill/>
        </p:spPr>
        <p:txBody>
          <a:bodyPr wrap="square" lIns="18288" rIns="18288" tIns="9144" bIns="9144">
            <a:spAutoFit/>
          </a:bodyPr>
          <a:lstStyle/>
          <a:p>
            <a:pPr>
              <a:defRPr sz="1300" b="0">
                <a:solidFill>
                  <a:srgbClr val="B8C5D8"/>
                </a:solidFill>
                <a:latin typeface="Aptos"/>
              </a:defRPr>
            </a:pPr>
            <a:r>
              <a:t>Checking that the main features behave as expected</a:t>
            </a:r>
          </a:p>
        </p:txBody>
      </p:sp>
      <p:sp>
        <p:nvSpPr>
          <p:cNvPr id="8" name="Rounded Rectangle 7"/>
          <p:cNvSpPr/>
          <p:nvPr/>
        </p:nvSpPr>
        <p:spPr>
          <a:xfrm>
            <a:off x="566928" y="1755648"/>
            <a:ext cx="10972800" cy="4480560"/>
          </a:xfrm>
          <a:prstGeom prst="roundRect">
            <a:avLst/>
          </a:prstGeom>
          <a:solidFill>
            <a:srgbClr val="172540"/>
          </a:solidFill>
          <a:ln>
            <a:solidFill>
              <a:srgbClr val="2D416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2011680"/>
            <a:ext cx="502920" cy="329184"/>
          </a:xfrm>
          <a:prstGeom prst="rect">
            <a:avLst/>
          </a:prstGeom>
          <a:noFill/>
        </p:spPr>
        <p:txBody>
          <a:bodyPr wrap="square" lIns="18288" rIns="18288" tIns="9144" bIns="9144">
            <a:spAutoFit/>
          </a:bodyPr>
          <a:lstStyle/>
          <a:p>
            <a:pPr>
              <a:defRPr sz="1500" b="1">
                <a:solidFill>
                  <a:srgbClr val="FFC25B"/>
                </a:solidFill>
                <a:latin typeface="Aptos"/>
              </a:defRPr>
            </a:pPr>
            <a:r>
              <a:t>01</a:t>
            </a:r>
          </a:p>
        </p:txBody>
      </p:sp>
      <p:sp>
        <p:nvSpPr>
          <p:cNvPr id="10" name="TextBox 9"/>
          <p:cNvSpPr txBox="1"/>
          <p:nvPr/>
        </p:nvSpPr>
        <p:spPr>
          <a:xfrm>
            <a:off x="1481328" y="2011680"/>
            <a:ext cx="9052560" cy="292608"/>
          </a:xfrm>
          <a:prstGeom prst="rect">
            <a:avLst/>
          </a:prstGeom>
          <a:noFill/>
        </p:spPr>
        <p:txBody>
          <a:bodyPr wrap="square" lIns="18288" rIns="18288" tIns="9144" bIns="9144">
            <a:spAutoFit/>
          </a:bodyPr>
          <a:lstStyle/>
          <a:p>
            <a:pPr>
              <a:defRPr sz="1600" b="1">
                <a:solidFill>
                  <a:srgbClr val="F5F7FB"/>
                </a:solidFill>
                <a:latin typeface="Aptos"/>
              </a:defRPr>
            </a:pPr>
            <a:r>
              <a:t>Input validation</a:t>
            </a:r>
          </a:p>
        </p:txBody>
      </p:sp>
      <p:sp>
        <p:nvSpPr>
          <p:cNvPr id="11" name="TextBox 10"/>
          <p:cNvSpPr txBox="1"/>
          <p:nvPr/>
        </p:nvSpPr>
        <p:spPr>
          <a:xfrm>
            <a:off x="1481328" y="2322576"/>
            <a:ext cx="9418320" cy="438912"/>
          </a:xfrm>
          <a:prstGeom prst="rect">
            <a:avLst/>
          </a:prstGeom>
          <a:noFill/>
        </p:spPr>
        <p:txBody>
          <a:bodyPr wrap="square" lIns="18288" rIns="18288" tIns="9144" bIns="9144">
            <a:spAutoFit/>
          </a:bodyPr>
          <a:lstStyle/>
          <a:p>
            <a:pPr>
              <a:defRPr sz="1200" b="0">
                <a:solidFill>
                  <a:srgbClr val="B8C5D8"/>
                </a:solidFill>
                <a:latin typeface="Aptos"/>
              </a:defRPr>
            </a:pPr>
            <a:r>
              <a:t>Check topic, difficulty and question-count inputs.</a:t>
            </a:r>
          </a:p>
        </p:txBody>
      </p:sp>
      <p:sp>
        <p:nvSpPr>
          <p:cNvPr id="12" name="TextBox 11"/>
          <p:cNvSpPr txBox="1"/>
          <p:nvPr/>
        </p:nvSpPr>
        <p:spPr>
          <a:xfrm>
            <a:off x="868680" y="2971800"/>
            <a:ext cx="502920" cy="329184"/>
          </a:xfrm>
          <a:prstGeom prst="rect">
            <a:avLst/>
          </a:prstGeom>
          <a:noFill/>
        </p:spPr>
        <p:txBody>
          <a:bodyPr wrap="square" lIns="18288" rIns="18288" tIns="9144" bIns="9144">
            <a:spAutoFit/>
          </a:bodyPr>
          <a:lstStyle/>
          <a:p>
            <a:pPr>
              <a:defRPr sz="1500" b="1">
                <a:solidFill>
                  <a:srgbClr val="FFC25B"/>
                </a:solidFill>
                <a:latin typeface="Aptos"/>
              </a:defRPr>
            </a:pPr>
            <a:r>
              <a:t>02</a:t>
            </a:r>
          </a:p>
        </p:txBody>
      </p:sp>
      <p:sp>
        <p:nvSpPr>
          <p:cNvPr id="13" name="TextBox 12"/>
          <p:cNvSpPr txBox="1"/>
          <p:nvPr/>
        </p:nvSpPr>
        <p:spPr>
          <a:xfrm>
            <a:off x="1481328" y="2971800"/>
            <a:ext cx="9052560" cy="292608"/>
          </a:xfrm>
          <a:prstGeom prst="rect">
            <a:avLst/>
          </a:prstGeom>
          <a:noFill/>
        </p:spPr>
        <p:txBody>
          <a:bodyPr wrap="square" lIns="18288" rIns="18288" tIns="9144" bIns="9144">
            <a:spAutoFit/>
          </a:bodyPr>
          <a:lstStyle/>
          <a:p>
            <a:pPr>
              <a:defRPr sz="1600" b="1">
                <a:solidFill>
                  <a:srgbClr val="F5F7FB"/>
                </a:solidFill>
                <a:latin typeface="Aptos"/>
              </a:defRPr>
            </a:pPr>
            <a:r>
              <a:t>Question selection</a:t>
            </a:r>
          </a:p>
        </p:txBody>
      </p:sp>
      <p:sp>
        <p:nvSpPr>
          <p:cNvPr id="14" name="TextBox 13"/>
          <p:cNvSpPr txBox="1"/>
          <p:nvPr/>
        </p:nvSpPr>
        <p:spPr>
          <a:xfrm>
            <a:off x="1481328" y="3282696"/>
            <a:ext cx="9418320" cy="438912"/>
          </a:xfrm>
          <a:prstGeom prst="rect">
            <a:avLst/>
          </a:prstGeom>
          <a:noFill/>
        </p:spPr>
        <p:txBody>
          <a:bodyPr wrap="square" lIns="18288" rIns="18288" tIns="9144" bIns="9144">
            <a:spAutoFit/>
          </a:bodyPr>
          <a:lstStyle/>
          <a:p>
            <a:pPr>
              <a:defRPr sz="1200" b="0">
                <a:solidFill>
                  <a:srgbClr val="B8C5D8"/>
                </a:solidFill>
                <a:latin typeface="Aptos"/>
              </a:defRPr>
            </a:pPr>
            <a:r>
              <a:t>Confirm that a question is not repeated in the same session.</a:t>
            </a:r>
          </a:p>
        </p:txBody>
      </p:sp>
      <p:sp>
        <p:nvSpPr>
          <p:cNvPr id="15" name="TextBox 14"/>
          <p:cNvSpPr txBox="1"/>
          <p:nvPr/>
        </p:nvSpPr>
        <p:spPr>
          <a:xfrm>
            <a:off x="868680" y="3931920"/>
            <a:ext cx="502920" cy="329184"/>
          </a:xfrm>
          <a:prstGeom prst="rect">
            <a:avLst/>
          </a:prstGeom>
          <a:noFill/>
        </p:spPr>
        <p:txBody>
          <a:bodyPr wrap="square" lIns="18288" rIns="18288" tIns="9144" bIns="9144">
            <a:spAutoFit/>
          </a:bodyPr>
          <a:lstStyle/>
          <a:p>
            <a:pPr>
              <a:defRPr sz="1500" b="1">
                <a:solidFill>
                  <a:srgbClr val="FFC25B"/>
                </a:solidFill>
                <a:latin typeface="Aptos"/>
              </a:defRPr>
            </a:pPr>
            <a:r>
              <a:t>03</a:t>
            </a:r>
          </a:p>
        </p:txBody>
      </p:sp>
      <p:sp>
        <p:nvSpPr>
          <p:cNvPr id="16" name="TextBox 15"/>
          <p:cNvSpPr txBox="1"/>
          <p:nvPr/>
        </p:nvSpPr>
        <p:spPr>
          <a:xfrm>
            <a:off x="1481328" y="3931920"/>
            <a:ext cx="9052560" cy="292608"/>
          </a:xfrm>
          <a:prstGeom prst="rect">
            <a:avLst/>
          </a:prstGeom>
          <a:noFill/>
        </p:spPr>
        <p:txBody>
          <a:bodyPr wrap="square" lIns="18288" rIns="18288" tIns="9144" bIns="9144">
            <a:spAutoFit/>
          </a:bodyPr>
          <a:lstStyle/>
          <a:p>
            <a:pPr>
              <a:defRPr sz="1600" b="1">
                <a:solidFill>
                  <a:srgbClr val="F5F7FB"/>
                </a:solidFill>
                <a:latin typeface="Aptos"/>
              </a:defRPr>
            </a:pPr>
            <a:r>
              <a:t>Adaptation</a:t>
            </a:r>
          </a:p>
        </p:txBody>
      </p:sp>
      <p:sp>
        <p:nvSpPr>
          <p:cNvPr id="17" name="TextBox 16"/>
          <p:cNvSpPr txBox="1"/>
          <p:nvPr/>
        </p:nvSpPr>
        <p:spPr>
          <a:xfrm>
            <a:off x="1481328" y="4242816"/>
            <a:ext cx="9418320" cy="438912"/>
          </a:xfrm>
          <a:prstGeom prst="rect">
            <a:avLst/>
          </a:prstGeom>
          <a:noFill/>
        </p:spPr>
        <p:txBody>
          <a:bodyPr wrap="square" lIns="18288" rIns="18288" tIns="9144" bIns="9144">
            <a:spAutoFit/>
          </a:bodyPr>
          <a:lstStyle/>
          <a:p>
            <a:pPr>
              <a:defRPr sz="1200" b="0">
                <a:solidFill>
                  <a:srgbClr val="B8C5D8"/>
                </a:solidFill>
                <a:latin typeface="Aptos"/>
              </a:defRPr>
            </a:pPr>
            <a:r>
              <a:t>Verify that recent scores change the target difficulty at the configured thresholds.</a:t>
            </a:r>
          </a:p>
        </p:txBody>
      </p:sp>
      <p:sp>
        <p:nvSpPr>
          <p:cNvPr id="18" name="TextBox 17"/>
          <p:cNvSpPr txBox="1"/>
          <p:nvPr/>
        </p:nvSpPr>
        <p:spPr>
          <a:xfrm>
            <a:off x="868680" y="4892040"/>
            <a:ext cx="502920" cy="329184"/>
          </a:xfrm>
          <a:prstGeom prst="rect">
            <a:avLst/>
          </a:prstGeom>
          <a:noFill/>
        </p:spPr>
        <p:txBody>
          <a:bodyPr wrap="square" lIns="18288" rIns="18288" tIns="9144" bIns="9144">
            <a:spAutoFit/>
          </a:bodyPr>
          <a:lstStyle/>
          <a:p>
            <a:pPr>
              <a:defRPr sz="1500" b="1">
                <a:solidFill>
                  <a:srgbClr val="FFC25B"/>
                </a:solidFill>
                <a:latin typeface="Aptos"/>
              </a:defRPr>
            </a:pPr>
            <a:r>
              <a:t>04</a:t>
            </a:r>
          </a:p>
        </p:txBody>
      </p:sp>
      <p:sp>
        <p:nvSpPr>
          <p:cNvPr id="19" name="TextBox 18"/>
          <p:cNvSpPr txBox="1"/>
          <p:nvPr/>
        </p:nvSpPr>
        <p:spPr>
          <a:xfrm>
            <a:off x="1481328" y="4892040"/>
            <a:ext cx="9052560" cy="292608"/>
          </a:xfrm>
          <a:prstGeom prst="rect">
            <a:avLst/>
          </a:prstGeom>
          <a:noFill/>
        </p:spPr>
        <p:txBody>
          <a:bodyPr wrap="square" lIns="18288" rIns="18288" tIns="9144" bIns="9144">
            <a:spAutoFit/>
          </a:bodyPr>
          <a:lstStyle/>
          <a:p>
            <a:pPr>
              <a:defRPr sz="1600" b="1">
                <a:solidFill>
                  <a:srgbClr val="F5F7FB"/>
                </a:solidFill>
                <a:latin typeface="Aptos"/>
              </a:defRPr>
            </a:pPr>
            <a:r>
              <a:t>Fallback mode</a:t>
            </a:r>
          </a:p>
        </p:txBody>
      </p:sp>
      <p:sp>
        <p:nvSpPr>
          <p:cNvPr id="20" name="TextBox 19"/>
          <p:cNvSpPr txBox="1"/>
          <p:nvPr/>
        </p:nvSpPr>
        <p:spPr>
          <a:xfrm>
            <a:off x="1481328" y="5202936"/>
            <a:ext cx="9418320" cy="438912"/>
          </a:xfrm>
          <a:prstGeom prst="rect">
            <a:avLst/>
          </a:prstGeom>
          <a:noFill/>
        </p:spPr>
        <p:txBody>
          <a:bodyPr wrap="square" lIns="18288" rIns="18288" tIns="9144" bIns="9144">
            <a:spAutoFit/>
          </a:bodyPr>
          <a:lstStyle/>
          <a:p>
            <a:pPr>
              <a:defRPr sz="1200" b="0">
                <a:solidFill>
                  <a:srgbClr val="B8C5D8"/>
                </a:solidFill>
                <a:latin typeface="Aptos"/>
              </a:defRPr>
            </a:pPr>
            <a:r>
              <a:t>Check that the offline question generator works when the API is unavailable.</a:t>
            </a:r>
          </a:p>
        </p:txBody>
      </p:sp>
      <p:sp>
        <p:nvSpPr>
          <p:cNvPr id="21" name="Rectangle 20"/>
          <p:cNvSpPr/>
          <p:nvPr/>
        </p:nvSpPr>
        <p:spPr>
          <a:xfrm>
            <a:off x="566928" y="6492240"/>
            <a:ext cx="10972800" cy="13716"/>
          </a:xfrm>
          <a:prstGeom prst="rect">
            <a:avLst/>
          </a:prstGeom>
          <a:solidFill>
            <a:srgbClr val="2D41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85216" y="6547104"/>
            <a:ext cx="8046720" cy="182880"/>
          </a:xfrm>
          <a:prstGeom prst="rect">
            <a:avLst/>
          </a:prstGeom>
          <a:noFill/>
        </p:spPr>
        <p:txBody>
          <a:bodyPr wrap="square" lIns="18288" rIns="18288" tIns="9144" bIns="9144">
            <a:spAutoFit/>
          </a:bodyPr>
          <a:lstStyle/>
          <a:p>
            <a:pPr>
              <a:defRPr sz="800" b="0">
                <a:solidFill>
                  <a:srgbClr val="B8C5D8"/>
                </a:solidFill>
                <a:latin typeface="Aptos"/>
              </a:defRPr>
            </a:pPr>
            <a:r>
              <a:t>AI-Based Adaptive Interview Preparation System</a:t>
            </a:r>
          </a:p>
        </p:txBody>
      </p:sp>
      <p:sp>
        <p:nvSpPr>
          <p:cNvPr id="23" name="TextBox 22"/>
          <p:cNvSpPr txBox="1"/>
          <p:nvPr/>
        </p:nvSpPr>
        <p:spPr>
          <a:xfrm>
            <a:off x="10287000" y="6537960"/>
            <a:ext cx="1143000" cy="201168"/>
          </a:xfrm>
          <a:prstGeom prst="rect">
            <a:avLst/>
          </a:prstGeom>
          <a:noFill/>
        </p:spPr>
        <p:txBody>
          <a:bodyPr wrap="square" lIns="18288" rIns="18288" tIns="9144" bIns="9144">
            <a:spAutoFit/>
          </a:bodyPr>
          <a:lstStyle/>
          <a:p>
            <a:pPr>
              <a:defRPr sz="900" b="1">
                <a:solidFill>
                  <a:srgbClr val="FFC25B"/>
                </a:solidFill>
                <a:latin typeface="Aptos"/>
              </a:defRPr>
            </a:pPr>
            <a:r>
              <a:t>17 / 20</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0C162B"/>
        </a:solidFill>
        <a:effectLst/>
      </p:bgPr>
    </p:bg>
    <p:spTree>
      <p:nvGrpSpPr>
        <p:cNvPr id="1" name=""/>
        <p:cNvGrpSpPr/>
        <p:nvPr/>
      </p:nvGrpSpPr>
      <p:grpSpPr/>
      <p:sp>
        <p:nvSpPr>
          <p:cNvPr id="2" name="Title 1"/>
          <p:cNvSpPr>
            <a:spLocks noGrp="1"/>
          </p:cNvSpPr>
          <p:nvPr>
            <p:ph type="title"/>
          </p:nvPr>
        </p:nvSpPr>
        <p:spPr/>
        <p:txBody>
          <a:bodyPr/>
          <a:lstStyle/>
          <a:p/>
        </p:txBody>
      </p:sp>
      <p:sp>
        <p:nvSpPr>
          <p:cNvPr id="3" name="Text Placeholder 2"/>
          <p:cNvSpPr>
            <a:spLocks noGrp="1"/>
          </p:cNvSpPr>
          <p:nvPr>
            <p:ph type="body" idx="101"/>
          </p:nvPr>
        </p:nvSpPr>
        <p:spPr/>
        <p:txBody>
          <a:bodyPr/>
          <a:lstStyle/>
          <a:p/>
        </p:txBody>
      </p:sp>
      <p:sp>
        <p:nvSpPr>
          <p:cNvPr id="4" name="Rectangle 3"/>
          <p:cNvSpPr/>
          <p:nvPr/>
        </p:nvSpPr>
        <p:spPr>
          <a:xfrm>
            <a:off x="0" y="0"/>
            <a:ext cx="118872" cy="6858000"/>
          </a:xfrm>
          <a:prstGeom prst="rect">
            <a:avLst/>
          </a:prstGeom>
          <a:solidFill>
            <a:srgbClr val="40DA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292608"/>
            <a:ext cx="10789920" cy="256032"/>
          </a:xfrm>
          <a:prstGeom prst="rect">
            <a:avLst/>
          </a:prstGeom>
          <a:noFill/>
        </p:spPr>
        <p:txBody>
          <a:bodyPr wrap="square" lIns="18288" rIns="18288" tIns="9144" bIns="9144">
            <a:spAutoFit/>
          </a:bodyPr>
          <a:lstStyle/>
          <a:p>
            <a:pPr>
              <a:defRPr sz="1000" b="1">
                <a:solidFill>
                  <a:srgbClr val="40DAE0"/>
                </a:solidFill>
                <a:latin typeface="Aptos"/>
              </a:defRPr>
            </a:pPr>
            <a:r>
              <a:t>AI PROJECT BASED LEARNING  ·  CLASSICAL AI</a:t>
            </a:r>
          </a:p>
        </p:txBody>
      </p:sp>
      <p:sp>
        <p:nvSpPr>
          <p:cNvPr id="6" name="TextBox 5"/>
          <p:cNvSpPr txBox="1"/>
          <p:nvPr/>
        </p:nvSpPr>
        <p:spPr>
          <a:xfrm>
            <a:off x="566928" y="658368"/>
            <a:ext cx="10972800" cy="502920"/>
          </a:xfrm>
          <a:prstGeom prst="rect">
            <a:avLst/>
          </a:prstGeom>
          <a:noFill/>
        </p:spPr>
        <p:txBody>
          <a:bodyPr wrap="square" lIns="18288" rIns="18288" tIns="9144" bIns="9144">
            <a:spAutoFit/>
          </a:bodyPr>
          <a:lstStyle/>
          <a:p>
            <a:pPr>
              <a:defRPr sz="2500" b="1">
                <a:solidFill>
                  <a:srgbClr val="F5F7FB"/>
                </a:solidFill>
                <a:latin typeface="Aptos"/>
              </a:defRPr>
            </a:pPr>
            <a:r>
              <a:t>RESULTS &amp; OBSERVATIONS</a:t>
            </a:r>
          </a:p>
        </p:txBody>
      </p:sp>
      <p:sp>
        <p:nvSpPr>
          <p:cNvPr id="7" name="TextBox 6"/>
          <p:cNvSpPr txBox="1"/>
          <p:nvPr/>
        </p:nvSpPr>
        <p:spPr>
          <a:xfrm>
            <a:off x="585216" y="1216152"/>
            <a:ext cx="10789920" cy="347472"/>
          </a:xfrm>
          <a:prstGeom prst="rect">
            <a:avLst/>
          </a:prstGeom>
          <a:noFill/>
        </p:spPr>
        <p:txBody>
          <a:bodyPr wrap="square" lIns="18288" rIns="18288" tIns="9144" bIns="9144">
            <a:spAutoFit/>
          </a:bodyPr>
          <a:lstStyle/>
          <a:p>
            <a:pPr>
              <a:defRPr sz="1300" b="0">
                <a:solidFill>
                  <a:srgbClr val="B8C5D8"/>
                </a:solidFill>
                <a:latin typeface="Aptos"/>
              </a:defRPr>
            </a:pPr>
            <a:r>
              <a:t>What the prototype demonstrates</a:t>
            </a:r>
          </a:p>
        </p:txBody>
      </p:sp>
      <p:sp>
        <p:nvSpPr>
          <p:cNvPr id="8" name="Rounded Rectangle 7"/>
          <p:cNvSpPr/>
          <p:nvPr/>
        </p:nvSpPr>
        <p:spPr>
          <a:xfrm>
            <a:off x="566928" y="1755648"/>
            <a:ext cx="10972800" cy="4480560"/>
          </a:xfrm>
          <a:prstGeom prst="roundRect">
            <a:avLst/>
          </a:prstGeom>
          <a:solidFill>
            <a:srgbClr val="172540"/>
          </a:solidFill>
          <a:ln>
            <a:solidFill>
              <a:srgbClr val="2D416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2011680"/>
            <a:ext cx="502920" cy="329184"/>
          </a:xfrm>
          <a:prstGeom prst="rect">
            <a:avLst/>
          </a:prstGeom>
          <a:noFill/>
        </p:spPr>
        <p:txBody>
          <a:bodyPr wrap="square" lIns="18288" rIns="18288" tIns="9144" bIns="9144">
            <a:spAutoFit/>
          </a:bodyPr>
          <a:lstStyle/>
          <a:p>
            <a:pPr>
              <a:defRPr sz="1500" b="1">
                <a:solidFill>
                  <a:srgbClr val="FFC25B"/>
                </a:solidFill>
                <a:latin typeface="Aptos"/>
              </a:defRPr>
            </a:pPr>
            <a:r>
              <a:t>01</a:t>
            </a:r>
          </a:p>
        </p:txBody>
      </p:sp>
      <p:sp>
        <p:nvSpPr>
          <p:cNvPr id="10" name="TextBox 9"/>
          <p:cNvSpPr txBox="1"/>
          <p:nvPr/>
        </p:nvSpPr>
        <p:spPr>
          <a:xfrm>
            <a:off x="1481328" y="2011680"/>
            <a:ext cx="9052560" cy="292608"/>
          </a:xfrm>
          <a:prstGeom prst="rect">
            <a:avLst/>
          </a:prstGeom>
          <a:noFill/>
        </p:spPr>
        <p:txBody>
          <a:bodyPr wrap="square" lIns="18288" rIns="18288" tIns="9144" bIns="9144">
            <a:spAutoFit/>
          </a:bodyPr>
          <a:lstStyle/>
          <a:p>
            <a:pPr>
              <a:defRPr sz="1600" b="1">
                <a:solidFill>
                  <a:srgbClr val="F5F7FB"/>
                </a:solidFill>
                <a:latin typeface="Aptos"/>
              </a:defRPr>
            </a:pPr>
            <a:r>
              <a:t>Personalised practice</a:t>
            </a:r>
          </a:p>
        </p:txBody>
      </p:sp>
      <p:sp>
        <p:nvSpPr>
          <p:cNvPr id="11" name="TextBox 10"/>
          <p:cNvSpPr txBox="1"/>
          <p:nvPr/>
        </p:nvSpPr>
        <p:spPr>
          <a:xfrm>
            <a:off x="1481328" y="2322576"/>
            <a:ext cx="9418320" cy="438912"/>
          </a:xfrm>
          <a:prstGeom prst="rect">
            <a:avLst/>
          </a:prstGeom>
          <a:noFill/>
        </p:spPr>
        <p:txBody>
          <a:bodyPr wrap="square" lIns="18288" rIns="18288" tIns="9144" bIns="9144">
            <a:spAutoFit/>
          </a:bodyPr>
          <a:lstStyle/>
          <a:p>
            <a:pPr>
              <a:defRPr sz="1200" b="0">
                <a:solidFill>
                  <a:srgbClr val="B8C5D8"/>
                </a:solidFill>
                <a:latin typeface="Aptos"/>
              </a:defRPr>
            </a:pPr>
            <a:r>
              <a:t>Questions can be generated around a candidate's chosen topic.</a:t>
            </a:r>
          </a:p>
        </p:txBody>
      </p:sp>
      <p:sp>
        <p:nvSpPr>
          <p:cNvPr id="12" name="TextBox 11"/>
          <p:cNvSpPr txBox="1"/>
          <p:nvPr/>
        </p:nvSpPr>
        <p:spPr>
          <a:xfrm>
            <a:off x="868680" y="2971800"/>
            <a:ext cx="502920" cy="329184"/>
          </a:xfrm>
          <a:prstGeom prst="rect">
            <a:avLst/>
          </a:prstGeom>
          <a:noFill/>
        </p:spPr>
        <p:txBody>
          <a:bodyPr wrap="square" lIns="18288" rIns="18288" tIns="9144" bIns="9144">
            <a:spAutoFit/>
          </a:bodyPr>
          <a:lstStyle/>
          <a:p>
            <a:pPr>
              <a:defRPr sz="1500" b="1">
                <a:solidFill>
                  <a:srgbClr val="FFC25B"/>
                </a:solidFill>
                <a:latin typeface="Aptos"/>
              </a:defRPr>
            </a:pPr>
            <a:r>
              <a:t>02</a:t>
            </a:r>
          </a:p>
        </p:txBody>
      </p:sp>
      <p:sp>
        <p:nvSpPr>
          <p:cNvPr id="13" name="TextBox 12"/>
          <p:cNvSpPr txBox="1"/>
          <p:nvPr/>
        </p:nvSpPr>
        <p:spPr>
          <a:xfrm>
            <a:off x="1481328" y="2971800"/>
            <a:ext cx="9052560" cy="292608"/>
          </a:xfrm>
          <a:prstGeom prst="rect">
            <a:avLst/>
          </a:prstGeom>
          <a:noFill/>
        </p:spPr>
        <p:txBody>
          <a:bodyPr wrap="square" lIns="18288" rIns="18288" tIns="9144" bIns="9144">
            <a:spAutoFit/>
          </a:bodyPr>
          <a:lstStyle/>
          <a:p>
            <a:pPr>
              <a:defRPr sz="1600" b="1">
                <a:solidFill>
                  <a:srgbClr val="F5F7FB"/>
                </a:solidFill>
                <a:latin typeface="Aptos"/>
              </a:defRPr>
            </a:pPr>
            <a:r>
              <a:t>Adaptive selection</a:t>
            </a:r>
          </a:p>
        </p:txBody>
      </p:sp>
      <p:sp>
        <p:nvSpPr>
          <p:cNvPr id="14" name="TextBox 13"/>
          <p:cNvSpPr txBox="1"/>
          <p:nvPr/>
        </p:nvSpPr>
        <p:spPr>
          <a:xfrm>
            <a:off x="1481328" y="3282696"/>
            <a:ext cx="9418320" cy="438912"/>
          </a:xfrm>
          <a:prstGeom prst="rect">
            <a:avLst/>
          </a:prstGeom>
          <a:noFill/>
        </p:spPr>
        <p:txBody>
          <a:bodyPr wrap="square" lIns="18288" rIns="18288" tIns="9144" bIns="9144">
            <a:spAutoFit/>
          </a:bodyPr>
          <a:lstStyle/>
          <a:p>
            <a:pPr>
              <a:defRPr sz="1200" b="0">
                <a:solidFill>
                  <a:srgbClr val="B8C5D8"/>
                </a:solidFill>
                <a:latin typeface="Aptos"/>
              </a:defRPr>
            </a:pPr>
            <a:r>
              <a:t>Search strategies and CSP filtering guide the next-question choice.</a:t>
            </a:r>
          </a:p>
        </p:txBody>
      </p:sp>
      <p:sp>
        <p:nvSpPr>
          <p:cNvPr id="15" name="TextBox 14"/>
          <p:cNvSpPr txBox="1"/>
          <p:nvPr/>
        </p:nvSpPr>
        <p:spPr>
          <a:xfrm>
            <a:off x="868680" y="3931920"/>
            <a:ext cx="502920" cy="329184"/>
          </a:xfrm>
          <a:prstGeom prst="rect">
            <a:avLst/>
          </a:prstGeom>
          <a:noFill/>
        </p:spPr>
        <p:txBody>
          <a:bodyPr wrap="square" lIns="18288" rIns="18288" tIns="9144" bIns="9144">
            <a:spAutoFit/>
          </a:bodyPr>
          <a:lstStyle/>
          <a:p>
            <a:pPr>
              <a:defRPr sz="1500" b="1">
                <a:solidFill>
                  <a:srgbClr val="FFC25B"/>
                </a:solidFill>
                <a:latin typeface="Aptos"/>
              </a:defRPr>
            </a:pPr>
            <a:r>
              <a:t>03</a:t>
            </a:r>
          </a:p>
        </p:txBody>
      </p:sp>
      <p:sp>
        <p:nvSpPr>
          <p:cNvPr id="16" name="TextBox 15"/>
          <p:cNvSpPr txBox="1"/>
          <p:nvPr/>
        </p:nvSpPr>
        <p:spPr>
          <a:xfrm>
            <a:off x="1481328" y="3931920"/>
            <a:ext cx="9052560" cy="292608"/>
          </a:xfrm>
          <a:prstGeom prst="rect">
            <a:avLst/>
          </a:prstGeom>
          <a:noFill/>
        </p:spPr>
        <p:txBody>
          <a:bodyPr wrap="square" lIns="18288" rIns="18288" tIns="9144" bIns="9144">
            <a:spAutoFit/>
          </a:bodyPr>
          <a:lstStyle/>
          <a:p>
            <a:pPr>
              <a:defRPr sz="1600" b="1">
                <a:solidFill>
                  <a:srgbClr val="F5F7FB"/>
                </a:solidFill>
                <a:latin typeface="Aptos"/>
              </a:defRPr>
            </a:pPr>
            <a:r>
              <a:t>Progress tracking</a:t>
            </a:r>
          </a:p>
        </p:txBody>
      </p:sp>
      <p:sp>
        <p:nvSpPr>
          <p:cNvPr id="17" name="TextBox 16"/>
          <p:cNvSpPr txBox="1"/>
          <p:nvPr/>
        </p:nvSpPr>
        <p:spPr>
          <a:xfrm>
            <a:off x="1481328" y="4242816"/>
            <a:ext cx="9418320" cy="438912"/>
          </a:xfrm>
          <a:prstGeom prst="rect">
            <a:avLst/>
          </a:prstGeom>
          <a:noFill/>
        </p:spPr>
        <p:txBody>
          <a:bodyPr wrap="square" lIns="18288" rIns="18288" tIns="9144" bIns="9144">
            <a:spAutoFit/>
          </a:bodyPr>
          <a:lstStyle/>
          <a:p>
            <a:pPr>
              <a:defRPr sz="1200" b="0">
                <a:solidFill>
                  <a:srgbClr val="B8C5D8"/>
                </a:solidFill>
                <a:latin typeface="Aptos"/>
              </a:defRPr>
            </a:pPr>
            <a:r>
              <a:t>Scores update the weakness profile and influence later questions.</a:t>
            </a:r>
          </a:p>
        </p:txBody>
      </p:sp>
      <p:sp>
        <p:nvSpPr>
          <p:cNvPr id="18" name="TextBox 17"/>
          <p:cNvSpPr txBox="1"/>
          <p:nvPr/>
        </p:nvSpPr>
        <p:spPr>
          <a:xfrm>
            <a:off x="868680" y="4892040"/>
            <a:ext cx="502920" cy="329184"/>
          </a:xfrm>
          <a:prstGeom prst="rect">
            <a:avLst/>
          </a:prstGeom>
          <a:noFill/>
        </p:spPr>
        <p:txBody>
          <a:bodyPr wrap="square" lIns="18288" rIns="18288" tIns="9144" bIns="9144">
            <a:spAutoFit/>
          </a:bodyPr>
          <a:lstStyle/>
          <a:p>
            <a:pPr>
              <a:defRPr sz="1500" b="1">
                <a:solidFill>
                  <a:srgbClr val="FFC25B"/>
                </a:solidFill>
                <a:latin typeface="Aptos"/>
              </a:defRPr>
            </a:pPr>
            <a:r>
              <a:t>04</a:t>
            </a:r>
          </a:p>
        </p:txBody>
      </p:sp>
      <p:sp>
        <p:nvSpPr>
          <p:cNvPr id="19" name="TextBox 18"/>
          <p:cNvSpPr txBox="1"/>
          <p:nvPr/>
        </p:nvSpPr>
        <p:spPr>
          <a:xfrm>
            <a:off x="1481328" y="4892040"/>
            <a:ext cx="9052560" cy="292608"/>
          </a:xfrm>
          <a:prstGeom prst="rect">
            <a:avLst/>
          </a:prstGeom>
          <a:noFill/>
        </p:spPr>
        <p:txBody>
          <a:bodyPr wrap="square" lIns="18288" rIns="18288" tIns="9144" bIns="9144">
            <a:spAutoFit/>
          </a:bodyPr>
          <a:lstStyle/>
          <a:p>
            <a:pPr>
              <a:defRPr sz="1600" b="1">
                <a:solidFill>
                  <a:srgbClr val="F5F7FB"/>
                </a:solidFill>
                <a:latin typeface="Aptos"/>
              </a:defRPr>
            </a:pPr>
            <a:r>
              <a:t>Explainable output</a:t>
            </a:r>
          </a:p>
        </p:txBody>
      </p:sp>
      <p:sp>
        <p:nvSpPr>
          <p:cNvPr id="20" name="TextBox 19"/>
          <p:cNvSpPr txBox="1"/>
          <p:nvPr/>
        </p:nvSpPr>
        <p:spPr>
          <a:xfrm>
            <a:off x="1481328" y="5202936"/>
            <a:ext cx="9418320" cy="438912"/>
          </a:xfrm>
          <a:prstGeom prst="rect">
            <a:avLst/>
          </a:prstGeom>
          <a:noFill/>
        </p:spPr>
        <p:txBody>
          <a:bodyPr wrap="square" lIns="18288" rIns="18288" tIns="9144" bIns="9144">
            <a:spAutoFit/>
          </a:bodyPr>
          <a:lstStyle/>
          <a:p>
            <a:pPr>
              <a:defRPr sz="1200" b="0">
                <a:solidFill>
                  <a:srgbClr val="B8C5D8"/>
                </a:solidFill>
                <a:latin typeface="Aptos"/>
              </a:defRPr>
            </a:pPr>
            <a:r>
              <a:t>Feedback and the final report show scores, revision areas and algorithm traces.</a:t>
            </a:r>
          </a:p>
        </p:txBody>
      </p:sp>
      <p:sp>
        <p:nvSpPr>
          <p:cNvPr id="21" name="Rectangle 20"/>
          <p:cNvSpPr/>
          <p:nvPr/>
        </p:nvSpPr>
        <p:spPr>
          <a:xfrm>
            <a:off x="566928" y="6492240"/>
            <a:ext cx="10972800" cy="13716"/>
          </a:xfrm>
          <a:prstGeom prst="rect">
            <a:avLst/>
          </a:prstGeom>
          <a:solidFill>
            <a:srgbClr val="2D41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85216" y="6547104"/>
            <a:ext cx="8046720" cy="182880"/>
          </a:xfrm>
          <a:prstGeom prst="rect">
            <a:avLst/>
          </a:prstGeom>
          <a:noFill/>
        </p:spPr>
        <p:txBody>
          <a:bodyPr wrap="square" lIns="18288" rIns="18288" tIns="9144" bIns="9144">
            <a:spAutoFit/>
          </a:bodyPr>
          <a:lstStyle/>
          <a:p>
            <a:pPr>
              <a:defRPr sz="800" b="0">
                <a:solidFill>
                  <a:srgbClr val="B8C5D8"/>
                </a:solidFill>
                <a:latin typeface="Aptos"/>
              </a:defRPr>
            </a:pPr>
            <a:r>
              <a:t>AI-Based Adaptive Interview Preparation System</a:t>
            </a:r>
          </a:p>
        </p:txBody>
      </p:sp>
      <p:sp>
        <p:nvSpPr>
          <p:cNvPr id="23" name="TextBox 22"/>
          <p:cNvSpPr txBox="1"/>
          <p:nvPr/>
        </p:nvSpPr>
        <p:spPr>
          <a:xfrm>
            <a:off x="10287000" y="6537960"/>
            <a:ext cx="1143000" cy="201168"/>
          </a:xfrm>
          <a:prstGeom prst="rect">
            <a:avLst/>
          </a:prstGeom>
          <a:noFill/>
        </p:spPr>
        <p:txBody>
          <a:bodyPr wrap="square" lIns="18288" rIns="18288" tIns="9144" bIns="9144">
            <a:spAutoFit/>
          </a:bodyPr>
          <a:lstStyle/>
          <a:p>
            <a:pPr>
              <a:defRPr sz="900" b="1">
                <a:solidFill>
                  <a:srgbClr val="FFC25B"/>
                </a:solidFill>
                <a:latin typeface="Aptos"/>
              </a:defRPr>
            </a:pPr>
            <a:r>
              <a:t>18 / 20</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0C162B"/>
        </a:solidFill>
        <a:effectLst/>
      </p:bgPr>
    </p:bg>
    <p:spTree>
      <p:nvGrpSpPr>
        <p:cNvPr id="1" name=""/>
        <p:cNvGrpSpPr/>
        <p:nvPr/>
      </p:nvGrpSpPr>
      <p:grpSpPr/>
      <p:sp>
        <p:nvSpPr>
          <p:cNvPr id="2" name="Title 1"/>
          <p:cNvSpPr>
            <a:spLocks noGrp="1"/>
          </p:cNvSpPr>
          <p:nvPr>
            <p:ph type="title"/>
          </p:nvPr>
        </p:nvSpPr>
        <p:spPr/>
        <p:txBody>
          <a:bodyPr/>
          <a:lstStyle/>
          <a:p/>
        </p:txBody>
      </p:sp>
      <p:sp>
        <p:nvSpPr>
          <p:cNvPr id="3" name="Text Placeholder 2"/>
          <p:cNvSpPr>
            <a:spLocks noGrp="1"/>
          </p:cNvSpPr>
          <p:nvPr>
            <p:ph type="body" idx="101"/>
          </p:nvPr>
        </p:nvSpPr>
        <p:spPr/>
        <p:txBody>
          <a:bodyPr/>
          <a:lstStyle/>
          <a:p/>
        </p:txBody>
      </p:sp>
      <p:sp>
        <p:nvSpPr>
          <p:cNvPr id="4" name="Rectangle 3"/>
          <p:cNvSpPr/>
          <p:nvPr/>
        </p:nvSpPr>
        <p:spPr>
          <a:xfrm>
            <a:off x="0" y="0"/>
            <a:ext cx="118872" cy="6858000"/>
          </a:xfrm>
          <a:prstGeom prst="rect">
            <a:avLst/>
          </a:prstGeom>
          <a:solidFill>
            <a:srgbClr val="40DA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292608"/>
            <a:ext cx="10789920" cy="256032"/>
          </a:xfrm>
          <a:prstGeom prst="rect">
            <a:avLst/>
          </a:prstGeom>
          <a:noFill/>
        </p:spPr>
        <p:txBody>
          <a:bodyPr wrap="square" lIns="18288" rIns="18288" tIns="9144" bIns="9144">
            <a:spAutoFit/>
          </a:bodyPr>
          <a:lstStyle/>
          <a:p>
            <a:pPr>
              <a:defRPr sz="1000" b="1">
                <a:solidFill>
                  <a:srgbClr val="40DAE0"/>
                </a:solidFill>
                <a:latin typeface="Aptos"/>
              </a:defRPr>
            </a:pPr>
            <a:r>
              <a:t>AI PROJECT BASED LEARNING  ·  CLASSICAL AI</a:t>
            </a:r>
          </a:p>
        </p:txBody>
      </p:sp>
      <p:sp>
        <p:nvSpPr>
          <p:cNvPr id="6" name="TextBox 5"/>
          <p:cNvSpPr txBox="1"/>
          <p:nvPr/>
        </p:nvSpPr>
        <p:spPr>
          <a:xfrm>
            <a:off x="566928" y="658368"/>
            <a:ext cx="10972800" cy="502920"/>
          </a:xfrm>
          <a:prstGeom prst="rect">
            <a:avLst/>
          </a:prstGeom>
          <a:noFill/>
        </p:spPr>
        <p:txBody>
          <a:bodyPr wrap="square" lIns="18288" rIns="18288" tIns="9144" bIns="9144">
            <a:spAutoFit/>
          </a:bodyPr>
          <a:lstStyle/>
          <a:p>
            <a:pPr>
              <a:defRPr sz="2500" b="1">
                <a:solidFill>
                  <a:srgbClr val="F5F7FB"/>
                </a:solidFill>
                <a:latin typeface="Aptos"/>
              </a:defRPr>
            </a:pPr>
            <a:r>
              <a:t>LIMITATIONS &amp; FUTURE ENHANCEMENTS</a:t>
            </a:r>
          </a:p>
        </p:txBody>
      </p:sp>
      <p:sp>
        <p:nvSpPr>
          <p:cNvPr id="7" name="TextBox 6"/>
          <p:cNvSpPr txBox="1"/>
          <p:nvPr/>
        </p:nvSpPr>
        <p:spPr>
          <a:xfrm>
            <a:off x="585216" y="1216152"/>
            <a:ext cx="10789920" cy="347472"/>
          </a:xfrm>
          <a:prstGeom prst="rect">
            <a:avLst/>
          </a:prstGeom>
          <a:noFill/>
        </p:spPr>
        <p:txBody>
          <a:bodyPr wrap="square" lIns="18288" rIns="18288" tIns="9144" bIns="9144">
            <a:spAutoFit/>
          </a:bodyPr>
          <a:lstStyle/>
          <a:p>
            <a:pPr>
              <a:defRPr sz="1300" b="0">
                <a:solidFill>
                  <a:srgbClr val="B8C5D8"/>
                </a:solidFill>
                <a:latin typeface="Aptos"/>
              </a:defRPr>
            </a:pPr>
            <a:r>
              <a:t>Current constraints and planned improvements</a:t>
            </a:r>
          </a:p>
        </p:txBody>
      </p:sp>
      <p:sp>
        <p:nvSpPr>
          <p:cNvPr id="8" name="Rounded Rectangle 7"/>
          <p:cNvSpPr/>
          <p:nvPr/>
        </p:nvSpPr>
        <p:spPr>
          <a:xfrm>
            <a:off x="566928" y="1755648"/>
            <a:ext cx="10972800" cy="4480560"/>
          </a:xfrm>
          <a:prstGeom prst="roundRect">
            <a:avLst/>
          </a:prstGeom>
          <a:solidFill>
            <a:srgbClr val="172540"/>
          </a:solidFill>
          <a:ln>
            <a:solidFill>
              <a:srgbClr val="2D416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2011680"/>
            <a:ext cx="502920" cy="329184"/>
          </a:xfrm>
          <a:prstGeom prst="rect">
            <a:avLst/>
          </a:prstGeom>
          <a:noFill/>
        </p:spPr>
        <p:txBody>
          <a:bodyPr wrap="square" lIns="18288" rIns="18288" tIns="9144" bIns="9144">
            <a:spAutoFit/>
          </a:bodyPr>
          <a:lstStyle/>
          <a:p>
            <a:pPr>
              <a:defRPr sz="1500" b="1">
                <a:solidFill>
                  <a:srgbClr val="FFC25B"/>
                </a:solidFill>
                <a:latin typeface="Aptos"/>
              </a:defRPr>
            </a:pPr>
            <a:r>
              <a:t>01</a:t>
            </a:r>
          </a:p>
        </p:txBody>
      </p:sp>
      <p:sp>
        <p:nvSpPr>
          <p:cNvPr id="10" name="TextBox 9"/>
          <p:cNvSpPr txBox="1"/>
          <p:nvPr/>
        </p:nvSpPr>
        <p:spPr>
          <a:xfrm>
            <a:off x="1481328" y="2011680"/>
            <a:ext cx="9052560" cy="292608"/>
          </a:xfrm>
          <a:prstGeom prst="rect">
            <a:avLst/>
          </a:prstGeom>
          <a:noFill/>
        </p:spPr>
        <p:txBody>
          <a:bodyPr wrap="square" lIns="18288" rIns="18288" tIns="9144" bIns="9144">
            <a:spAutoFit/>
          </a:bodyPr>
          <a:lstStyle/>
          <a:p>
            <a:pPr>
              <a:defRPr sz="1600" b="1">
                <a:solidFill>
                  <a:srgbClr val="F5F7FB"/>
                </a:solidFill>
                <a:latin typeface="Aptos"/>
              </a:defRPr>
            </a:pPr>
            <a:r>
              <a:t>Keyword-based scoring</a:t>
            </a:r>
          </a:p>
        </p:txBody>
      </p:sp>
      <p:sp>
        <p:nvSpPr>
          <p:cNvPr id="11" name="TextBox 10"/>
          <p:cNvSpPr txBox="1"/>
          <p:nvPr/>
        </p:nvSpPr>
        <p:spPr>
          <a:xfrm>
            <a:off x="1481328" y="2322576"/>
            <a:ext cx="9418320" cy="438912"/>
          </a:xfrm>
          <a:prstGeom prst="rect">
            <a:avLst/>
          </a:prstGeom>
          <a:noFill/>
        </p:spPr>
        <p:txBody>
          <a:bodyPr wrap="square" lIns="18288" rIns="18288" tIns="9144" bIns="9144">
            <a:spAutoFit/>
          </a:bodyPr>
          <a:lstStyle/>
          <a:p>
            <a:pPr>
              <a:defRPr sz="1200" b="0">
                <a:solidFill>
                  <a:srgbClr val="B8C5D8"/>
                </a:solidFill>
                <a:latin typeface="Aptos"/>
              </a:defRPr>
            </a:pPr>
            <a:r>
              <a:t>Correct answers phrased differently may receive lower scores.</a:t>
            </a:r>
          </a:p>
        </p:txBody>
      </p:sp>
      <p:sp>
        <p:nvSpPr>
          <p:cNvPr id="12" name="TextBox 11"/>
          <p:cNvSpPr txBox="1"/>
          <p:nvPr/>
        </p:nvSpPr>
        <p:spPr>
          <a:xfrm>
            <a:off x="868680" y="2971800"/>
            <a:ext cx="502920" cy="329184"/>
          </a:xfrm>
          <a:prstGeom prst="rect">
            <a:avLst/>
          </a:prstGeom>
          <a:noFill/>
        </p:spPr>
        <p:txBody>
          <a:bodyPr wrap="square" lIns="18288" rIns="18288" tIns="9144" bIns="9144">
            <a:spAutoFit/>
          </a:bodyPr>
          <a:lstStyle/>
          <a:p>
            <a:pPr>
              <a:defRPr sz="1500" b="1">
                <a:solidFill>
                  <a:srgbClr val="FFC25B"/>
                </a:solidFill>
                <a:latin typeface="Aptos"/>
              </a:defRPr>
            </a:pPr>
            <a:r>
              <a:t>02</a:t>
            </a:r>
          </a:p>
        </p:txBody>
      </p:sp>
      <p:sp>
        <p:nvSpPr>
          <p:cNvPr id="13" name="TextBox 12"/>
          <p:cNvSpPr txBox="1"/>
          <p:nvPr/>
        </p:nvSpPr>
        <p:spPr>
          <a:xfrm>
            <a:off x="1481328" y="2971800"/>
            <a:ext cx="9052560" cy="292608"/>
          </a:xfrm>
          <a:prstGeom prst="rect">
            <a:avLst/>
          </a:prstGeom>
          <a:noFill/>
        </p:spPr>
        <p:txBody>
          <a:bodyPr wrap="square" lIns="18288" rIns="18288" tIns="9144" bIns="9144">
            <a:spAutoFit/>
          </a:bodyPr>
          <a:lstStyle/>
          <a:p>
            <a:pPr>
              <a:defRPr sz="1600" b="1">
                <a:solidFill>
                  <a:srgbClr val="F5F7FB"/>
                </a:solidFill>
                <a:latin typeface="Aptos"/>
              </a:defRPr>
            </a:pPr>
            <a:r>
              <a:t>Generated content</a:t>
            </a:r>
          </a:p>
        </p:txBody>
      </p:sp>
      <p:sp>
        <p:nvSpPr>
          <p:cNvPr id="14" name="TextBox 13"/>
          <p:cNvSpPr txBox="1"/>
          <p:nvPr/>
        </p:nvSpPr>
        <p:spPr>
          <a:xfrm>
            <a:off x="1481328" y="3282696"/>
            <a:ext cx="9418320" cy="438912"/>
          </a:xfrm>
          <a:prstGeom prst="rect">
            <a:avLst/>
          </a:prstGeom>
          <a:noFill/>
        </p:spPr>
        <p:txBody>
          <a:bodyPr wrap="square" lIns="18288" rIns="18288" tIns="9144" bIns="9144">
            <a:spAutoFit/>
          </a:bodyPr>
          <a:lstStyle/>
          <a:p>
            <a:pPr>
              <a:defRPr sz="1200" b="0">
                <a:solidFill>
                  <a:srgbClr val="B8C5D8"/>
                </a:solidFill>
                <a:latin typeface="Aptos"/>
              </a:defRPr>
            </a:pPr>
            <a:r>
              <a:t>Questions and expected keywords need quality checks.</a:t>
            </a:r>
          </a:p>
        </p:txBody>
      </p:sp>
      <p:sp>
        <p:nvSpPr>
          <p:cNvPr id="15" name="TextBox 14"/>
          <p:cNvSpPr txBox="1"/>
          <p:nvPr/>
        </p:nvSpPr>
        <p:spPr>
          <a:xfrm>
            <a:off x="868680" y="3931920"/>
            <a:ext cx="502920" cy="329184"/>
          </a:xfrm>
          <a:prstGeom prst="rect">
            <a:avLst/>
          </a:prstGeom>
          <a:noFill/>
        </p:spPr>
        <p:txBody>
          <a:bodyPr wrap="square" lIns="18288" rIns="18288" tIns="9144" bIns="9144">
            <a:spAutoFit/>
          </a:bodyPr>
          <a:lstStyle/>
          <a:p>
            <a:pPr>
              <a:defRPr sz="1500" b="1">
                <a:solidFill>
                  <a:srgbClr val="FFC25B"/>
                </a:solidFill>
                <a:latin typeface="Aptos"/>
              </a:defRPr>
            </a:pPr>
            <a:r>
              <a:t>03</a:t>
            </a:r>
          </a:p>
        </p:txBody>
      </p:sp>
      <p:sp>
        <p:nvSpPr>
          <p:cNvPr id="16" name="TextBox 15"/>
          <p:cNvSpPr txBox="1"/>
          <p:nvPr/>
        </p:nvSpPr>
        <p:spPr>
          <a:xfrm>
            <a:off x="1481328" y="3931920"/>
            <a:ext cx="9052560" cy="292608"/>
          </a:xfrm>
          <a:prstGeom prst="rect">
            <a:avLst/>
          </a:prstGeom>
          <a:noFill/>
        </p:spPr>
        <p:txBody>
          <a:bodyPr wrap="square" lIns="18288" rIns="18288" tIns="9144" bIns="9144">
            <a:spAutoFit/>
          </a:bodyPr>
          <a:lstStyle/>
          <a:p>
            <a:pPr>
              <a:defRPr sz="1600" b="1">
                <a:solidFill>
                  <a:srgbClr val="F5F7FB"/>
                </a:solidFill>
                <a:latin typeface="Aptos"/>
              </a:defRPr>
            </a:pPr>
            <a:r>
              <a:t>Semantic evaluation</a:t>
            </a:r>
          </a:p>
        </p:txBody>
      </p:sp>
      <p:sp>
        <p:nvSpPr>
          <p:cNvPr id="17" name="TextBox 16"/>
          <p:cNvSpPr txBox="1"/>
          <p:nvPr/>
        </p:nvSpPr>
        <p:spPr>
          <a:xfrm>
            <a:off x="1481328" y="4242816"/>
            <a:ext cx="9418320" cy="438912"/>
          </a:xfrm>
          <a:prstGeom prst="rect">
            <a:avLst/>
          </a:prstGeom>
          <a:noFill/>
        </p:spPr>
        <p:txBody>
          <a:bodyPr wrap="square" lIns="18288" rIns="18288" tIns="9144" bIns="9144">
            <a:spAutoFit/>
          </a:bodyPr>
          <a:lstStyle/>
          <a:p>
            <a:pPr>
              <a:defRPr sz="1200" b="0">
                <a:solidFill>
                  <a:srgbClr val="B8C5D8"/>
                </a:solidFill>
                <a:latin typeface="Aptos"/>
              </a:defRPr>
            </a:pPr>
            <a:r>
              <a:t>Future versions could evaluate meaning, not just keyword overlap.</a:t>
            </a:r>
          </a:p>
        </p:txBody>
      </p:sp>
      <p:sp>
        <p:nvSpPr>
          <p:cNvPr id="18" name="TextBox 17"/>
          <p:cNvSpPr txBox="1"/>
          <p:nvPr/>
        </p:nvSpPr>
        <p:spPr>
          <a:xfrm>
            <a:off x="868680" y="4892040"/>
            <a:ext cx="502920" cy="329184"/>
          </a:xfrm>
          <a:prstGeom prst="rect">
            <a:avLst/>
          </a:prstGeom>
          <a:noFill/>
        </p:spPr>
        <p:txBody>
          <a:bodyPr wrap="square" lIns="18288" rIns="18288" tIns="9144" bIns="9144">
            <a:spAutoFit/>
          </a:bodyPr>
          <a:lstStyle/>
          <a:p>
            <a:pPr>
              <a:defRPr sz="1500" b="1">
                <a:solidFill>
                  <a:srgbClr val="FFC25B"/>
                </a:solidFill>
                <a:latin typeface="Aptos"/>
              </a:defRPr>
            </a:pPr>
            <a:r>
              <a:t>04</a:t>
            </a:r>
          </a:p>
        </p:txBody>
      </p:sp>
      <p:sp>
        <p:nvSpPr>
          <p:cNvPr id="19" name="TextBox 18"/>
          <p:cNvSpPr txBox="1"/>
          <p:nvPr/>
        </p:nvSpPr>
        <p:spPr>
          <a:xfrm>
            <a:off x="1481328" y="4892040"/>
            <a:ext cx="9052560" cy="292608"/>
          </a:xfrm>
          <a:prstGeom prst="rect">
            <a:avLst/>
          </a:prstGeom>
          <a:noFill/>
        </p:spPr>
        <p:txBody>
          <a:bodyPr wrap="square" lIns="18288" rIns="18288" tIns="9144" bIns="9144">
            <a:spAutoFit/>
          </a:bodyPr>
          <a:lstStyle/>
          <a:p>
            <a:pPr>
              <a:defRPr sz="1600" b="1">
                <a:solidFill>
                  <a:srgbClr val="F5F7FB"/>
                </a:solidFill>
                <a:latin typeface="Aptos"/>
              </a:defRPr>
            </a:pPr>
            <a:r>
              <a:t>Progress history</a:t>
            </a:r>
          </a:p>
        </p:txBody>
      </p:sp>
      <p:sp>
        <p:nvSpPr>
          <p:cNvPr id="20" name="TextBox 19"/>
          <p:cNvSpPr txBox="1"/>
          <p:nvPr/>
        </p:nvSpPr>
        <p:spPr>
          <a:xfrm>
            <a:off x="1481328" y="5202936"/>
            <a:ext cx="9418320" cy="438912"/>
          </a:xfrm>
          <a:prstGeom prst="rect">
            <a:avLst/>
          </a:prstGeom>
          <a:noFill/>
        </p:spPr>
        <p:txBody>
          <a:bodyPr wrap="square" lIns="18288" rIns="18288" tIns="9144" bIns="9144">
            <a:spAutoFit/>
          </a:bodyPr>
          <a:lstStyle/>
          <a:p>
            <a:pPr>
              <a:defRPr sz="1200" b="0">
                <a:solidFill>
                  <a:srgbClr val="B8C5D8"/>
                </a:solidFill>
                <a:latin typeface="Aptos"/>
              </a:defRPr>
            </a:pPr>
            <a:r>
              <a:t>Persistent profiles and topic-wise analytics could track improvement over time.</a:t>
            </a:r>
          </a:p>
        </p:txBody>
      </p:sp>
      <p:sp>
        <p:nvSpPr>
          <p:cNvPr id="21" name="Rectangle 20"/>
          <p:cNvSpPr/>
          <p:nvPr/>
        </p:nvSpPr>
        <p:spPr>
          <a:xfrm>
            <a:off x="566928" y="6492240"/>
            <a:ext cx="10972800" cy="13716"/>
          </a:xfrm>
          <a:prstGeom prst="rect">
            <a:avLst/>
          </a:prstGeom>
          <a:solidFill>
            <a:srgbClr val="2D41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85216" y="6547104"/>
            <a:ext cx="8046720" cy="182880"/>
          </a:xfrm>
          <a:prstGeom prst="rect">
            <a:avLst/>
          </a:prstGeom>
          <a:noFill/>
        </p:spPr>
        <p:txBody>
          <a:bodyPr wrap="square" lIns="18288" rIns="18288" tIns="9144" bIns="9144">
            <a:spAutoFit/>
          </a:bodyPr>
          <a:lstStyle/>
          <a:p>
            <a:pPr>
              <a:defRPr sz="800" b="0">
                <a:solidFill>
                  <a:srgbClr val="B8C5D8"/>
                </a:solidFill>
                <a:latin typeface="Aptos"/>
              </a:defRPr>
            </a:pPr>
            <a:r>
              <a:t>AI-Based Adaptive Interview Preparation System</a:t>
            </a:r>
          </a:p>
        </p:txBody>
      </p:sp>
      <p:sp>
        <p:nvSpPr>
          <p:cNvPr id="23" name="TextBox 22"/>
          <p:cNvSpPr txBox="1"/>
          <p:nvPr/>
        </p:nvSpPr>
        <p:spPr>
          <a:xfrm>
            <a:off x="10287000" y="6537960"/>
            <a:ext cx="1143000" cy="201168"/>
          </a:xfrm>
          <a:prstGeom prst="rect">
            <a:avLst/>
          </a:prstGeom>
          <a:noFill/>
        </p:spPr>
        <p:txBody>
          <a:bodyPr wrap="square" lIns="18288" rIns="18288" tIns="9144" bIns="9144">
            <a:spAutoFit/>
          </a:bodyPr>
          <a:lstStyle/>
          <a:p>
            <a:pPr>
              <a:defRPr sz="900" b="1">
                <a:solidFill>
                  <a:srgbClr val="FFC25B"/>
                </a:solidFill>
                <a:latin typeface="Aptos"/>
              </a:defRPr>
            </a:pPr>
            <a:r>
              <a:t>19 / 20</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0C162B"/>
        </a:solidFill>
        <a:effectLst/>
      </p:bgPr>
    </p:bg>
    <p:spTree>
      <p:nvGrpSpPr>
        <p:cNvPr id="1" name=""/>
        <p:cNvGrpSpPr/>
        <p:nvPr/>
      </p:nvGrpSpPr>
      <p:grpSpPr/>
      <p:sp>
        <p:nvSpPr>
          <p:cNvPr id="2" name="Title 1"/>
          <p:cNvSpPr>
            <a:spLocks noGrp="1"/>
          </p:cNvSpPr>
          <p:nvPr>
            <p:ph type="title"/>
          </p:nvPr>
        </p:nvSpPr>
        <p:spPr/>
        <p:txBody>
          <a:bodyPr/>
          <a:lstStyle/>
          <a:p/>
        </p:txBody>
      </p:sp>
      <p:sp>
        <p:nvSpPr>
          <p:cNvPr id="3" name="Text Placeholder 2"/>
          <p:cNvSpPr>
            <a:spLocks noGrp="1"/>
          </p:cNvSpPr>
          <p:nvPr>
            <p:ph type="body" idx="101"/>
          </p:nvPr>
        </p:nvSpPr>
        <p:spPr/>
        <p:txBody>
          <a:bodyPr/>
          <a:lstStyle/>
          <a:p/>
        </p:txBody>
      </p:sp>
      <p:sp>
        <p:nvSpPr>
          <p:cNvPr id="4" name="Rectangle 3"/>
          <p:cNvSpPr/>
          <p:nvPr/>
        </p:nvSpPr>
        <p:spPr>
          <a:xfrm>
            <a:off x="0" y="0"/>
            <a:ext cx="118872" cy="6858000"/>
          </a:xfrm>
          <a:prstGeom prst="rect">
            <a:avLst/>
          </a:prstGeom>
          <a:solidFill>
            <a:srgbClr val="40DA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292608"/>
            <a:ext cx="10789920" cy="256032"/>
          </a:xfrm>
          <a:prstGeom prst="rect">
            <a:avLst/>
          </a:prstGeom>
          <a:noFill/>
        </p:spPr>
        <p:txBody>
          <a:bodyPr wrap="square" lIns="18288" rIns="18288" tIns="9144" bIns="9144">
            <a:spAutoFit/>
          </a:bodyPr>
          <a:lstStyle/>
          <a:p>
            <a:pPr>
              <a:defRPr sz="1000" b="1">
                <a:solidFill>
                  <a:srgbClr val="40DAE0"/>
                </a:solidFill>
                <a:latin typeface="Aptos"/>
              </a:defRPr>
            </a:pPr>
            <a:r>
              <a:t>AI PROJECT BASED LEARNING  ·  CLASSICAL AI</a:t>
            </a:r>
          </a:p>
        </p:txBody>
      </p:sp>
      <p:sp>
        <p:nvSpPr>
          <p:cNvPr id="6" name="TextBox 5"/>
          <p:cNvSpPr txBox="1"/>
          <p:nvPr/>
        </p:nvSpPr>
        <p:spPr>
          <a:xfrm>
            <a:off x="566928" y="658368"/>
            <a:ext cx="10972800" cy="502920"/>
          </a:xfrm>
          <a:prstGeom prst="rect">
            <a:avLst/>
          </a:prstGeom>
          <a:noFill/>
        </p:spPr>
        <p:txBody>
          <a:bodyPr wrap="square" lIns="18288" rIns="18288" tIns="9144" bIns="9144">
            <a:spAutoFit/>
          </a:bodyPr>
          <a:lstStyle/>
          <a:p>
            <a:pPr>
              <a:defRPr sz="2500" b="1">
                <a:solidFill>
                  <a:srgbClr val="F5F7FB"/>
                </a:solidFill>
                <a:latin typeface="Aptos"/>
              </a:defRPr>
            </a:pPr>
            <a:r>
              <a:t>CONCLUSION &amp; REFERENCES</a:t>
            </a:r>
          </a:p>
        </p:txBody>
      </p:sp>
      <p:sp>
        <p:nvSpPr>
          <p:cNvPr id="7" name="TextBox 6"/>
          <p:cNvSpPr txBox="1"/>
          <p:nvPr/>
        </p:nvSpPr>
        <p:spPr>
          <a:xfrm>
            <a:off x="585216" y="1216152"/>
            <a:ext cx="10789920" cy="347472"/>
          </a:xfrm>
          <a:prstGeom prst="rect">
            <a:avLst/>
          </a:prstGeom>
          <a:noFill/>
        </p:spPr>
        <p:txBody>
          <a:bodyPr wrap="square" lIns="18288" rIns="18288" tIns="9144" bIns="9144">
            <a:spAutoFit/>
          </a:bodyPr>
          <a:lstStyle/>
          <a:p>
            <a:pPr>
              <a:defRPr sz="1300" b="0">
                <a:solidFill>
                  <a:srgbClr val="B8C5D8"/>
                </a:solidFill>
                <a:latin typeface="Aptos"/>
              </a:defRPr>
            </a:pPr>
            <a:r>
              <a:t>Classical AI concepts brought together in one application</a:t>
            </a:r>
          </a:p>
        </p:txBody>
      </p:sp>
      <p:sp>
        <p:nvSpPr>
          <p:cNvPr id="8" name="Rounded Rectangle 7"/>
          <p:cNvSpPr/>
          <p:nvPr/>
        </p:nvSpPr>
        <p:spPr>
          <a:xfrm>
            <a:off x="566928" y="1755648"/>
            <a:ext cx="10972800" cy="4480560"/>
          </a:xfrm>
          <a:prstGeom prst="roundRect">
            <a:avLst/>
          </a:prstGeom>
          <a:solidFill>
            <a:srgbClr val="172540"/>
          </a:solidFill>
          <a:ln>
            <a:solidFill>
              <a:srgbClr val="2D416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2011680"/>
            <a:ext cx="502920" cy="329184"/>
          </a:xfrm>
          <a:prstGeom prst="rect">
            <a:avLst/>
          </a:prstGeom>
          <a:noFill/>
        </p:spPr>
        <p:txBody>
          <a:bodyPr wrap="square" lIns="18288" rIns="18288" tIns="9144" bIns="9144">
            <a:spAutoFit/>
          </a:bodyPr>
          <a:lstStyle/>
          <a:p>
            <a:pPr>
              <a:defRPr sz="1500" b="1">
                <a:solidFill>
                  <a:srgbClr val="FFC25B"/>
                </a:solidFill>
                <a:latin typeface="Aptos"/>
              </a:defRPr>
            </a:pPr>
            <a:r>
              <a:t>01</a:t>
            </a:r>
          </a:p>
        </p:txBody>
      </p:sp>
      <p:sp>
        <p:nvSpPr>
          <p:cNvPr id="10" name="TextBox 9"/>
          <p:cNvSpPr txBox="1"/>
          <p:nvPr/>
        </p:nvSpPr>
        <p:spPr>
          <a:xfrm>
            <a:off x="1481328" y="2011680"/>
            <a:ext cx="9052560" cy="292608"/>
          </a:xfrm>
          <a:prstGeom prst="rect">
            <a:avLst/>
          </a:prstGeom>
          <a:noFill/>
        </p:spPr>
        <p:txBody>
          <a:bodyPr wrap="square" lIns="18288" rIns="18288" tIns="9144" bIns="9144">
            <a:spAutoFit/>
          </a:bodyPr>
          <a:lstStyle/>
          <a:p>
            <a:pPr>
              <a:defRPr sz="1600" b="1">
                <a:solidFill>
                  <a:srgbClr val="F5F7FB"/>
                </a:solidFill>
                <a:latin typeface="Aptos"/>
              </a:defRPr>
            </a:pPr>
            <a:r>
              <a:t>Conclusion</a:t>
            </a:r>
          </a:p>
        </p:txBody>
      </p:sp>
      <p:sp>
        <p:nvSpPr>
          <p:cNvPr id="11" name="TextBox 10"/>
          <p:cNvSpPr txBox="1"/>
          <p:nvPr/>
        </p:nvSpPr>
        <p:spPr>
          <a:xfrm>
            <a:off x="1481328" y="2322576"/>
            <a:ext cx="9418320" cy="438912"/>
          </a:xfrm>
          <a:prstGeom prst="rect">
            <a:avLst/>
          </a:prstGeom>
          <a:noFill/>
        </p:spPr>
        <p:txBody>
          <a:bodyPr wrap="square" lIns="18288" rIns="18288" tIns="9144" bIns="9144">
            <a:spAutoFit/>
          </a:bodyPr>
          <a:lstStyle/>
          <a:p>
            <a:pPr>
              <a:defRPr sz="1200" b="0">
                <a:solidFill>
                  <a:srgbClr val="B8C5D8"/>
                </a:solidFill>
                <a:latin typeface="Aptos"/>
              </a:defRPr>
            </a:pPr>
            <a:r>
              <a:t>The prototype combines search, constraint satisfaction and logical reasoning for adaptive interview practice.</a:t>
            </a:r>
          </a:p>
        </p:txBody>
      </p:sp>
      <p:sp>
        <p:nvSpPr>
          <p:cNvPr id="12" name="TextBox 11"/>
          <p:cNvSpPr txBox="1"/>
          <p:nvPr/>
        </p:nvSpPr>
        <p:spPr>
          <a:xfrm>
            <a:off x="868680" y="2971800"/>
            <a:ext cx="502920" cy="329184"/>
          </a:xfrm>
          <a:prstGeom prst="rect">
            <a:avLst/>
          </a:prstGeom>
          <a:noFill/>
        </p:spPr>
        <p:txBody>
          <a:bodyPr wrap="square" lIns="18288" rIns="18288" tIns="9144" bIns="9144">
            <a:spAutoFit/>
          </a:bodyPr>
          <a:lstStyle/>
          <a:p>
            <a:pPr>
              <a:defRPr sz="1500" b="1">
                <a:solidFill>
                  <a:srgbClr val="FFC25B"/>
                </a:solidFill>
                <a:latin typeface="Aptos"/>
              </a:defRPr>
            </a:pPr>
            <a:r>
              <a:t>02</a:t>
            </a:r>
          </a:p>
        </p:txBody>
      </p:sp>
      <p:sp>
        <p:nvSpPr>
          <p:cNvPr id="13" name="TextBox 12"/>
          <p:cNvSpPr txBox="1"/>
          <p:nvPr/>
        </p:nvSpPr>
        <p:spPr>
          <a:xfrm>
            <a:off x="1481328" y="2971800"/>
            <a:ext cx="9052560" cy="292608"/>
          </a:xfrm>
          <a:prstGeom prst="rect">
            <a:avLst/>
          </a:prstGeom>
          <a:noFill/>
        </p:spPr>
        <p:txBody>
          <a:bodyPr wrap="square" lIns="18288" rIns="18288" tIns="9144" bIns="9144">
            <a:spAutoFit/>
          </a:bodyPr>
          <a:lstStyle/>
          <a:p>
            <a:pPr>
              <a:defRPr sz="1600" b="1">
                <a:solidFill>
                  <a:srgbClr val="F5F7FB"/>
                </a:solidFill>
                <a:latin typeface="Aptos"/>
              </a:defRPr>
            </a:pPr>
            <a:r>
              <a:t>Key benefit</a:t>
            </a:r>
          </a:p>
        </p:txBody>
      </p:sp>
      <p:sp>
        <p:nvSpPr>
          <p:cNvPr id="14" name="TextBox 13"/>
          <p:cNvSpPr txBox="1"/>
          <p:nvPr/>
        </p:nvSpPr>
        <p:spPr>
          <a:xfrm>
            <a:off x="1481328" y="3282696"/>
            <a:ext cx="9418320" cy="438912"/>
          </a:xfrm>
          <a:prstGeom prst="rect">
            <a:avLst/>
          </a:prstGeom>
          <a:noFill/>
        </p:spPr>
        <p:txBody>
          <a:bodyPr wrap="square" lIns="18288" rIns="18288" tIns="9144" bIns="9144">
            <a:spAutoFit/>
          </a:bodyPr>
          <a:lstStyle/>
          <a:p>
            <a:pPr>
              <a:defRPr sz="1200" b="0">
                <a:solidFill>
                  <a:srgbClr val="B8C5D8"/>
                </a:solidFill>
                <a:latin typeface="Aptos"/>
              </a:defRPr>
            </a:pPr>
            <a:r>
              <a:t>Candidates receive targeted questions, answer feedback and revision recommendations.</a:t>
            </a:r>
          </a:p>
        </p:txBody>
      </p:sp>
      <p:sp>
        <p:nvSpPr>
          <p:cNvPr id="15" name="TextBox 14"/>
          <p:cNvSpPr txBox="1"/>
          <p:nvPr/>
        </p:nvSpPr>
        <p:spPr>
          <a:xfrm>
            <a:off x="868680" y="3931920"/>
            <a:ext cx="502920" cy="329184"/>
          </a:xfrm>
          <a:prstGeom prst="rect">
            <a:avLst/>
          </a:prstGeom>
          <a:noFill/>
        </p:spPr>
        <p:txBody>
          <a:bodyPr wrap="square" lIns="18288" rIns="18288" tIns="9144" bIns="9144">
            <a:spAutoFit/>
          </a:bodyPr>
          <a:lstStyle/>
          <a:p>
            <a:pPr>
              <a:defRPr sz="1500" b="1">
                <a:solidFill>
                  <a:srgbClr val="FFC25B"/>
                </a:solidFill>
                <a:latin typeface="Aptos"/>
              </a:defRPr>
            </a:pPr>
            <a:r>
              <a:t>03</a:t>
            </a:r>
          </a:p>
        </p:txBody>
      </p:sp>
      <p:sp>
        <p:nvSpPr>
          <p:cNvPr id="16" name="TextBox 15"/>
          <p:cNvSpPr txBox="1"/>
          <p:nvPr/>
        </p:nvSpPr>
        <p:spPr>
          <a:xfrm>
            <a:off x="1481328" y="3931920"/>
            <a:ext cx="9052560" cy="292608"/>
          </a:xfrm>
          <a:prstGeom prst="rect">
            <a:avLst/>
          </a:prstGeom>
          <a:noFill/>
        </p:spPr>
        <p:txBody>
          <a:bodyPr wrap="square" lIns="18288" rIns="18288" tIns="9144" bIns="9144">
            <a:spAutoFit/>
          </a:bodyPr>
          <a:lstStyle/>
          <a:p>
            <a:pPr>
              <a:defRPr sz="1600" b="1">
                <a:solidFill>
                  <a:srgbClr val="F5F7FB"/>
                </a:solidFill>
                <a:latin typeface="Aptos"/>
              </a:defRPr>
            </a:pPr>
            <a:r>
              <a:t>AI reference</a:t>
            </a:r>
          </a:p>
        </p:txBody>
      </p:sp>
      <p:sp>
        <p:nvSpPr>
          <p:cNvPr id="17" name="TextBox 16"/>
          <p:cNvSpPr txBox="1"/>
          <p:nvPr/>
        </p:nvSpPr>
        <p:spPr>
          <a:xfrm>
            <a:off x="1481328" y="4242816"/>
            <a:ext cx="9418320" cy="438912"/>
          </a:xfrm>
          <a:prstGeom prst="rect">
            <a:avLst/>
          </a:prstGeom>
          <a:noFill/>
        </p:spPr>
        <p:txBody>
          <a:bodyPr wrap="square" lIns="18288" rIns="18288" tIns="9144" bIns="9144">
            <a:spAutoFit/>
          </a:bodyPr>
          <a:lstStyle/>
          <a:p>
            <a:pPr>
              <a:defRPr sz="1200" b="0">
                <a:solidFill>
                  <a:srgbClr val="B8C5D8"/>
                </a:solidFill>
                <a:latin typeface="Aptos"/>
              </a:defRPr>
            </a:pPr>
            <a:r>
              <a:t>Russell and Norvig, Artificial Intelligence: A Modern Approach.</a:t>
            </a:r>
          </a:p>
        </p:txBody>
      </p:sp>
      <p:sp>
        <p:nvSpPr>
          <p:cNvPr id="18" name="TextBox 17"/>
          <p:cNvSpPr txBox="1"/>
          <p:nvPr/>
        </p:nvSpPr>
        <p:spPr>
          <a:xfrm>
            <a:off x="868680" y="4892040"/>
            <a:ext cx="502920" cy="329184"/>
          </a:xfrm>
          <a:prstGeom prst="rect">
            <a:avLst/>
          </a:prstGeom>
          <a:noFill/>
        </p:spPr>
        <p:txBody>
          <a:bodyPr wrap="square" lIns="18288" rIns="18288" tIns="9144" bIns="9144">
            <a:spAutoFit/>
          </a:bodyPr>
          <a:lstStyle/>
          <a:p>
            <a:pPr>
              <a:defRPr sz="1500" b="1">
                <a:solidFill>
                  <a:srgbClr val="FFC25B"/>
                </a:solidFill>
                <a:latin typeface="Aptos"/>
              </a:defRPr>
            </a:pPr>
            <a:r>
              <a:t>04</a:t>
            </a:r>
          </a:p>
        </p:txBody>
      </p:sp>
      <p:sp>
        <p:nvSpPr>
          <p:cNvPr id="19" name="TextBox 18"/>
          <p:cNvSpPr txBox="1"/>
          <p:nvPr/>
        </p:nvSpPr>
        <p:spPr>
          <a:xfrm>
            <a:off x="1481328" y="4892040"/>
            <a:ext cx="9052560" cy="292608"/>
          </a:xfrm>
          <a:prstGeom prst="rect">
            <a:avLst/>
          </a:prstGeom>
          <a:noFill/>
        </p:spPr>
        <p:txBody>
          <a:bodyPr wrap="square" lIns="18288" rIns="18288" tIns="9144" bIns="9144">
            <a:spAutoFit/>
          </a:bodyPr>
          <a:lstStyle/>
          <a:p>
            <a:pPr>
              <a:defRPr sz="1600" b="1">
                <a:solidFill>
                  <a:srgbClr val="F5F7FB"/>
                </a:solidFill>
                <a:latin typeface="Aptos"/>
              </a:defRPr>
            </a:pPr>
            <a:r>
              <a:t>Technical references</a:t>
            </a:r>
          </a:p>
        </p:txBody>
      </p:sp>
      <p:sp>
        <p:nvSpPr>
          <p:cNvPr id="20" name="TextBox 19"/>
          <p:cNvSpPr txBox="1"/>
          <p:nvPr/>
        </p:nvSpPr>
        <p:spPr>
          <a:xfrm>
            <a:off x="1481328" y="5202936"/>
            <a:ext cx="9418320" cy="438912"/>
          </a:xfrm>
          <a:prstGeom prst="rect">
            <a:avLst/>
          </a:prstGeom>
          <a:noFill/>
        </p:spPr>
        <p:txBody>
          <a:bodyPr wrap="square" lIns="18288" rIns="18288" tIns="9144" bIns="9144">
            <a:spAutoFit/>
          </a:bodyPr>
          <a:lstStyle/>
          <a:p>
            <a:pPr>
              <a:defRPr sz="1200" b="0">
                <a:solidFill>
                  <a:srgbClr val="B8C5D8"/>
                </a:solidFill>
                <a:latin typeface="Aptos"/>
              </a:defRPr>
            </a:pPr>
            <a:r>
              <a:t>Python documentation for tkinter, threading, json and urllib.request; Google Gemini API documentation for optional question generation.</a:t>
            </a:r>
          </a:p>
        </p:txBody>
      </p:sp>
      <p:sp>
        <p:nvSpPr>
          <p:cNvPr id="21" name="Rectangle 20"/>
          <p:cNvSpPr/>
          <p:nvPr/>
        </p:nvSpPr>
        <p:spPr>
          <a:xfrm>
            <a:off x="566928" y="6492240"/>
            <a:ext cx="10972800" cy="13716"/>
          </a:xfrm>
          <a:prstGeom prst="rect">
            <a:avLst/>
          </a:prstGeom>
          <a:solidFill>
            <a:srgbClr val="2D41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85216" y="6547104"/>
            <a:ext cx="8046720" cy="182880"/>
          </a:xfrm>
          <a:prstGeom prst="rect">
            <a:avLst/>
          </a:prstGeom>
          <a:noFill/>
        </p:spPr>
        <p:txBody>
          <a:bodyPr wrap="square" lIns="18288" rIns="18288" tIns="9144" bIns="9144">
            <a:spAutoFit/>
          </a:bodyPr>
          <a:lstStyle/>
          <a:p>
            <a:pPr>
              <a:defRPr sz="800" b="0">
                <a:solidFill>
                  <a:srgbClr val="B8C5D8"/>
                </a:solidFill>
                <a:latin typeface="Aptos"/>
              </a:defRPr>
            </a:pPr>
            <a:r>
              <a:t>AI-Based Adaptive Interview Preparation System</a:t>
            </a:r>
          </a:p>
        </p:txBody>
      </p:sp>
      <p:sp>
        <p:nvSpPr>
          <p:cNvPr id="23" name="TextBox 22"/>
          <p:cNvSpPr txBox="1"/>
          <p:nvPr/>
        </p:nvSpPr>
        <p:spPr>
          <a:xfrm>
            <a:off x="10287000" y="6537960"/>
            <a:ext cx="1143000" cy="201168"/>
          </a:xfrm>
          <a:prstGeom prst="rect">
            <a:avLst/>
          </a:prstGeom>
          <a:noFill/>
        </p:spPr>
        <p:txBody>
          <a:bodyPr wrap="square" lIns="18288" rIns="18288" tIns="9144" bIns="9144">
            <a:spAutoFit/>
          </a:bodyPr>
          <a:lstStyle/>
          <a:p>
            <a:pPr>
              <a:defRPr sz="900" b="1">
                <a:solidFill>
                  <a:srgbClr val="FFC25B"/>
                </a:solidFill>
                <a:latin typeface="Aptos"/>
              </a:defRPr>
            </a:pPr>
            <a:r>
              <a:t>20 / 20</a:t>
            </a:r>
          </a:p>
        </p:txBody>
      </p:sp>
    </p:spTree>
  </p:cSld>
  <p:clrMapOvr>
    <a:masterClrMapping/>
  </p:clrMapOvr>
</p:sld>
</file>

<file path=ppt/theme/theme1.xml><?xml version="1.0" encoding="utf-8"?>
<a:theme xmlns:a="http://schemas.openxmlformats.org/drawingml/2006/main" name="AI-Based Adaptive Interview Preparation System">
  <a:themeElements>
    <a:clrScheme name="AI-Based Adaptive Interview Preparation System">
      <a:dk1>
        <a:srgbClr val="12202F"/>
      </a:dk1>
      <a:lt1>
        <a:srgbClr val="F3F5F7"/>
      </a:lt1>
      <a:dk2>
        <a:srgbClr val="4A5561"/>
      </a:dk2>
      <a:lt2>
        <a:srgbClr val="DDE0E3"/>
      </a:lt2>
      <a:accent1>
        <a:srgbClr val="0B7285"/>
      </a:accent1>
      <a:accent2>
        <a:srgbClr val="A9BDD3"/>
      </a:accent2>
      <a:accent3>
        <a:srgbClr val="3CC8E0"/>
      </a:accent3>
      <a:accent4>
        <a:srgbClr val="F5B041"/>
      </a:accent4>
      <a:accent5>
        <a:srgbClr val="7F96AF"/>
      </a:accent5>
      <a:accent6>
        <a:srgbClr val="1B4A66"/>
      </a:accent6>
      <a:hlink>
        <a:srgbClr val="0563C1"/>
      </a:hlink>
      <a:folHlink>
        <a:srgbClr val="954F72"/>
      </a:folHlink>
    </a:clrScheme>
    <a:fontScheme name="AI-Based Adaptive Interview Preparation System">
      <a:majorFont>
        <a:latin typeface="IBM Plex Sans"/>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BM Plex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AI-Based Adaptive Interview Preparation System</dc:title>
  <dc:subject/>
  <dc:description>The font files embedded in this presentation (stored inside it under ppt/fonts/) are files Google Fonts served when the presentation was exported, unpacked from WOFF2 to TrueType and wrapped as Embedded OpenType, the form PowerPoint reads. A file that named another cut of its family, unless it reserves that name, was also changed where it could be, so that PowerPoint matches it to this presentation’s text: its family and style names and the weight and style it declares were rewritten, and any digital signature, which no longer matched, was removed. Google Fonts serves each family in parts, one file per range of characters, so these may not be a family’s complete files. Each family’s copyright lines and license follow, and each family stays under its own license; if you pass this file on, keep these notices with it.
JetBrains Mono
Copyright 2020 The JetBrains Mono Project Authors (https://github.com/JetBrains/JetBrainsMono)
This Font Software is licensed under the SIL Open Font License, Version 1.1.
This license is copied below, and is also available with a FAQ at: https://scripts.sil.org/OFL
-----------------------------------------------------------
SIL OPEN FONT LICENSE Version 1.1 - 26 February 2007
-----------------------------------------------------------
PREAMBLE
The goals of the Open Font License (OFL) are to stimulate worldwide
development of collaborative font projects, to support the font creation
efforts of academic and linguistic communities, and to provide a free and
open framework in which fonts may be shared and improved in partnership
with others.
The OFL allows the licensed fonts to be used, studied, modified and
redistributed freely as long as they are not sold by themselves. The
fonts, including any derivative works, can be bundled, embedded,
redistributed and/or sold with any software provided that any reserved
names are not used by derivative works. The fonts and derivatives,
however, cannot be released under any other type of license. The
requirement for fonts to remain under this license does not apply
to any document created using the fonts or their derivatives.
DEFINITIONS
"Font Software" refers to the set of files released by the Copyright
Holder(s) under this license and clearly marked as such. This may
include source files, build scripts and documentation.
"Reserved Font Name" refers to any names specified as such after the
copyright statement(s).
"Original Version" refers to the collection of Font Software components as
distributed by the Copyright Holder(s).
"Modified Version" refers to any derivative made by adding to, deleting,
or substituting -- in part or in whole -- any of the components of the
Original Version, by changing formats or by porting the Font Software to a
new environment.
"Author" refers to any designer, engineer, programmer, technical
writer or other person who contributed to the Font Software.
PERMISSION &amp; CONDITIONS
Permission is hereby granted, free of charge, to any person obtaining
a copy of the Font Software, to use, study, copy, merge, embed, modify,
redistribute, and sell modified and unmodified copies of the Font
Software, subject to the following conditions:
1) Neither the Font Software nor any of its individual components,
in Original or Modified Versions, may be sold by itself.
2) Original or Modified Versions of the Font Software may be bundled,
redistributed and/or sold with any software, provided that each copy
contains the above copyright notice and this license. These can be
included either as stand-alone text files, human-readable headers or
in the appropriate machine-readable metadata fields within text or
binary files as long as those fields can be easily viewed by the user.
3) No Modified Version of the Font Software may use the Reserved Font
Name(s) unless explicit written permission is granted by the corresponding
Copyright Holder. This restriction only applies to the primary font name as
presented to the users.
4) The name(s) of the Copyright Holder(s) or the Author(s) of the Font
Software shall not be used to promote, endorse or advertise any
Modified Version, except to acknowledge the contribution(s) of the
Copyright Holder(s) and the Author(s) or with their explicit written
permission.
5) The Font Software, modified or unmodified, in part or in whole,
must be distributed entirely under this license, and must not be
distributed under any other license. The requirement for fonts to
remain under this license does not apply to any document created
using the Font Software.
TERMINATION
This license becomes null and void if any of the above conditions are
not met.
DISCLAIMER
THE FONT SOFTWARE IS PROVIDED "AS IS", WITHOUT WARRANTY OF ANY KIND,
EXPRESS OR IMPLIED, INCLUDING BUT NOT LIMITED TO ANY WARRANTIES OF
MERCHANTABILITY, FITNESS FOR A PARTICULAR PURPOSE AND NONINFRINGEMENT
OF COPYRIGHT, PATENT, TRADEMARK, OR OTHER RIGHT. IN NO EVENT SHALL THE
COPYRIGHT HOLDER BE LIABLE FOR ANY CLAIM, DAMAGES OR OTHER LIABILITY,
INCLUDING ANY GENERAL, SPECIAL, INDIRECT, INCIDENTAL, OR CONSEQUENTIAL
DAMAGES, WHETHER IN AN ACTION OF CONTRACT, TORT OR OTHERWISE, ARISING
FROM, OUT OF THE USE OR INABILITY TO USE THE FONT SOFTWARE OR FROM
OTHER DEALINGS IN THE FONT SOFTWARE.
</dc:description>
  <dc:creator/>
  <cp:lastModifiedBy/>
  <cp:revision>1</cp:revision>
  <dcterms:created xsi:type="dcterms:W3CDTF">2026-10-27T14:44:13Z</dcterms:created>
  <dcterms:modified xsi:type="dcterms:W3CDTF">2026-10-27T14:44:13Z</dcterms:modified>
</cp:coreProperties>
</file>